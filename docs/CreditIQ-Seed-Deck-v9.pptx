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3.xml" ContentType="application/vnd.openxmlformats-officedocument.drawingml.chart+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9" d="100"/>
          <a:sy n="159" d="100"/>
        </p:scale>
        <p:origin x="33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Recoverable</c:v>
                </c:pt>
              </c:strCache>
            </c:strRef>
          </c:tx>
          <c:spPr>
            <a:solidFill>
              <a:srgbClr val="D89B2A"/>
            </a:solidFill>
            <a:effectLst/>
          </c:spPr>
          <c:invertIfNegative val="0"/>
          <c:dLbls>
            <c:numFmt formatCode="\₹#,##0" sourceLinked="0"/>
            <c:spPr>
              <a:noFill/>
              <a:ln>
                <a:noFill/>
              </a:ln>
              <a:effectLst/>
            </c:spPr>
            <c:txPr>
              <a:bodyPr/>
              <a:lstStyle/>
              <a:p>
                <a:pPr>
                  <a:defRPr sz="1100" b="0" i="0" u="none" strike="noStrike">
                    <a:solidFill>
                      <a:srgbClr val="142335"/>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Finance charges</c:v>
                </c:pt>
                <c:pt idx="1">
                  <c:v>Late fees</c:v>
                </c:pt>
                <c:pt idx="2">
                  <c:v>DCC markup</c:v>
                </c:pt>
                <c:pt idx="3">
                  <c:v>EMI interest</c:v>
                </c:pt>
                <c:pt idx="4">
                  <c:v>FX markup</c:v>
                </c:pt>
                <c:pt idx="5">
                  <c:v>Other categories</c:v>
                </c:pt>
              </c:strCache>
            </c:strRef>
          </c:cat>
          <c:val>
            <c:numRef>
              <c:f>Sheet1!$B$2:$B$7</c:f>
              <c:numCache>
                <c:formatCode>General</c:formatCode>
                <c:ptCount val="6"/>
                <c:pt idx="0">
                  <c:v>9884</c:v>
                </c:pt>
                <c:pt idx="1">
                  <c:v>1300</c:v>
                </c:pt>
                <c:pt idx="2">
                  <c:v>636</c:v>
                </c:pt>
                <c:pt idx="3">
                  <c:v>449</c:v>
                </c:pt>
                <c:pt idx="4">
                  <c:v>428</c:v>
                </c:pt>
                <c:pt idx="5">
                  <c:v>4604</c:v>
                </c:pt>
              </c:numCache>
            </c:numRef>
          </c:val>
          <c:extLst>
            <c:ext xmlns:c16="http://schemas.microsoft.com/office/drawing/2014/chart" uri="{C3380CC4-5D6E-409C-BE32-E72D297353CC}">
              <c16:uniqueId val="{00000000-5A20-4BDF-B88B-9F5B51967C6C}"/>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4506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E7890"/>
                </a:solidFill>
                <a:latin typeface="Calibri"/>
              </a:defRPr>
            </a:pPr>
            <a:endParaRPr lang="en-US"/>
          </a:p>
        </c:txPr>
        <c:crossAx val="2094734554"/>
        <c:crosses val="autoZero"/>
        <c:crossBetween val="between"/>
      </c:valAx>
      <c:spPr>
        <a:solidFill>
          <a:srgbClr val="FBF8F3"/>
        </a:solid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Cards (millions)</c:v>
                </c:pt>
              </c:strCache>
            </c:strRef>
          </c:tx>
          <c:spPr>
            <a:solidFill>
              <a:srgbClr val="D89B2A"/>
            </a:solidFill>
            <a:effectLst/>
          </c:spPr>
          <c:invertIfNegative val="0"/>
          <c:dLbls>
            <c:numFmt formatCode="#,##0.0&quot; m&quot;" sourceLinked="0"/>
            <c:spPr>
              <a:noFill/>
              <a:ln>
                <a:noFill/>
              </a:ln>
              <a:effectLst/>
            </c:spPr>
            <c:txPr>
              <a:bodyPr/>
              <a:lstStyle/>
              <a:p>
                <a:pPr>
                  <a:defRPr sz="1200" b="0" i="0" u="none" strike="noStrike">
                    <a:solidFill>
                      <a:srgbClr val="142335"/>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India</c:v>
                </c:pt>
                <c:pt idx="1">
                  <c:v>Malaysia</c:v>
                </c:pt>
                <c:pt idx="2">
                  <c:v>Singapore</c:v>
                </c:pt>
              </c:strCache>
            </c:strRef>
          </c:cat>
          <c:val>
            <c:numRef>
              <c:f>Sheet1!$B$2:$B$4</c:f>
              <c:numCache>
                <c:formatCode>General</c:formatCode>
                <c:ptCount val="3"/>
                <c:pt idx="0">
                  <c:v>120.5</c:v>
                </c:pt>
                <c:pt idx="1">
                  <c:v>11.83</c:v>
                </c:pt>
                <c:pt idx="2">
                  <c:v>7.04</c:v>
                </c:pt>
              </c:numCache>
            </c:numRef>
          </c:val>
          <c:extLst>
            <c:ext xmlns:c16="http://schemas.microsoft.com/office/drawing/2014/chart" uri="{C3380CC4-5D6E-409C-BE32-E72D297353CC}">
              <c16:uniqueId val="{00000000-DE58-421A-8CDC-6081D58C852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44506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E7890"/>
                </a:solidFill>
                <a:latin typeface="Calibri"/>
              </a:defRPr>
            </a:pPr>
            <a:endParaRPr lang="en-US"/>
          </a:p>
        </c:txPr>
        <c:crossAx val="2094734554"/>
        <c:crosses val="autoZero"/>
        <c:crossBetween val="between"/>
      </c:valAx>
      <c:spPr>
        <a:solidFill>
          <a:srgbClr val="FBF8F3"/>
        </a:solid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rgbClr val="D89B2A"/>
              </a:solidFill>
              <a:effectLst/>
            </c:spPr>
            <c:extLst>
              <c:ext xmlns:c16="http://schemas.microsoft.com/office/drawing/2014/chart" uri="{C3380CC4-5D6E-409C-BE32-E72D297353CC}">
                <c16:uniqueId val="{00000001-F656-4990-BD26-3F076270778B}"/>
              </c:ext>
            </c:extLst>
          </c:dPt>
          <c:dPt>
            <c:idx val="1"/>
            <c:bubble3D val="0"/>
            <c:spPr>
              <a:solidFill>
                <a:srgbClr val="142335"/>
              </a:solidFill>
              <a:effectLst/>
            </c:spPr>
            <c:extLst>
              <c:ext xmlns:c16="http://schemas.microsoft.com/office/drawing/2014/chart" uri="{C3380CC4-5D6E-409C-BE32-E72D297353CC}">
                <c16:uniqueId val="{00000003-F656-4990-BD26-3F076270778B}"/>
              </c:ext>
            </c:extLst>
          </c:dPt>
          <c:dPt>
            <c:idx val="2"/>
            <c:bubble3D val="0"/>
            <c:spPr>
              <a:solidFill>
                <a:srgbClr val="CA7344"/>
              </a:solidFill>
              <a:effectLst/>
            </c:spPr>
            <c:extLst>
              <c:ext xmlns:c16="http://schemas.microsoft.com/office/drawing/2014/chart" uri="{C3380CC4-5D6E-409C-BE32-E72D297353CC}">
                <c16:uniqueId val="{00000005-F656-4990-BD26-3F076270778B}"/>
              </c:ext>
            </c:extLst>
          </c:dPt>
          <c:dPt>
            <c:idx val="3"/>
            <c:bubble3D val="0"/>
            <c:spPr>
              <a:solidFill>
                <a:srgbClr val="6E7890"/>
              </a:solidFill>
              <a:effectLst/>
            </c:spPr>
            <c:extLst>
              <c:ext xmlns:c16="http://schemas.microsoft.com/office/drawing/2014/chart" uri="{C3380CC4-5D6E-409C-BE32-E72D297353CC}">
                <c16:uniqueId val="{00000007-F656-4990-BD26-3F076270778B}"/>
              </c:ext>
            </c:extLst>
          </c:dPt>
          <c:dLbls>
            <c:dLbl>
              <c:idx val="0"/>
              <c:numFmt formatCode="0%" sourceLinked="0"/>
              <c:spPr/>
              <c:txPr>
                <a:bodyPr/>
                <a:lstStyle/>
                <a:p>
                  <a:pPr>
                    <a:defRPr sz="1100" b="0"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656-4990-BD26-3F076270778B}"/>
                </c:ext>
              </c:extLst>
            </c:dLbl>
            <c:dLbl>
              <c:idx val="1"/>
              <c:numFmt formatCode="0%" sourceLinked="0"/>
              <c:spPr/>
              <c:txPr>
                <a:bodyPr/>
                <a:lstStyle/>
                <a:p>
                  <a:pPr>
                    <a:defRPr sz="1100" b="0"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656-4990-BD26-3F076270778B}"/>
                </c:ext>
              </c:extLst>
            </c:dLbl>
            <c:dLbl>
              <c:idx val="2"/>
              <c:numFmt formatCode="0%" sourceLinked="0"/>
              <c:spPr/>
              <c:txPr>
                <a:bodyPr/>
                <a:lstStyle/>
                <a:p>
                  <a:pPr>
                    <a:defRPr sz="1100" b="0"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F656-4990-BD26-3F076270778B}"/>
                </c:ext>
              </c:extLst>
            </c:dLbl>
            <c:dLbl>
              <c:idx val="3"/>
              <c:numFmt formatCode="0%" sourceLinked="0"/>
              <c:spPr/>
              <c:txPr>
                <a:bodyPr/>
                <a:lstStyle/>
                <a:p>
                  <a:pPr>
                    <a:defRPr sz="1100" b="0"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F656-4990-BD26-3F076270778B}"/>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Sales and corporate pilots</c:v>
                </c:pt>
                <c:pt idx="1">
                  <c:v>Product and engineering</c:v>
                </c:pt>
                <c:pt idx="2">
                  <c:v>Points desk and operations</c:v>
                </c:pt>
                <c:pt idx="3">
                  <c:v>Compliance and entities</c:v>
                </c:pt>
              </c:strCache>
            </c:strRef>
          </c:cat>
          <c:val>
            <c:numRef>
              <c:f>Sheet1!$B$2:$B$5</c:f>
              <c:numCache>
                <c:formatCode>General</c:formatCode>
                <c:ptCount val="4"/>
                <c:pt idx="0">
                  <c:v>35</c:v>
                </c:pt>
                <c:pt idx="1">
                  <c:v>30</c:v>
                </c:pt>
                <c:pt idx="2">
                  <c:v>20</c:v>
                </c:pt>
                <c:pt idx="3">
                  <c:v>15</c:v>
                </c:pt>
              </c:numCache>
            </c:numRef>
          </c:val>
          <c:extLst>
            <c:ext xmlns:c16="http://schemas.microsoft.com/office/drawing/2014/chart" uri="{C3380CC4-5D6E-409C-BE32-E72D297353CC}">
              <c16:uniqueId val="{00000008-F656-4990-BD26-3F076270778B}"/>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100">
              <a:solidFill>
                <a:srgbClr val="44506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3566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640080" y="457200"/>
            <a:ext cx="1417320" cy="310896"/>
          </a:xfrm>
          <a:prstGeom prst="roundRect">
            <a:avLst>
              <a:gd name="adj" fmla="val 50000"/>
            </a:avLst>
          </a:prstGeom>
          <a:solidFill>
            <a:srgbClr val="142335"/>
          </a:solidFill>
          <a:ln w="6350">
            <a:solidFill>
              <a:srgbClr val="142335"/>
            </a:solidFill>
            <a:prstDash val="solid"/>
          </a:ln>
        </p:spPr>
      </p:sp>
      <p:sp>
        <p:nvSpPr>
          <p:cNvPr id="3" name="Text 1"/>
          <p:cNvSpPr/>
          <p:nvPr/>
        </p:nvSpPr>
        <p:spPr>
          <a:xfrm>
            <a:off x="640080" y="457200"/>
            <a:ext cx="1417320" cy="310896"/>
          </a:xfrm>
          <a:prstGeom prst="rect">
            <a:avLst/>
          </a:prstGeom>
          <a:noFill/>
          <a:ln/>
        </p:spPr>
        <p:txBody>
          <a:bodyPr wrap="square" lIns="0" tIns="0" rIns="0" bIns="0" rtlCol="0" anchor="ctr"/>
          <a:lstStyle/>
          <a:p>
            <a:pPr marL="0" indent="0" algn="ctr">
              <a:buNone/>
            </a:pPr>
            <a:r>
              <a:rPr lang="en-US" sz="950" b="1" kern="0" spc="150" dirty="0">
                <a:solidFill>
                  <a:srgbClr val="FFFFFF"/>
                </a:solidFill>
                <a:latin typeface="Calibri" pitchFamily="34" charset="0"/>
                <a:ea typeface="Calibri" pitchFamily="34" charset="-122"/>
                <a:cs typeface="Calibri" pitchFamily="34" charset="-120"/>
              </a:rPr>
              <a:t>NEXUS AI</a:t>
            </a:r>
            <a:endParaRPr lang="en-US" sz="950" dirty="0"/>
          </a:p>
        </p:txBody>
      </p:sp>
      <p:sp>
        <p:nvSpPr>
          <p:cNvPr id="4" name="Text 2"/>
          <p:cNvSpPr/>
          <p:nvPr/>
        </p:nvSpPr>
        <p:spPr>
          <a:xfrm>
            <a:off x="640080" y="1051560"/>
            <a:ext cx="7863840" cy="1097280"/>
          </a:xfrm>
          <a:prstGeom prst="rect">
            <a:avLst/>
          </a:prstGeom>
          <a:noFill/>
          <a:ln/>
        </p:spPr>
        <p:txBody>
          <a:bodyPr wrap="square" lIns="0" tIns="0" rIns="0" bIns="0" rtlCol="0" anchor="ctr"/>
          <a:lstStyle/>
          <a:p>
            <a:pPr marL="0" indent="0">
              <a:buNone/>
            </a:pPr>
            <a:r>
              <a:rPr lang="en-US" sz="6000" b="1" dirty="0">
                <a:solidFill>
                  <a:srgbClr val="142335"/>
                </a:solidFill>
                <a:latin typeface="Cambria" pitchFamily="34" charset="0"/>
                <a:ea typeface="Cambria" pitchFamily="34" charset="-122"/>
                <a:cs typeface="Cambria" pitchFamily="34" charset="-120"/>
              </a:rPr>
              <a:t>CreditIQ</a:t>
            </a:r>
            <a:endParaRPr lang="en-US" sz="6000" dirty="0"/>
          </a:p>
        </p:txBody>
      </p:sp>
      <p:sp>
        <p:nvSpPr>
          <p:cNvPr id="5" name="Text 3"/>
          <p:cNvSpPr/>
          <p:nvPr/>
        </p:nvSpPr>
        <p:spPr>
          <a:xfrm>
            <a:off x="640080" y="2148840"/>
            <a:ext cx="7863840" cy="777240"/>
          </a:xfrm>
          <a:prstGeom prst="rect">
            <a:avLst/>
          </a:prstGeom>
          <a:noFill/>
          <a:ln/>
        </p:spPr>
        <p:txBody>
          <a:bodyPr wrap="square" lIns="0" tIns="0" rIns="0" bIns="0" rtlCol="0" anchor="ctr"/>
          <a:lstStyle/>
          <a:p>
            <a:pPr marL="0" indent="0">
              <a:lnSpc>
                <a:spcPts val="2700"/>
              </a:lnSpc>
              <a:buNone/>
            </a:pPr>
            <a:r>
              <a:rPr lang="en-US" sz="1900" dirty="0">
                <a:solidFill>
                  <a:srgbClr val="44506A"/>
                </a:solidFill>
                <a:latin typeface="Calibri" pitchFamily="34" charset="0"/>
                <a:ea typeface="Calibri" pitchFamily="34" charset="-122"/>
                <a:cs typeface="Calibri" pitchFamily="34" charset="-120"/>
              </a:rPr>
              <a:t>Credit card points are money. We are the only people treating them that way.</a:t>
            </a:r>
            <a:endParaRPr lang="en-US" sz="1900" dirty="0"/>
          </a:p>
        </p:txBody>
      </p:sp>
      <p:sp>
        <p:nvSpPr>
          <p:cNvPr id="6" name="Text 4"/>
          <p:cNvSpPr/>
          <p:nvPr/>
        </p:nvSpPr>
        <p:spPr>
          <a:xfrm>
            <a:off x="640080" y="2944368"/>
            <a:ext cx="7863840" cy="548640"/>
          </a:xfrm>
          <a:prstGeom prst="rect">
            <a:avLst/>
          </a:prstGeom>
          <a:noFill/>
          <a:ln/>
        </p:spPr>
        <p:txBody>
          <a:bodyPr wrap="square" lIns="0" tIns="0" rIns="0" bIns="0" rtlCol="0" anchor="ctr"/>
          <a:lstStyle/>
          <a:p>
            <a:pPr marL="0" indent="0">
              <a:lnSpc>
                <a:spcPts val="1900"/>
              </a:lnSpc>
              <a:buNone/>
            </a:pPr>
            <a:r>
              <a:rPr lang="en-US" sz="1350" dirty="0">
                <a:solidFill>
                  <a:srgbClr val="6E7890"/>
                </a:solidFill>
                <a:latin typeface="Calibri" pitchFamily="34" charset="0"/>
                <a:ea typeface="Calibri" pitchFamily="34" charset="-122"/>
                <a:cs typeface="Calibri" pitchFamily="34" charset="-120"/>
              </a:rPr>
              <a:t>An honest consumer wallet, and a corporate points desk for the companies whose cards earn the most.</a:t>
            </a:r>
            <a:endParaRPr lang="en-US" sz="1350" dirty="0"/>
          </a:p>
        </p:txBody>
      </p:sp>
      <p:sp>
        <p:nvSpPr>
          <p:cNvPr id="7" name="Shape 5"/>
          <p:cNvSpPr/>
          <p:nvPr/>
        </p:nvSpPr>
        <p:spPr>
          <a:xfrm>
            <a:off x="640080" y="3977640"/>
            <a:ext cx="10908792" cy="1645920"/>
          </a:xfrm>
          <a:prstGeom prst="roundRect">
            <a:avLst>
              <a:gd name="adj" fmla="val 5556"/>
            </a:avLst>
          </a:prstGeom>
          <a:solidFill>
            <a:srgbClr val="F1ECE4"/>
          </a:solidFill>
          <a:ln w="9525">
            <a:solidFill>
              <a:srgbClr val="E7E0D4"/>
            </a:solidFill>
            <a:prstDash val="solid"/>
          </a:ln>
          <a:effectLst>
            <a:outerShdw blurRad="101600" dist="12700" dir="5400000" algn="bl" rotWithShape="0">
              <a:srgbClr val="B9AE9C">
                <a:alpha val="18000"/>
              </a:srgbClr>
            </a:outerShdw>
          </a:effectLst>
        </p:spPr>
      </p:sp>
      <p:sp>
        <p:nvSpPr>
          <p:cNvPr id="8" name="Text 6"/>
          <p:cNvSpPr/>
          <p:nvPr/>
        </p:nvSpPr>
        <p:spPr>
          <a:xfrm>
            <a:off x="1051560" y="4279392"/>
            <a:ext cx="2194560" cy="658368"/>
          </a:xfrm>
          <a:prstGeom prst="rect">
            <a:avLst/>
          </a:prstGeom>
          <a:noFill/>
          <a:ln/>
        </p:spPr>
        <p:txBody>
          <a:bodyPr wrap="square" lIns="0" tIns="0" rIns="0" bIns="0" rtlCol="0" anchor="b"/>
          <a:lstStyle/>
          <a:p>
            <a:pPr marL="0" indent="0" algn="l">
              <a:buNone/>
            </a:pPr>
            <a:r>
              <a:rPr lang="en-US" sz="3400" b="1" dirty="0">
                <a:solidFill>
                  <a:srgbClr val="142335"/>
                </a:solidFill>
                <a:latin typeface="Cambria" pitchFamily="34" charset="0"/>
                <a:ea typeface="Cambria" pitchFamily="34" charset="-122"/>
                <a:cs typeface="Cambria" pitchFamily="34" charset="-120"/>
              </a:rPr>
              <a:t>₹4 Cr</a:t>
            </a:r>
            <a:endParaRPr lang="en-US" sz="3400" dirty="0"/>
          </a:p>
        </p:txBody>
      </p:sp>
      <p:sp>
        <p:nvSpPr>
          <p:cNvPr id="9" name="Text 7"/>
          <p:cNvSpPr/>
          <p:nvPr/>
        </p:nvSpPr>
        <p:spPr>
          <a:xfrm>
            <a:off x="1051560" y="4956048"/>
            <a:ext cx="2194560" cy="475488"/>
          </a:xfrm>
          <a:prstGeom prst="rect">
            <a:avLst/>
          </a:prstGeom>
          <a:noFill/>
          <a:ln/>
        </p:spPr>
        <p:txBody>
          <a:bodyPr wrap="square" lIns="0" tIns="0" rIns="0" bIns="0" rtlCol="0" anchor="t"/>
          <a:lstStyle/>
          <a:p>
            <a:pPr marL="0" indent="0" algn="l">
              <a:lnSpc>
                <a:spcPts val="1400"/>
              </a:lnSpc>
              <a:buNone/>
            </a:pPr>
            <a:r>
              <a:rPr lang="en-US" sz="1100" dirty="0">
                <a:solidFill>
                  <a:srgbClr val="6E7890"/>
                </a:solidFill>
                <a:latin typeface="Calibri" pitchFamily="34" charset="0"/>
                <a:ea typeface="Calibri" pitchFamily="34" charset="-122"/>
                <a:cs typeface="Calibri" pitchFamily="34" charset="-120"/>
              </a:rPr>
              <a:t>Seed ask · India expansion</a:t>
            </a:r>
            <a:endParaRPr lang="en-US" sz="1100" dirty="0"/>
          </a:p>
          <a:p>
            <a:pPr marL="0" indent="0" algn="l">
              <a:lnSpc>
                <a:spcPts val="1400"/>
              </a:lnSpc>
              <a:buNone/>
            </a:pPr>
            <a:r>
              <a:rPr lang="en-US" sz="1100" dirty="0">
                <a:solidFill>
                  <a:srgbClr val="6E7890"/>
                </a:solidFill>
                <a:latin typeface="Calibri" pitchFamily="34" charset="0"/>
                <a:ea typeface="Calibri" pitchFamily="34" charset="-122"/>
                <a:cs typeface="Calibri" pitchFamily="34" charset="-120"/>
              </a:rPr>
              <a:t>Raised into the Dubai entity</a:t>
            </a:r>
            <a:endParaRPr lang="en-US" sz="1100" dirty="0"/>
          </a:p>
        </p:txBody>
      </p:sp>
      <p:sp>
        <p:nvSpPr>
          <p:cNvPr id="10" name="Text 8"/>
          <p:cNvSpPr/>
          <p:nvPr/>
        </p:nvSpPr>
        <p:spPr>
          <a:xfrm>
            <a:off x="3703320" y="4279392"/>
            <a:ext cx="2377440" cy="658368"/>
          </a:xfrm>
          <a:prstGeom prst="rect">
            <a:avLst/>
          </a:prstGeom>
          <a:noFill/>
          <a:ln/>
        </p:spPr>
        <p:txBody>
          <a:bodyPr wrap="square" lIns="0" tIns="0" rIns="0" bIns="0" rtlCol="0" anchor="b"/>
          <a:lstStyle/>
          <a:p>
            <a:pPr marL="0" indent="0" algn="l">
              <a:buNone/>
            </a:pPr>
            <a:r>
              <a:rPr lang="en-US" sz="3400" b="1" dirty="0">
                <a:solidFill>
                  <a:srgbClr val="142335"/>
                </a:solidFill>
                <a:latin typeface="Cambria" pitchFamily="34" charset="0"/>
                <a:ea typeface="Cambria" pitchFamily="34" charset="-122"/>
                <a:cs typeface="Cambria" pitchFamily="34" charset="-120"/>
              </a:rPr>
              <a:t>2 products</a:t>
            </a:r>
            <a:endParaRPr lang="en-US" sz="3400" dirty="0"/>
          </a:p>
        </p:txBody>
      </p:sp>
      <p:sp>
        <p:nvSpPr>
          <p:cNvPr id="11" name="Text 9"/>
          <p:cNvSpPr/>
          <p:nvPr/>
        </p:nvSpPr>
        <p:spPr>
          <a:xfrm>
            <a:off x="3703320" y="4956048"/>
            <a:ext cx="2377440" cy="475488"/>
          </a:xfrm>
          <a:prstGeom prst="rect">
            <a:avLst/>
          </a:prstGeom>
          <a:noFill/>
          <a:ln/>
        </p:spPr>
        <p:txBody>
          <a:bodyPr wrap="square" lIns="0" tIns="0" rIns="0" bIns="0" rtlCol="0" anchor="t"/>
          <a:lstStyle/>
          <a:p>
            <a:pPr marL="0" indent="0" algn="l">
              <a:lnSpc>
                <a:spcPts val="1400"/>
              </a:lnSpc>
              <a:buNone/>
            </a:pPr>
            <a:r>
              <a:rPr lang="en-US" sz="1100" dirty="0">
                <a:solidFill>
                  <a:srgbClr val="6E7890"/>
                </a:solidFill>
                <a:latin typeface="Calibri" pitchFamily="34" charset="0"/>
                <a:ea typeface="Calibri" pitchFamily="34" charset="-122"/>
                <a:cs typeface="Calibri" pitchFamily="34" charset="-120"/>
              </a:rPr>
              <a:t>Consumer wallet and</a:t>
            </a:r>
            <a:endParaRPr lang="en-US" sz="1100" dirty="0"/>
          </a:p>
          <a:p>
            <a:pPr marL="0" indent="0" algn="l">
              <a:lnSpc>
                <a:spcPts val="1400"/>
              </a:lnSpc>
              <a:buNone/>
            </a:pPr>
            <a:r>
              <a:rPr lang="en-US" sz="1100" dirty="0">
                <a:solidFill>
                  <a:srgbClr val="6E7890"/>
                </a:solidFill>
                <a:latin typeface="Calibri" pitchFamily="34" charset="0"/>
                <a:ea typeface="Calibri" pitchFamily="34" charset="-122"/>
                <a:cs typeface="Calibri" pitchFamily="34" charset="-120"/>
              </a:rPr>
              <a:t>corporate points desk</a:t>
            </a:r>
            <a:endParaRPr lang="en-US" sz="1100" dirty="0"/>
          </a:p>
        </p:txBody>
      </p:sp>
      <p:sp>
        <p:nvSpPr>
          <p:cNvPr id="12" name="Text 10"/>
          <p:cNvSpPr/>
          <p:nvPr/>
        </p:nvSpPr>
        <p:spPr>
          <a:xfrm>
            <a:off x="6446520" y="4279392"/>
            <a:ext cx="2286000" cy="658368"/>
          </a:xfrm>
          <a:prstGeom prst="rect">
            <a:avLst/>
          </a:prstGeom>
          <a:noFill/>
          <a:ln/>
        </p:spPr>
        <p:txBody>
          <a:bodyPr wrap="square" lIns="0" tIns="0" rIns="0" bIns="0" rtlCol="0" anchor="b"/>
          <a:lstStyle/>
          <a:p>
            <a:pPr marL="0" indent="0" algn="l">
              <a:buNone/>
            </a:pPr>
            <a:r>
              <a:rPr lang="en-US" sz="3400" b="1" dirty="0">
                <a:solidFill>
                  <a:srgbClr val="142335"/>
                </a:solidFill>
                <a:latin typeface="Cambria" pitchFamily="34" charset="0"/>
                <a:ea typeface="Cambria" pitchFamily="34" charset="-122"/>
                <a:cs typeface="Cambria" pitchFamily="34" charset="-120"/>
              </a:rPr>
              <a:t>4 markets</a:t>
            </a:r>
            <a:endParaRPr lang="en-US" sz="3400" dirty="0"/>
          </a:p>
        </p:txBody>
      </p:sp>
      <p:sp>
        <p:nvSpPr>
          <p:cNvPr id="13" name="Text 11"/>
          <p:cNvSpPr/>
          <p:nvPr/>
        </p:nvSpPr>
        <p:spPr>
          <a:xfrm>
            <a:off x="6446520" y="4956048"/>
            <a:ext cx="2286000" cy="475488"/>
          </a:xfrm>
          <a:prstGeom prst="rect">
            <a:avLst/>
          </a:prstGeom>
          <a:noFill/>
          <a:ln/>
        </p:spPr>
        <p:txBody>
          <a:bodyPr wrap="square" lIns="0" tIns="0" rIns="0" bIns="0" rtlCol="0" anchor="t"/>
          <a:lstStyle/>
          <a:p>
            <a:pPr marL="0" indent="0" algn="l">
              <a:lnSpc>
                <a:spcPts val="1400"/>
              </a:lnSpc>
              <a:buNone/>
            </a:pPr>
            <a:r>
              <a:rPr lang="en-US" sz="1100" dirty="0">
                <a:solidFill>
                  <a:srgbClr val="6E7890"/>
                </a:solidFill>
                <a:latin typeface="Calibri" pitchFamily="34" charset="0"/>
                <a:ea typeface="Calibri" pitchFamily="34" charset="-122"/>
                <a:cs typeface="Calibri" pitchFamily="34" charset="-120"/>
              </a:rPr>
              <a:t>India, then UAE,</a:t>
            </a:r>
            <a:endParaRPr lang="en-US" sz="1100" dirty="0"/>
          </a:p>
          <a:p>
            <a:pPr marL="0" indent="0" algn="l">
              <a:lnSpc>
                <a:spcPts val="1400"/>
              </a:lnSpc>
              <a:buNone/>
            </a:pPr>
            <a:r>
              <a:rPr lang="en-US" sz="1100" dirty="0">
                <a:solidFill>
                  <a:srgbClr val="6E7890"/>
                </a:solidFill>
                <a:latin typeface="Calibri" pitchFamily="34" charset="0"/>
                <a:ea typeface="Calibri" pitchFamily="34" charset="-122"/>
                <a:cs typeface="Calibri" pitchFamily="34" charset="-120"/>
              </a:rPr>
              <a:t>Singapore and Malaysia</a:t>
            </a:r>
            <a:endParaRPr lang="en-US" sz="1100" dirty="0"/>
          </a:p>
        </p:txBody>
      </p:sp>
      <p:sp>
        <p:nvSpPr>
          <p:cNvPr id="14" name="Text 12"/>
          <p:cNvSpPr/>
          <p:nvPr/>
        </p:nvSpPr>
        <p:spPr>
          <a:xfrm>
            <a:off x="9144000" y="4279392"/>
            <a:ext cx="2103120" cy="658368"/>
          </a:xfrm>
          <a:prstGeom prst="rect">
            <a:avLst/>
          </a:prstGeom>
          <a:noFill/>
          <a:ln/>
        </p:spPr>
        <p:txBody>
          <a:bodyPr wrap="square" lIns="0" tIns="0" rIns="0" bIns="0" rtlCol="0" anchor="b"/>
          <a:lstStyle/>
          <a:p>
            <a:pPr marL="0" indent="0" algn="l">
              <a:buNone/>
            </a:pPr>
            <a:r>
              <a:rPr lang="en-US" sz="3400" b="1" dirty="0">
                <a:solidFill>
                  <a:srgbClr val="142335"/>
                </a:solidFill>
                <a:latin typeface="Cambria" pitchFamily="34" charset="0"/>
                <a:ea typeface="Cambria" pitchFamily="34" charset="-122"/>
                <a:cs typeface="Cambria" pitchFamily="34" charset="-120"/>
              </a:rPr>
              <a:t>Live</a:t>
            </a:r>
            <a:endParaRPr lang="en-US" sz="3400" dirty="0"/>
          </a:p>
        </p:txBody>
      </p:sp>
      <p:sp>
        <p:nvSpPr>
          <p:cNvPr id="15" name="Text 13"/>
          <p:cNvSpPr/>
          <p:nvPr/>
        </p:nvSpPr>
        <p:spPr>
          <a:xfrm>
            <a:off x="9144000" y="4956048"/>
            <a:ext cx="2103120" cy="475488"/>
          </a:xfrm>
          <a:prstGeom prst="rect">
            <a:avLst/>
          </a:prstGeom>
          <a:noFill/>
          <a:ln/>
        </p:spPr>
        <p:txBody>
          <a:bodyPr wrap="square" lIns="0" tIns="0" rIns="0" bIns="0" rtlCol="0" anchor="t"/>
          <a:lstStyle/>
          <a:p>
            <a:pPr marL="0" indent="0" algn="l">
              <a:lnSpc>
                <a:spcPts val="1400"/>
              </a:lnSpc>
              <a:buNone/>
            </a:pPr>
            <a:r>
              <a:rPr lang="en-US" sz="1100" dirty="0">
                <a:solidFill>
                  <a:srgbClr val="6E7890"/>
                </a:solidFill>
                <a:latin typeface="Calibri" pitchFamily="34" charset="0"/>
                <a:ea typeface="Calibri" pitchFamily="34" charset="-122"/>
                <a:cs typeface="Calibri" pitchFamily="34" charset="-120"/>
              </a:rPr>
              <a:t>Payments, wallet and</a:t>
            </a:r>
            <a:endParaRPr lang="en-US" sz="1100" dirty="0"/>
          </a:p>
          <a:p>
            <a:pPr marL="0" indent="0" algn="l">
              <a:lnSpc>
                <a:spcPts val="1400"/>
              </a:lnSpc>
              <a:buNone/>
            </a:pPr>
            <a:r>
              <a:rPr lang="en-US" sz="1100" dirty="0">
                <a:solidFill>
                  <a:srgbClr val="6E7890"/>
                </a:solidFill>
                <a:latin typeface="Calibri" pitchFamily="34" charset="0"/>
                <a:ea typeface="Calibri" pitchFamily="34" charset="-122"/>
                <a:cs typeface="Calibri" pitchFamily="34" charset="-120"/>
              </a:rPr>
              <a:t>provenance in production</a:t>
            </a:r>
            <a:endParaRPr lang="en-US" sz="1100" dirty="0"/>
          </a:p>
        </p:txBody>
      </p:sp>
      <p:sp>
        <p:nvSpPr>
          <p:cNvPr id="16" name="Text 14"/>
          <p:cNvSpPr/>
          <p:nvPr/>
        </p:nvSpPr>
        <p:spPr>
          <a:xfrm>
            <a:off x="640080" y="6327648"/>
            <a:ext cx="7680960" cy="274320"/>
          </a:xfrm>
          <a:prstGeom prst="rect">
            <a:avLst/>
          </a:prstGeom>
          <a:noFill/>
          <a:ln/>
        </p:spPr>
        <p:txBody>
          <a:bodyPr wrap="square" lIns="0" tIns="0" rIns="0" bIns="0" rtlCol="0" anchor="ctr"/>
          <a:lstStyle/>
          <a:p>
            <a:pPr marL="0" indent="0">
              <a:buNone/>
            </a:pPr>
            <a:r>
              <a:rPr lang="en-US" sz="850" dirty="0">
                <a:solidFill>
                  <a:srgbClr val="6E7890"/>
                </a:solidFill>
                <a:latin typeface="Calibri" pitchFamily="34" charset="0"/>
                <a:ea typeface="Calibri" pitchFamily="34" charset="-122"/>
                <a:cs typeface="Calibri" pitchFamily="34" charset="-120"/>
              </a:rPr>
              <a:t>Seed round · confidential</a:t>
            </a:r>
            <a:endParaRPr lang="en-US" sz="850" dirty="0"/>
          </a:p>
        </p:txBody>
      </p:sp>
      <p:sp>
        <p:nvSpPr>
          <p:cNvPr id="17" name="Text 15"/>
          <p:cNvSpPr/>
          <p:nvPr/>
        </p:nvSpPr>
        <p:spPr>
          <a:xfrm>
            <a:off x="8412480" y="6327648"/>
            <a:ext cx="3108960" cy="274320"/>
          </a:xfrm>
          <a:prstGeom prst="rect">
            <a:avLst/>
          </a:prstGeom>
          <a:noFill/>
          <a:ln/>
        </p:spPr>
        <p:txBody>
          <a:bodyPr wrap="square" lIns="0" tIns="0" rIns="0" bIns="0" rtlCol="0" anchor="ctr"/>
          <a:lstStyle/>
          <a:p>
            <a:pPr marL="0" indent="0" algn="r">
              <a:buNone/>
            </a:pPr>
            <a:r>
              <a:rPr lang="en-US" sz="850" dirty="0">
                <a:solidFill>
                  <a:srgbClr val="6E7890"/>
                </a:solidFill>
                <a:latin typeface="Calibri" pitchFamily="34" charset="0"/>
                <a:ea typeface="Calibri" pitchFamily="34" charset="-122"/>
                <a:cs typeface="Calibri" pitchFamily="34" charset="-120"/>
              </a:rPr>
              <a:t>August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640080" y="237744"/>
            <a:ext cx="10881360" cy="274320"/>
          </a:xfrm>
          <a:prstGeom prst="rect">
            <a:avLst/>
          </a:prstGeom>
          <a:noFill/>
          <a:ln/>
        </p:spPr>
        <p:txBody>
          <a:bodyPr wrap="square" lIns="0" tIns="0" rIns="0" bIns="0" rtlCol="0" anchor="b"/>
          <a:lstStyle/>
          <a:p>
            <a:pPr marL="0" indent="0">
              <a:buNone/>
            </a:pPr>
            <a:r>
              <a:rPr lang="en-US" sz="1100" b="1" kern="0" spc="200" dirty="0">
                <a:solidFill>
                  <a:srgbClr val="8C5F12"/>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640080" y="566928"/>
            <a:ext cx="10881360" cy="777240"/>
          </a:xfrm>
          <a:prstGeom prst="rect">
            <a:avLst/>
          </a:prstGeom>
          <a:noFill/>
          <a:ln/>
        </p:spPr>
        <p:txBody>
          <a:bodyPr wrap="square" lIns="0" tIns="0" rIns="0" bIns="0" rtlCol="0" anchor="t"/>
          <a:lstStyle/>
          <a:p>
            <a:pPr marL="0" indent="0">
              <a:buNone/>
            </a:pPr>
            <a:r>
              <a:rPr lang="en-US" sz="3200" b="1" dirty="0">
                <a:solidFill>
                  <a:srgbClr val="142335"/>
                </a:solidFill>
                <a:latin typeface="Cambria" pitchFamily="34" charset="0"/>
                <a:ea typeface="Cambria" pitchFamily="34" charset="-122"/>
                <a:cs typeface="Cambria" pitchFamily="34" charset="-120"/>
              </a:rPr>
              <a:t>₹23.6 lakh crore was spent on Indian cards last year</a:t>
            </a:r>
            <a:endParaRPr lang="en-US" sz="3200" dirty="0"/>
          </a:p>
        </p:txBody>
      </p:sp>
      <p:sp>
        <p:nvSpPr>
          <p:cNvPr id="4" name="Text 2"/>
          <p:cNvSpPr/>
          <p:nvPr/>
        </p:nvSpPr>
        <p:spPr>
          <a:xfrm>
            <a:off x="640080" y="1371600"/>
            <a:ext cx="10058400" cy="457200"/>
          </a:xfrm>
          <a:prstGeom prst="rect">
            <a:avLst/>
          </a:prstGeom>
          <a:noFill/>
          <a:ln/>
        </p:spPr>
        <p:txBody>
          <a:bodyPr wrap="square" lIns="0" tIns="0" rIns="0" bIns="0" rtlCol="0" anchor="ctr"/>
          <a:lstStyle/>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Every rupee of it earned points. Almost none of that value is tracked, valued, or deliberately spent —</a:t>
            </a:r>
            <a:endParaRPr lang="en-US" sz="1500" dirty="0"/>
          </a:p>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because nobody in the market is paid to help you do that.</a:t>
            </a:r>
            <a:endParaRPr lang="en-US" sz="1500" dirty="0"/>
          </a:p>
        </p:txBody>
      </p:sp>
      <p:sp>
        <p:nvSpPr>
          <p:cNvPr id="5" name="Shape 3"/>
          <p:cNvSpPr/>
          <p:nvPr/>
        </p:nvSpPr>
        <p:spPr>
          <a:xfrm>
            <a:off x="640080" y="2240280"/>
            <a:ext cx="3520440" cy="1371600"/>
          </a:xfrm>
          <a:prstGeom prst="roundRect">
            <a:avLst>
              <a:gd name="adj" fmla="val 6667"/>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6" name="Text 4"/>
          <p:cNvSpPr/>
          <p:nvPr/>
        </p:nvSpPr>
        <p:spPr>
          <a:xfrm>
            <a:off x="941832" y="2395728"/>
            <a:ext cx="2926080" cy="548640"/>
          </a:xfrm>
          <a:prstGeom prst="rect">
            <a:avLst/>
          </a:prstGeom>
          <a:noFill/>
          <a:ln/>
        </p:spPr>
        <p:txBody>
          <a:bodyPr wrap="square" lIns="0" tIns="0" rIns="0" bIns="0" rtlCol="0" anchor="ctr"/>
          <a:lstStyle/>
          <a:p>
            <a:pPr marL="0" indent="0">
              <a:buNone/>
            </a:pPr>
            <a:r>
              <a:rPr lang="en-US" sz="2600" b="1" dirty="0">
                <a:solidFill>
                  <a:srgbClr val="142335"/>
                </a:solidFill>
                <a:latin typeface="Cambria" pitchFamily="34" charset="0"/>
                <a:ea typeface="Cambria" pitchFamily="34" charset="-122"/>
                <a:cs typeface="Cambria" pitchFamily="34" charset="-120"/>
              </a:rPr>
              <a:t>₹23.62 lakh cr</a:t>
            </a:r>
            <a:endParaRPr lang="en-US" sz="2600" dirty="0"/>
          </a:p>
        </p:txBody>
      </p:sp>
      <p:sp>
        <p:nvSpPr>
          <p:cNvPr id="7" name="Text 5"/>
          <p:cNvSpPr/>
          <p:nvPr/>
        </p:nvSpPr>
        <p:spPr>
          <a:xfrm>
            <a:off x="941832" y="2926080"/>
            <a:ext cx="2926080" cy="566928"/>
          </a:xfrm>
          <a:prstGeom prst="rect">
            <a:avLst/>
          </a:prstGeom>
          <a:noFill/>
          <a:ln/>
        </p:spPr>
        <p:txBody>
          <a:bodyPr wrap="square" lIns="0" tIns="0" rIns="0" bIns="0" rtlCol="0" anchor="ctr"/>
          <a:lstStyle/>
          <a:p>
            <a:pPr marL="0" indent="0">
              <a:lnSpc>
                <a:spcPts val="1400"/>
              </a:lnSpc>
              <a:buNone/>
            </a:pPr>
            <a:r>
              <a:rPr lang="en-US" sz="1050" dirty="0">
                <a:solidFill>
                  <a:srgbClr val="6E7890"/>
                </a:solidFill>
                <a:latin typeface="Calibri" pitchFamily="34" charset="0"/>
                <a:ea typeface="Calibri" pitchFamily="34" charset="-122"/>
                <a:cs typeface="Calibri" pitchFamily="34" charset="-120"/>
              </a:rPr>
              <a:t>credit card spend, FY2026</a:t>
            </a:r>
            <a:endParaRPr lang="en-US" sz="1050" dirty="0"/>
          </a:p>
          <a:p>
            <a:pPr marL="0" indent="0">
              <a:lnSpc>
                <a:spcPts val="1400"/>
              </a:lnSpc>
              <a:buNone/>
            </a:pPr>
            <a:r>
              <a:rPr lang="en-US" sz="1050" dirty="0">
                <a:solidFill>
                  <a:srgbClr val="6E7890"/>
                </a:solidFill>
                <a:latin typeface="Calibri" pitchFamily="34" charset="0"/>
                <a:ea typeface="Calibri" pitchFamily="34" charset="-122"/>
                <a:cs typeface="Calibri" pitchFamily="34" charset="-120"/>
              </a:rPr>
              <a:t>RBI data, up 12% year on year</a:t>
            </a:r>
            <a:endParaRPr lang="en-US" sz="1050" dirty="0"/>
          </a:p>
        </p:txBody>
      </p:sp>
      <p:sp>
        <p:nvSpPr>
          <p:cNvPr id="8" name="Shape 6"/>
          <p:cNvSpPr/>
          <p:nvPr/>
        </p:nvSpPr>
        <p:spPr>
          <a:xfrm>
            <a:off x="4334256" y="2240280"/>
            <a:ext cx="3520440" cy="1371600"/>
          </a:xfrm>
          <a:prstGeom prst="roundRect">
            <a:avLst>
              <a:gd name="adj" fmla="val 6667"/>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9" name="Text 7"/>
          <p:cNvSpPr/>
          <p:nvPr/>
        </p:nvSpPr>
        <p:spPr>
          <a:xfrm>
            <a:off x="4636008" y="2395728"/>
            <a:ext cx="2926080" cy="548640"/>
          </a:xfrm>
          <a:prstGeom prst="rect">
            <a:avLst/>
          </a:prstGeom>
          <a:noFill/>
          <a:ln/>
        </p:spPr>
        <p:txBody>
          <a:bodyPr wrap="square" lIns="0" tIns="0" rIns="0" bIns="0" rtlCol="0" anchor="ctr"/>
          <a:lstStyle/>
          <a:p>
            <a:pPr marL="0" indent="0">
              <a:buNone/>
            </a:pPr>
            <a:r>
              <a:rPr lang="en-US" sz="2600" b="1" dirty="0">
                <a:solidFill>
                  <a:srgbClr val="142335"/>
                </a:solidFill>
                <a:latin typeface="Cambria" pitchFamily="34" charset="0"/>
                <a:ea typeface="Cambria" pitchFamily="34" charset="-122"/>
                <a:cs typeface="Cambria" pitchFamily="34" charset="-120"/>
              </a:rPr>
              <a:t>120 million</a:t>
            </a:r>
            <a:endParaRPr lang="en-US" sz="2600" dirty="0"/>
          </a:p>
        </p:txBody>
      </p:sp>
      <p:sp>
        <p:nvSpPr>
          <p:cNvPr id="10" name="Text 8"/>
          <p:cNvSpPr/>
          <p:nvPr/>
        </p:nvSpPr>
        <p:spPr>
          <a:xfrm>
            <a:off x="4636008" y="2926080"/>
            <a:ext cx="2926080" cy="566928"/>
          </a:xfrm>
          <a:prstGeom prst="rect">
            <a:avLst/>
          </a:prstGeom>
          <a:noFill/>
          <a:ln/>
        </p:spPr>
        <p:txBody>
          <a:bodyPr wrap="square" lIns="0" tIns="0" rIns="0" bIns="0" rtlCol="0" anchor="ctr"/>
          <a:lstStyle/>
          <a:p>
            <a:pPr marL="0" indent="0">
              <a:lnSpc>
                <a:spcPts val="1400"/>
              </a:lnSpc>
              <a:buNone/>
            </a:pPr>
            <a:r>
              <a:rPr lang="en-US" sz="1050" dirty="0">
                <a:solidFill>
                  <a:srgbClr val="6E7890"/>
                </a:solidFill>
                <a:latin typeface="Calibri" pitchFamily="34" charset="0"/>
                <a:ea typeface="Calibri" pitchFamily="34" charset="-122"/>
                <a:cs typeface="Calibri" pitchFamily="34" charset="-120"/>
              </a:rPr>
              <a:t>cards outstanding, May 2026</a:t>
            </a:r>
            <a:endParaRPr lang="en-US" sz="1050" dirty="0"/>
          </a:p>
          <a:p>
            <a:pPr marL="0" indent="0">
              <a:lnSpc>
                <a:spcPts val="1400"/>
              </a:lnSpc>
              <a:buNone/>
            </a:pPr>
            <a:r>
              <a:rPr lang="en-US" sz="1050" dirty="0">
                <a:solidFill>
                  <a:srgbClr val="6E7890"/>
                </a:solidFill>
                <a:latin typeface="Calibri" pitchFamily="34" charset="0"/>
                <a:ea typeface="Calibri" pitchFamily="34" charset="-122"/>
                <a:cs typeface="Calibri" pitchFamily="34" charset="-120"/>
              </a:rPr>
              <a:t>RBI · up 8.3% year on year</a:t>
            </a:r>
            <a:endParaRPr lang="en-US" sz="1050" dirty="0"/>
          </a:p>
        </p:txBody>
      </p:sp>
      <p:sp>
        <p:nvSpPr>
          <p:cNvPr id="11" name="Shape 9"/>
          <p:cNvSpPr/>
          <p:nvPr/>
        </p:nvSpPr>
        <p:spPr>
          <a:xfrm>
            <a:off x="8028432" y="2240280"/>
            <a:ext cx="3520440" cy="1371600"/>
          </a:xfrm>
          <a:prstGeom prst="roundRect">
            <a:avLst>
              <a:gd name="adj" fmla="val 6667"/>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2" name="Text 10"/>
          <p:cNvSpPr/>
          <p:nvPr/>
        </p:nvSpPr>
        <p:spPr>
          <a:xfrm>
            <a:off x="8330184" y="2395728"/>
            <a:ext cx="2926080" cy="548640"/>
          </a:xfrm>
          <a:prstGeom prst="rect">
            <a:avLst/>
          </a:prstGeom>
          <a:noFill/>
          <a:ln/>
        </p:spPr>
        <p:txBody>
          <a:bodyPr wrap="square" lIns="0" tIns="0" rIns="0" bIns="0" rtlCol="0" anchor="ctr"/>
          <a:lstStyle/>
          <a:p>
            <a:pPr marL="0" indent="0">
              <a:buNone/>
            </a:pPr>
            <a:r>
              <a:rPr lang="en-US" sz="2600" b="1" dirty="0">
                <a:solidFill>
                  <a:srgbClr val="142335"/>
                </a:solidFill>
                <a:latin typeface="Cambria" pitchFamily="34" charset="0"/>
                <a:ea typeface="Cambria" pitchFamily="34" charset="-122"/>
                <a:cs typeface="Cambria" pitchFamily="34" charset="-120"/>
              </a:rPr>
              <a:t>2 years</a:t>
            </a:r>
            <a:endParaRPr lang="en-US" sz="2600" dirty="0"/>
          </a:p>
        </p:txBody>
      </p:sp>
      <p:sp>
        <p:nvSpPr>
          <p:cNvPr id="13" name="Text 11"/>
          <p:cNvSpPr/>
          <p:nvPr/>
        </p:nvSpPr>
        <p:spPr>
          <a:xfrm>
            <a:off x="8330184" y="2926080"/>
            <a:ext cx="2926080" cy="566928"/>
          </a:xfrm>
          <a:prstGeom prst="rect">
            <a:avLst/>
          </a:prstGeom>
          <a:noFill/>
          <a:ln/>
        </p:spPr>
        <p:txBody>
          <a:bodyPr wrap="square" lIns="0" tIns="0" rIns="0" bIns="0" rtlCol="0" anchor="ctr"/>
          <a:lstStyle/>
          <a:p>
            <a:pPr marL="0" indent="0">
              <a:lnSpc>
                <a:spcPts val="1400"/>
              </a:lnSpc>
              <a:buNone/>
            </a:pPr>
            <a:r>
              <a:rPr lang="en-US" sz="1050" dirty="0">
                <a:solidFill>
                  <a:srgbClr val="6E7890"/>
                </a:solidFill>
                <a:latin typeface="Calibri" pitchFamily="34" charset="0"/>
                <a:ea typeface="Calibri" pitchFamily="34" charset="-122"/>
                <a:cs typeface="Calibri" pitchFamily="34" charset="-120"/>
              </a:rPr>
              <a:t>and HDFC and SBI points expire</a:t>
            </a:r>
            <a:endParaRPr lang="en-US" sz="1050" dirty="0"/>
          </a:p>
          <a:p>
            <a:pPr marL="0" indent="0">
              <a:lnSpc>
                <a:spcPts val="1400"/>
              </a:lnSpc>
              <a:buNone/>
            </a:pPr>
            <a:r>
              <a:rPr lang="en-US" sz="1050" dirty="0">
                <a:solidFill>
                  <a:srgbClr val="6E7890"/>
                </a:solidFill>
                <a:latin typeface="Calibri" pitchFamily="34" charset="0"/>
                <a:ea typeface="Calibri" pitchFamily="34" charset="-122"/>
                <a:cs typeface="Calibri" pitchFamily="34" charset="-120"/>
              </a:rPr>
              <a:t>Stated in the issuers' own terms</a:t>
            </a:r>
            <a:endParaRPr lang="en-US" sz="1050" dirty="0"/>
          </a:p>
        </p:txBody>
      </p:sp>
      <p:sp>
        <p:nvSpPr>
          <p:cNvPr id="14" name="Shape 12"/>
          <p:cNvSpPr/>
          <p:nvPr/>
        </p:nvSpPr>
        <p:spPr>
          <a:xfrm>
            <a:off x="640080" y="3840480"/>
            <a:ext cx="10908792" cy="731520"/>
          </a:xfrm>
          <a:prstGeom prst="roundRect">
            <a:avLst>
              <a:gd name="adj" fmla="val 12500"/>
            </a:avLst>
          </a:prstGeom>
          <a:solidFill>
            <a:srgbClr val="F1ECE4"/>
          </a:solidFill>
          <a:ln w="9525">
            <a:solidFill>
              <a:srgbClr val="E7E0D4"/>
            </a:solidFill>
            <a:prstDash val="solid"/>
          </a:ln>
          <a:effectLst>
            <a:outerShdw blurRad="101600" dist="12700" dir="5400000" algn="bl" rotWithShape="0">
              <a:srgbClr val="B9AE9C">
                <a:alpha val="18000"/>
              </a:srgbClr>
            </a:outerShdw>
          </a:effectLst>
        </p:spPr>
      </p:sp>
      <p:sp>
        <p:nvSpPr>
          <p:cNvPr id="15" name="Shape 13"/>
          <p:cNvSpPr/>
          <p:nvPr/>
        </p:nvSpPr>
        <p:spPr>
          <a:xfrm>
            <a:off x="960120" y="4014216"/>
            <a:ext cx="384048" cy="384048"/>
          </a:xfrm>
          <a:prstGeom prst="ellipse">
            <a:avLst/>
          </a:prstGeom>
          <a:solidFill>
            <a:srgbClr val="142335"/>
          </a:solidFill>
          <a:ln w="6350">
            <a:solidFill>
              <a:srgbClr val="142335"/>
            </a:solidFill>
            <a:prstDash val="solid"/>
          </a:ln>
        </p:spPr>
      </p:sp>
      <p:sp>
        <p:nvSpPr>
          <p:cNvPr id="16" name="Text 14"/>
          <p:cNvSpPr/>
          <p:nvPr/>
        </p:nvSpPr>
        <p:spPr>
          <a:xfrm>
            <a:off x="960120" y="401421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7" name="Text 15"/>
          <p:cNvSpPr/>
          <p:nvPr/>
        </p:nvSpPr>
        <p:spPr>
          <a:xfrm>
            <a:off x="1536192" y="3840480"/>
            <a:ext cx="3017520" cy="731520"/>
          </a:xfrm>
          <a:prstGeom prst="rect">
            <a:avLst/>
          </a:prstGeom>
          <a:noFill/>
          <a:ln/>
        </p:spPr>
        <p:txBody>
          <a:bodyPr wrap="square" lIns="0" tIns="0" rIns="0" bIns="0" rtlCol="0" anchor="ctr"/>
          <a:lstStyle/>
          <a:p>
            <a:pPr marL="0" indent="0">
              <a:buNone/>
            </a:pPr>
            <a:r>
              <a:rPr lang="en-US" sz="1500" b="1" dirty="0">
                <a:solidFill>
                  <a:srgbClr val="142335"/>
                </a:solidFill>
                <a:latin typeface="Cambria" pitchFamily="34" charset="0"/>
                <a:ea typeface="Cambria" pitchFamily="34" charset="-122"/>
                <a:cs typeface="Cambria" pitchFamily="34" charset="-120"/>
              </a:rPr>
              <a:t>The advice is bought</a:t>
            </a:r>
            <a:endParaRPr lang="en-US" sz="1500" dirty="0"/>
          </a:p>
        </p:txBody>
      </p:sp>
      <p:sp>
        <p:nvSpPr>
          <p:cNvPr id="18" name="Text 16"/>
          <p:cNvSpPr/>
          <p:nvPr/>
        </p:nvSpPr>
        <p:spPr>
          <a:xfrm>
            <a:off x="4663440" y="3840480"/>
            <a:ext cx="6583680" cy="73152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Comparison sites earn on approvals. Whichever card pays most gets recommended most. That is their business model, not a defect in it.</a:t>
            </a:r>
            <a:endParaRPr lang="en-US" sz="1150" dirty="0"/>
          </a:p>
        </p:txBody>
      </p:sp>
      <p:sp>
        <p:nvSpPr>
          <p:cNvPr id="19" name="Shape 17"/>
          <p:cNvSpPr/>
          <p:nvPr/>
        </p:nvSpPr>
        <p:spPr>
          <a:xfrm>
            <a:off x="640080" y="4663440"/>
            <a:ext cx="10908792" cy="731520"/>
          </a:xfrm>
          <a:prstGeom prst="roundRect">
            <a:avLst>
              <a:gd name="adj" fmla="val 12500"/>
            </a:avLst>
          </a:prstGeom>
          <a:solidFill>
            <a:srgbClr val="F1ECE4"/>
          </a:solidFill>
          <a:ln w="9525">
            <a:solidFill>
              <a:srgbClr val="E7E0D4"/>
            </a:solidFill>
            <a:prstDash val="solid"/>
          </a:ln>
          <a:effectLst>
            <a:outerShdw blurRad="101600" dist="12700" dir="5400000" algn="bl" rotWithShape="0">
              <a:srgbClr val="B9AE9C">
                <a:alpha val="18000"/>
              </a:srgbClr>
            </a:outerShdw>
          </a:effectLst>
        </p:spPr>
      </p:sp>
      <p:sp>
        <p:nvSpPr>
          <p:cNvPr id="20" name="Shape 18"/>
          <p:cNvSpPr/>
          <p:nvPr/>
        </p:nvSpPr>
        <p:spPr>
          <a:xfrm>
            <a:off x="960120" y="4837176"/>
            <a:ext cx="384048" cy="384048"/>
          </a:xfrm>
          <a:prstGeom prst="ellipse">
            <a:avLst/>
          </a:prstGeom>
          <a:solidFill>
            <a:srgbClr val="142335"/>
          </a:solidFill>
          <a:ln w="6350">
            <a:solidFill>
              <a:srgbClr val="142335"/>
            </a:solidFill>
            <a:prstDash val="solid"/>
          </a:ln>
        </p:spPr>
      </p:sp>
      <p:sp>
        <p:nvSpPr>
          <p:cNvPr id="21" name="Text 19"/>
          <p:cNvSpPr/>
          <p:nvPr/>
        </p:nvSpPr>
        <p:spPr>
          <a:xfrm>
            <a:off x="960120" y="483717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2" name="Text 20"/>
          <p:cNvSpPr/>
          <p:nvPr/>
        </p:nvSpPr>
        <p:spPr>
          <a:xfrm>
            <a:off x="1536192" y="4663440"/>
            <a:ext cx="3017520" cy="731520"/>
          </a:xfrm>
          <a:prstGeom prst="rect">
            <a:avLst/>
          </a:prstGeom>
          <a:noFill/>
          <a:ln/>
        </p:spPr>
        <p:txBody>
          <a:bodyPr wrap="square" lIns="0" tIns="0" rIns="0" bIns="0" rtlCol="0" anchor="ctr"/>
          <a:lstStyle/>
          <a:p>
            <a:pPr marL="0" indent="0">
              <a:buNone/>
            </a:pPr>
            <a:r>
              <a:rPr lang="en-US" sz="1500" b="1" dirty="0">
                <a:solidFill>
                  <a:srgbClr val="142335"/>
                </a:solidFill>
                <a:latin typeface="Cambria" pitchFamily="34" charset="0"/>
                <a:ea typeface="Cambria" pitchFamily="34" charset="-122"/>
                <a:cs typeface="Cambria" pitchFamily="34" charset="-120"/>
              </a:rPr>
              <a:t>Devaluations land silently</a:t>
            </a:r>
            <a:endParaRPr lang="en-US" sz="1500" dirty="0"/>
          </a:p>
        </p:txBody>
      </p:sp>
      <p:sp>
        <p:nvSpPr>
          <p:cNvPr id="23" name="Text 21"/>
          <p:cNvSpPr/>
          <p:nvPr/>
        </p:nvSpPr>
        <p:spPr>
          <a:xfrm>
            <a:off x="4663440" y="4663440"/>
            <a:ext cx="6583680" cy="73152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Issuers cut earn rates and redemption ratios with a notice nobody reads. Cardholders find out at redemption, months later.</a:t>
            </a:r>
            <a:endParaRPr lang="en-US" sz="1150" dirty="0"/>
          </a:p>
        </p:txBody>
      </p:sp>
      <p:sp>
        <p:nvSpPr>
          <p:cNvPr id="24" name="Shape 22"/>
          <p:cNvSpPr/>
          <p:nvPr/>
        </p:nvSpPr>
        <p:spPr>
          <a:xfrm>
            <a:off x="640080" y="5486400"/>
            <a:ext cx="10908792" cy="731520"/>
          </a:xfrm>
          <a:prstGeom prst="roundRect">
            <a:avLst>
              <a:gd name="adj" fmla="val 12500"/>
            </a:avLst>
          </a:prstGeom>
          <a:solidFill>
            <a:srgbClr val="F1ECE4"/>
          </a:solidFill>
          <a:ln w="9525">
            <a:solidFill>
              <a:srgbClr val="E7E0D4"/>
            </a:solidFill>
            <a:prstDash val="solid"/>
          </a:ln>
          <a:effectLst>
            <a:outerShdw blurRad="101600" dist="12700" dir="5400000" algn="bl" rotWithShape="0">
              <a:srgbClr val="B9AE9C">
                <a:alpha val="18000"/>
              </a:srgbClr>
            </a:outerShdw>
          </a:effectLst>
        </p:spPr>
      </p:sp>
      <p:sp>
        <p:nvSpPr>
          <p:cNvPr id="25" name="Shape 23"/>
          <p:cNvSpPr/>
          <p:nvPr/>
        </p:nvSpPr>
        <p:spPr>
          <a:xfrm>
            <a:off x="960120" y="5660136"/>
            <a:ext cx="384048" cy="384048"/>
          </a:xfrm>
          <a:prstGeom prst="ellipse">
            <a:avLst/>
          </a:prstGeom>
          <a:solidFill>
            <a:srgbClr val="142335"/>
          </a:solidFill>
          <a:ln w="6350">
            <a:solidFill>
              <a:srgbClr val="142335"/>
            </a:solidFill>
            <a:prstDash val="solid"/>
          </a:ln>
        </p:spPr>
      </p:sp>
      <p:sp>
        <p:nvSpPr>
          <p:cNvPr id="26" name="Text 24"/>
          <p:cNvSpPr/>
          <p:nvPr/>
        </p:nvSpPr>
        <p:spPr>
          <a:xfrm>
            <a:off x="960120" y="566013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7" name="Text 25"/>
          <p:cNvSpPr/>
          <p:nvPr/>
        </p:nvSpPr>
        <p:spPr>
          <a:xfrm>
            <a:off x="1536192" y="5486400"/>
            <a:ext cx="3017520" cy="731520"/>
          </a:xfrm>
          <a:prstGeom prst="rect">
            <a:avLst/>
          </a:prstGeom>
          <a:noFill/>
          <a:ln/>
        </p:spPr>
        <p:txBody>
          <a:bodyPr wrap="square" lIns="0" tIns="0" rIns="0" bIns="0" rtlCol="0" anchor="ctr"/>
          <a:lstStyle/>
          <a:p>
            <a:pPr marL="0" indent="0">
              <a:buNone/>
            </a:pPr>
            <a:r>
              <a:rPr lang="en-US" sz="1500" b="1" dirty="0">
                <a:solidFill>
                  <a:srgbClr val="142335"/>
                </a:solidFill>
                <a:latin typeface="Cambria" pitchFamily="34" charset="0"/>
                <a:ea typeface="Cambria" pitchFamily="34" charset="-122"/>
                <a:cs typeface="Cambria" pitchFamily="34" charset="-120"/>
              </a:rPr>
              <a:t>Nobody redeems well</a:t>
            </a:r>
            <a:endParaRPr lang="en-US" sz="1500" dirty="0"/>
          </a:p>
        </p:txBody>
      </p:sp>
      <p:sp>
        <p:nvSpPr>
          <p:cNvPr id="28" name="Text 26"/>
          <p:cNvSpPr/>
          <p:nvPr/>
        </p:nvSpPr>
        <p:spPr>
          <a:xfrm>
            <a:off x="4663440" y="5486400"/>
            <a:ext cx="6583680" cy="73152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A balance sits in a portal at the issuer's floor price while the same points, moved to an airline programme, would buy a seat worth several times more.</a:t>
            </a:r>
            <a:endParaRPr lang="en-US" sz="1150" dirty="0"/>
          </a:p>
        </p:txBody>
      </p:sp>
      <p:sp>
        <p:nvSpPr>
          <p:cNvPr id="29" name="Text 27"/>
          <p:cNvSpPr/>
          <p:nvPr/>
        </p:nvSpPr>
        <p:spPr>
          <a:xfrm>
            <a:off x="640080" y="6327648"/>
            <a:ext cx="7680960" cy="274320"/>
          </a:xfrm>
          <a:prstGeom prst="rect">
            <a:avLst/>
          </a:prstGeom>
          <a:noFill/>
          <a:ln/>
        </p:spPr>
        <p:txBody>
          <a:bodyPr wrap="square" lIns="0" tIns="0" rIns="0" bIns="0" rtlCol="0" anchor="ctr"/>
          <a:lstStyle/>
          <a:p>
            <a:pPr marL="0" indent="0">
              <a:buNone/>
            </a:pPr>
            <a:r>
              <a:rPr lang="en-US" sz="850" dirty="0">
                <a:solidFill>
                  <a:srgbClr val="6E7890"/>
                </a:solidFill>
                <a:latin typeface="Calibri" pitchFamily="34" charset="0"/>
                <a:ea typeface="Calibri" pitchFamily="34" charset="-122"/>
                <a:cs typeface="Calibri" pitchFamily="34" charset="-120"/>
              </a:rPr>
              <a:t>Reserve Bank of India card statistics · issuer reward terms · read 18 August 2026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640080" y="237744"/>
            <a:ext cx="10881360" cy="274320"/>
          </a:xfrm>
          <a:prstGeom prst="rect">
            <a:avLst/>
          </a:prstGeom>
          <a:noFill/>
          <a:ln/>
        </p:spPr>
        <p:txBody>
          <a:bodyPr wrap="square" lIns="0" tIns="0" rIns="0" bIns="0" rtlCol="0" anchor="b"/>
          <a:lstStyle/>
          <a:p>
            <a:pPr marL="0" indent="0">
              <a:buNone/>
            </a:pPr>
            <a:r>
              <a:rPr lang="en-US" sz="1100" b="1" kern="0" spc="200" dirty="0">
                <a:solidFill>
                  <a:srgbClr val="8C5F12"/>
                </a:solidFill>
                <a:latin typeface="Calibri" pitchFamily="34" charset="0"/>
                <a:ea typeface="Calibri" pitchFamily="34" charset="-122"/>
                <a:cs typeface="Calibri" pitchFamily="34" charset="-120"/>
              </a:rPr>
              <a:t>THE INSIGHT BOTH PRODUCTS REST ON</a:t>
            </a:r>
            <a:endParaRPr lang="en-US" sz="1100" dirty="0"/>
          </a:p>
        </p:txBody>
      </p:sp>
      <p:sp>
        <p:nvSpPr>
          <p:cNvPr id="3" name="Text 1"/>
          <p:cNvSpPr/>
          <p:nvPr/>
        </p:nvSpPr>
        <p:spPr>
          <a:xfrm>
            <a:off x="640080" y="566928"/>
            <a:ext cx="10881360" cy="777240"/>
          </a:xfrm>
          <a:prstGeom prst="rect">
            <a:avLst/>
          </a:prstGeom>
          <a:noFill/>
          <a:ln/>
        </p:spPr>
        <p:txBody>
          <a:bodyPr wrap="square" lIns="0" tIns="0" rIns="0" bIns="0" rtlCol="0" anchor="t"/>
          <a:lstStyle/>
          <a:p>
            <a:pPr marL="0" indent="0">
              <a:buNone/>
            </a:pPr>
            <a:r>
              <a:rPr lang="en-US" sz="3400" b="1" dirty="0">
                <a:solidFill>
                  <a:srgbClr val="142335"/>
                </a:solidFill>
                <a:latin typeface="Cambria" pitchFamily="34" charset="0"/>
                <a:ea typeface="Cambria" pitchFamily="34" charset="-122"/>
                <a:cs typeface="Cambria" pitchFamily="34" charset="-120"/>
              </a:rPr>
              <a:t>The floor is published. The ceiling is reachable.</a:t>
            </a:r>
            <a:endParaRPr lang="en-US" sz="3400" dirty="0"/>
          </a:p>
        </p:txBody>
      </p:sp>
      <p:sp>
        <p:nvSpPr>
          <p:cNvPr id="4" name="Text 2"/>
          <p:cNvSpPr/>
          <p:nvPr/>
        </p:nvSpPr>
        <p:spPr>
          <a:xfrm>
            <a:off x="640080" y="1371600"/>
            <a:ext cx="10058400" cy="457200"/>
          </a:xfrm>
          <a:prstGeom prst="rect">
            <a:avLst/>
          </a:prstGeom>
          <a:noFill/>
          <a:ln/>
        </p:spPr>
        <p:txBody>
          <a:bodyPr wrap="square" lIns="0" tIns="0" rIns="0" bIns="0" rtlCol="0" anchor="ctr"/>
          <a:lstStyle/>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HDFC states in its own corporate terms what a reward point is worth in its portal. The same points can</a:t>
            </a:r>
            <a:endParaRPr lang="en-US" sz="1500" dirty="0"/>
          </a:p>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also be moved to airline programmes. The gap between those two numbers is measurable by anyone.</a:t>
            </a:r>
            <a:endParaRPr lang="en-US" sz="1500" dirty="0"/>
          </a:p>
        </p:txBody>
      </p:sp>
      <p:sp>
        <p:nvSpPr>
          <p:cNvPr id="5" name="Shape 3"/>
          <p:cNvSpPr/>
          <p:nvPr/>
        </p:nvSpPr>
        <p:spPr>
          <a:xfrm>
            <a:off x="640080" y="2395728"/>
            <a:ext cx="3246120" cy="2286000"/>
          </a:xfrm>
          <a:prstGeom prst="roundRect">
            <a:avLst>
              <a:gd name="adj" fmla="val 4000"/>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6" name="Text 4"/>
          <p:cNvSpPr/>
          <p:nvPr/>
        </p:nvSpPr>
        <p:spPr>
          <a:xfrm>
            <a:off x="960120" y="2606040"/>
            <a:ext cx="2651760" cy="329184"/>
          </a:xfrm>
          <a:prstGeom prst="rect">
            <a:avLst/>
          </a:prstGeom>
          <a:noFill/>
          <a:ln/>
        </p:spPr>
        <p:txBody>
          <a:bodyPr wrap="square" lIns="0" tIns="0" rIns="0" bIns="0" rtlCol="0" anchor="ctr"/>
          <a:lstStyle/>
          <a:p>
            <a:pPr marL="0" indent="0">
              <a:buNone/>
            </a:pPr>
            <a:r>
              <a:rPr lang="en-US" sz="1100" b="1" kern="0" spc="150" dirty="0">
                <a:solidFill>
                  <a:srgbClr val="6E7890"/>
                </a:solidFill>
                <a:latin typeface="Calibri" pitchFamily="34" charset="0"/>
                <a:ea typeface="Calibri" pitchFamily="34" charset="-122"/>
                <a:cs typeface="Calibri" pitchFamily="34" charset="-120"/>
              </a:rPr>
              <a:t>The floor</a:t>
            </a:r>
            <a:endParaRPr lang="en-US" sz="1100" dirty="0"/>
          </a:p>
        </p:txBody>
      </p:sp>
      <p:sp>
        <p:nvSpPr>
          <p:cNvPr id="7" name="Text 5"/>
          <p:cNvSpPr/>
          <p:nvPr/>
        </p:nvSpPr>
        <p:spPr>
          <a:xfrm>
            <a:off x="960120" y="2944368"/>
            <a:ext cx="2651760" cy="685800"/>
          </a:xfrm>
          <a:prstGeom prst="rect">
            <a:avLst/>
          </a:prstGeom>
          <a:noFill/>
          <a:ln/>
        </p:spPr>
        <p:txBody>
          <a:bodyPr wrap="square" lIns="0" tIns="0" rIns="0" bIns="0" rtlCol="0" anchor="ctr"/>
          <a:lstStyle/>
          <a:p>
            <a:pPr marL="0" indent="0">
              <a:buNone/>
            </a:pPr>
            <a:r>
              <a:rPr lang="en-US" sz="3600" b="1" dirty="0">
                <a:solidFill>
                  <a:srgbClr val="142335"/>
                </a:solidFill>
                <a:latin typeface="Cambria" pitchFamily="34" charset="0"/>
                <a:ea typeface="Cambria" pitchFamily="34" charset="-122"/>
                <a:cs typeface="Cambria" pitchFamily="34" charset="-120"/>
              </a:rPr>
              <a:t>30 paise</a:t>
            </a:r>
            <a:endParaRPr lang="en-US" sz="3600" dirty="0"/>
          </a:p>
        </p:txBody>
      </p:sp>
      <p:sp>
        <p:nvSpPr>
          <p:cNvPr id="8" name="Text 6"/>
          <p:cNvSpPr/>
          <p:nvPr/>
        </p:nvSpPr>
        <p:spPr>
          <a:xfrm>
            <a:off x="960120" y="3675888"/>
            <a:ext cx="2651760" cy="86868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per point on HDFC's own corporate travel portal. Published, not estimated by us.</a:t>
            </a:r>
            <a:endParaRPr lang="en-US" sz="1150" dirty="0"/>
          </a:p>
        </p:txBody>
      </p:sp>
      <p:sp>
        <p:nvSpPr>
          <p:cNvPr id="9" name="Shape 7"/>
          <p:cNvSpPr/>
          <p:nvPr/>
        </p:nvSpPr>
        <p:spPr>
          <a:xfrm>
            <a:off x="4114800" y="3246120"/>
            <a:ext cx="685800" cy="384048"/>
          </a:xfrm>
          <a:prstGeom prst="rightArrow">
            <a:avLst/>
          </a:prstGeom>
          <a:solidFill>
            <a:srgbClr val="D89B2A"/>
          </a:solidFill>
          <a:ln w="6350">
            <a:solidFill>
              <a:srgbClr val="D89B2A"/>
            </a:solidFill>
            <a:prstDash val="solid"/>
          </a:ln>
        </p:spPr>
      </p:sp>
      <p:sp>
        <p:nvSpPr>
          <p:cNvPr id="10" name="Shape 8"/>
          <p:cNvSpPr/>
          <p:nvPr/>
        </p:nvSpPr>
        <p:spPr>
          <a:xfrm>
            <a:off x="5029200" y="2395728"/>
            <a:ext cx="3246120" cy="2286000"/>
          </a:xfrm>
          <a:prstGeom prst="roundRect">
            <a:avLst>
              <a:gd name="adj" fmla="val 4000"/>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1" name="Text 9"/>
          <p:cNvSpPr/>
          <p:nvPr/>
        </p:nvSpPr>
        <p:spPr>
          <a:xfrm>
            <a:off x="5349240" y="2606040"/>
            <a:ext cx="2651760" cy="329184"/>
          </a:xfrm>
          <a:prstGeom prst="rect">
            <a:avLst/>
          </a:prstGeom>
          <a:noFill/>
          <a:ln/>
        </p:spPr>
        <p:txBody>
          <a:bodyPr wrap="square" lIns="0" tIns="0" rIns="0" bIns="0" rtlCol="0" anchor="ctr"/>
          <a:lstStyle/>
          <a:p>
            <a:pPr marL="0" indent="0">
              <a:buNone/>
            </a:pPr>
            <a:r>
              <a:rPr lang="en-US" sz="1100" b="1" kern="0" spc="150" dirty="0">
                <a:solidFill>
                  <a:srgbClr val="6E7890"/>
                </a:solidFill>
                <a:latin typeface="Calibri" pitchFamily="34" charset="0"/>
                <a:ea typeface="Calibri" pitchFamily="34" charset="-122"/>
                <a:cs typeface="Calibri" pitchFamily="34" charset="-120"/>
              </a:rPr>
              <a:t>The ceiling</a:t>
            </a:r>
            <a:endParaRPr lang="en-US" sz="1100" dirty="0"/>
          </a:p>
        </p:txBody>
      </p:sp>
      <p:sp>
        <p:nvSpPr>
          <p:cNvPr id="12" name="Text 10"/>
          <p:cNvSpPr/>
          <p:nvPr/>
        </p:nvSpPr>
        <p:spPr>
          <a:xfrm>
            <a:off x="5349240" y="2944368"/>
            <a:ext cx="2651760" cy="685800"/>
          </a:xfrm>
          <a:prstGeom prst="rect">
            <a:avLst/>
          </a:prstGeom>
          <a:noFill/>
          <a:ln/>
        </p:spPr>
        <p:txBody>
          <a:bodyPr wrap="square" lIns="0" tIns="0" rIns="0" bIns="0" rtlCol="0" anchor="ctr"/>
          <a:lstStyle/>
          <a:p>
            <a:pPr marL="0" indent="0">
              <a:buNone/>
            </a:pPr>
            <a:r>
              <a:rPr lang="en-US" sz="2700" b="1" dirty="0">
                <a:solidFill>
                  <a:srgbClr val="8C5F12"/>
                </a:solidFill>
                <a:latin typeface="Cambria" pitchFamily="34" charset="0"/>
                <a:ea typeface="Cambria" pitchFamily="34" charset="-122"/>
                <a:cs typeface="Cambria" pitchFamily="34" charset="-120"/>
              </a:rPr>
              <a:t>Airline miles</a:t>
            </a:r>
            <a:endParaRPr lang="en-US" sz="2700" dirty="0"/>
          </a:p>
        </p:txBody>
      </p:sp>
      <p:sp>
        <p:nvSpPr>
          <p:cNvPr id="13" name="Text 11"/>
          <p:cNvSpPr/>
          <p:nvPr/>
        </p:nvSpPr>
        <p:spPr>
          <a:xfrm>
            <a:off x="5349240" y="3675888"/>
            <a:ext cx="2651760" cy="86868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SmartBuy Corporate moves the same points into domestic and international programmes, where a seat prices very differently.</a:t>
            </a:r>
            <a:endParaRPr lang="en-US" sz="1150" dirty="0"/>
          </a:p>
        </p:txBody>
      </p:sp>
      <p:sp>
        <p:nvSpPr>
          <p:cNvPr id="14" name="Shape 12"/>
          <p:cNvSpPr/>
          <p:nvPr/>
        </p:nvSpPr>
        <p:spPr>
          <a:xfrm>
            <a:off x="8503920" y="3246120"/>
            <a:ext cx="685800" cy="384048"/>
          </a:xfrm>
          <a:prstGeom prst="rightArrow">
            <a:avLst/>
          </a:prstGeom>
          <a:solidFill>
            <a:srgbClr val="D89B2A"/>
          </a:solidFill>
          <a:ln w="6350">
            <a:solidFill>
              <a:srgbClr val="D89B2A"/>
            </a:solidFill>
            <a:prstDash val="solid"/>
          </a:ln>
        </p:spPr>
      </p:sp>
      <p:sp>
        <p:nvSpPr>
          <p:cNvPr id="15" name="Shape 13"/>
          <p:cNvSpPr/>
          <p:nvPr/>
        </p:nvSpPr>
        <p:spPr>
          <a:xfrm>
            <a:off x="9418320" y="2395728"/>
            <a:ext cx="2130552" cy="2286000"/>
          </a:xfrm>
          <a:prstGeom prst="roundRect">
            <a:avLst>
              <a:gd name="adj" fmla="val 4292"/>
            </a:avLst>
          </a:prstGeom>
          <a:solidFill>
            <a:srgbClr val="142335"/>
          </a:solidFill>
          <a:ln w="9525">
            <a:solidFill>
              <a:srgbClr val="142335"/>
            </a:solidFill>
            <a:prstDash val="solid"/>
          </a:ln>
          <a:effectLst>
            <a:outerShdw blurRad="101600" dist="12700" dir="5400000" algn="bl" rotWithShape="0">
              <a:srgbClr val="B9AE9C">
                <a:alpha val="18000"/>
              </a:srgbClr>
            </a:outerShdw>
          </a:effectLst>
        </p:spPr>
      </p:sp>
      <p:sp>
        <p:nvSpPr>
          <p:cNvPr id="16" name="Text 14"/>
          <p:cNvSpPr/>
          <p:nvPr/>
        </p:nvSpPr>
        <p:spPr>
          <a:xfrm>
            <a:off x="9646920" y="2606040"/>
            <a:ext cx="1691640" cy="329184"/>
          </a:xfrm>
          <a:prstGeom prst="rect">
            <a:avLst/>
          </a:prstGeom>
          <a:noFill/>
          <a:ln/>
        </p:spPr>
        <p:txBody>
          <a:bodyPr wrap="square" lIns="0" tIns="0" rIns="0" bIns="0" rtlCol="0" anchor="ctr"/>
          <a:lstStyle/>
          <a:p>
            <a:pPr marL="0" indent="0">
              <a:buNone/>
            </a:pPr>
            <a:r>
              <a:rPr lang="en-US" sz="1100" b="1" kern="0" spc="150" dirty="0">
                <a:solidFill>
                  <a:srgbClr val="D89B2A"/>
                </a:solidFill>
                <a:latin typeface="Calibri" pitchFamily="34" charset="0"/>
                <a:ea typeface="Calibri" pitchFamily="34" charset="-122"/>
                <a:cs typeface="Calibri" pitchFamily="34" charset="-120"/>
              </a:rPr>
              <a:t>Our fee</a:t>
            </a:r>
            <a:endParaRPr lang="en-US" sz="1100" dirty="0"/>
          </a:p>
        </p:txBody>
      </p:sp>
      <p:sp>
        <p:nvSpPr>
          <p:cNvPr id="17" name="Text 15"/>
          <p:cNvSpPr/>
          <p:nvPr/>
        </p:nvSpPr>
        <p:spPr>
          <a:xfrm>
            <a:off x="9646920" y="2944368"/>
            <a:ext cx="1691640" cy="914400"/>
          </a:xfrm>
          <a:prstGeom prst="rect">
            <a:avLst/>
          </a:prstGeom>
          <a:noFill/>
          <a:ln/>
        </p:spPr>
        <p:txBody>
          <a:bodyPr wrap="square" lIns="0" tIns="0" rIns="0" bIns="0" rtlCol="0" anchor="ctr"/>
          <a:lstStyle/>
          <a:p>
            <a:pPr marL="0" indent="0">
              <a:lnSpc>
                <a:spcPts val="2200"/>
              </a:lnSpc>
              <a:buNone/>
            </a:pPr>
            <a:r>
              <a:rPr lang="en-US" sz="1700" b="1" dirty="0">
                <a:solidFill>
                  <a:srgbClr val="FFFFFF"/>
                </a:solidFill>
                <a:latin typeface="Cambria" pitchFamily="34" charset="0"/>
                <a:ea typeface="Cambria" pitchFamily="34" charset="-122"/>
                <a:cs typeface="Cambria" pitchFamily="34" charset="-120"/>
              </a:rPr>
              <a:t>A share of the difference</a:t>
            </a:r>
            <a:endParaRPr lang="en-US" sz="1700" dirty="0"/>
          </a:p>
        </p:txBody>
      </p:sp>
      <p:sp>
        <p:nvSpPr>
          <p:cNvPr id="18" name="Text 16"/>
          <p:cNvSpPr/>
          <p:nvPr/>
        </p:nvSpPr>
        <p:spPr>
          <a:xfrm>
            <a:off x="9646920" y="3931920"/>
            <a:ext cx="1691640" cy="640080"/>
          </a:xfrm>
          <a:prstGeom prst="rect">
            <a:avLst/>
          </a:prstGeom>
          <a:noFill/>
          <a:ln/>
        </p:spPr>
        <p:txBody>
          <a:bodyPr wrap="square" lIns="0" tIns="0" rIns="0" bIns="0" rtlCol="0" anchor="ctr"/>
          <a:lstStyle/>
          <a:p>
            <a:pPr marL="0" indent="0">
              <a:lnSpc>
                <a:spcPts val="1400"/>
              </a:lnSpc>
              <a:buNone/>
            </a:pPr>
            <a:r>
              <a:rPr lang="en-US" sz="1050" dirty="0">
                <a:solidFill>
                  <a:srgbClr val="D9D3C8"/>
                </a:solidFill>
                <a:latin typeface="Calibri" pitchFamily="34" charset="0"/>
                <a:ea typeface="Calibri" pitchFamily="34" charset="-122"/>
                <a:cs typeface="Calibri" pitchFamily="34" charset="-120"/>
              </a:rPr>
              <a:t>Auditable against the issuer's own published number.</a:t>
            </a:r>
            <a:endParaRPr lang="en-US" sz="1050" dirty="0"/>
          </a:p>
        </p:txBody>
      </p:sp>
      <p:sp>
        <p:nvSpPr>
          <p:cNvPr id="19" name="Shape 17"/>
          <p:cNvSpPr/>
          <p:nvPr/>
        </p:nvSpPr>
        <p:spPr>
          <a:xfrm>
            <a:off x="640080" y="4892040"/>
            <a:ext cx="10908792" cy="841248"/>
          </a:xfrm>
          <a:prstGeom prst="roundRect">
            <a:avLst>
              <a:gd name="adj" fmla="val 10870"/>
            </a:avLst>
          </a:prstGeom>
          <a:solidFill>
            <a:srgbClr val="F1ECE4"/>
          </a:solidFill>
          <a:ln w="9525">
            <a:solidFill>
              <a:srgbClr val="E7E0D4"/>
            </a:solidFill>
            <a:prstDash val="solid"/>
          </a:ln>
          <a:effectLst>
            <a:outerShdw blurRad="101600" dist="12700" dir="5400000" algn="bl" rotWithShape="0">
              <a:srgbClr val="B9AE9C">
                <a:alpha val="18000"/>
              </a:srgbClr>
            </a:outerShdw>
          </a:effectLst>
        </p:spPr>
      </p:sp>
      <p:sp>
        <p:nvSpPr>
          <p:cNvPr id="20" name="Text 18"/>
          <p:cNvSpPr/>
          <p:nvPr/>
        </p:nvSpPr>
        <p:spPr>
          <a:xfrm>
            <a:off x="960120" y="4892040"/>
            <a:ext cx="10241280" cy="841248"/>
          </a:xfrm>
          <a:prstGeom prst="rect">
            <a:avLst/>
          </a:prstGeom>
          <a:noFill/>
          <a:ln/>
        </p:spPr>
        <p:txBody>
          <a:bodyPr wrap="square" lIns="0" tIns="0" rIns="0" bIns="0" rtlCol="0" anchor="ctr"/>
          <a:lstStyle/>
          <a:p>
            <a:pPr marL="0" indent="0">
              <a:buNone/>
            </a:pPr>
            <a:r>
              <a:rPr lang="en-US" sz="1300" dirty="0">
                <a:solidFill>
                  <a:srgbClr val="142335"/>
                </a:solidFill>
                <a:latin typeface="Calibri" pitchFamily="34" charset="0"/>
                <a:ea typeface="Calibri" pitchFamily="34" charset="-122"/>
                <a:cs typeface="Calibri" pitchFamily="34" charset="-120"/>
              </a:rPr>
              <a:t>Points also expire two years from the month they are earned. That is not a nice-to-have — it is a deadline a finance team has to act on.</a:t>
            </a:r>
            <a:endParaRPr lang="en-US" sz="1300" dirty="0"/>
          </a:p>
        </p:txBody>
      </p:sp>
      <p:sp>
        <p:nvSpPr>
          <p:cNvPr id="21" name="Text 19"/>
          <p:cNvSpPr/>
          <p:nvPr/>
        </p:nvSpPr>
        <p:spPr>
          <a:xfrm>
            <a:off x="640080" y="6327648"/>
            <a:ext cx="7680960" cy="274320"/>
          </a:xfrm>
          <a:prstGeom prst="rect">
            <a:avLst/>
          </a:prstGeom>
          <a:noFill/>
          <a:ln/>
        </p:spPr>
        <p:txBody>
          <a:bodyPr wrap="square" lIns="0" tIns="0" rIns="0" bIns="0" rtlCol="0" anchor="ctr"/>
          <a:lstStyle/>
          <a:p>
            <a:pPr marL="0" indent="0">
              <a:buNone/>
            </a:pPr>
            <a:r>
              <a:rPr lang="en-US" sz="850" dirty="0">
                <a:solidFill>
                  <a:srgbClr val="6E7890"/>
                </a:solidFill>
                <a:latin typeface="Calibri" pitchFamily="34" charset="0"/>
                <a:ea typeface="Calibri" pitchFamily="34" charset="-122"/>
                <a:cs typeface="Calibri" pitchFamily="34" charset="-120"/>
              </a:rPr>
              <a:t>HDFC Bank corporate credit card rewards terms · read 18 August 2026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640080" y="237744"/>
            <a:ext cx="10881360" cy="274320"/>
          </a:xfrm>
          <a:prstGeom prst="rect">
            <a:avLst/>
          </a:prstGeom>
          <a:noFill/>
          <a:ln/>
        </p:spPr>
        <p:txBody>
          <a:bodyPr wrap="square" lIns="0" tIns="0" rIns="0" bIns="0" rtlCol="0" anchor="b"/>
          <a:lstStyle/>
          <a:p>
            <a:pPr marL="0" indent="0">
              <a:buNone/>
            </a:pPr>
            <a:r>
              <a:rPr lang="en-US" sz="1100" b="1" kern="0" spc="200" dirty="0">
                <a:solidFill>
                  <a:srgbClr val="8C5F12"/>
                </a:solidFill>
                <a:latin typeface="Calibri" pitchFamily="34" charset="0"/>
                <a:ea typeface="Calibri" pitchFamily="34" charset="-122"/>
                <a:cs typeface="Calibri" pitchFamily="34" charset="-120"/>
              </a:rPr>
              <a:t>PRODUCT · LIVE TODAY</a:t>
            </a:r>
            <a:endParaRPr lang="en-US" sz="1100" dirty="0"/>
          </a:p>
        </p:txBody>
      </p:sp>
      <p:sp>
        <p:nvSpPr>
          <p:cNvPr id="3" name="Text 1"/>
          <p:cNvSpPr/>
          <p:nvPr/>
        </p:nvSpPr>
        <p:spPr>
          <a:xfrm>
            <a:off x="640080" y="566928"/>
            <a:ext cx="10881360" cy="777240"/>
          </a:xfrm>
          <a:prstGeom prst="rect">
            <a:avLst/>
          </a:prstGeom>
          <a:noFill/>
          <a:ln/>
        </p:spPr>
        <p:txBody>
          <a:bodyPr wrap="square" lIns="0" tIns="0" rIns="0" bIns="0" rtlCol="0" anchor="t"/>
          <a:lstStyle/>
          <a:p>
            <a:pPr marL="0" indent="0">
              <a:buNone/>
            </a:pPr>
            <a:r>
              <a:rPr lang="en-US" sz="3400" b="1" dirty="0">
                <a:solidFill>
                  <a:srgbClr val="142335"/>
                </a:solidFill>
                <a:latin typeface="Cambria" pitchFamily="34" charset="0"/>
                <a:ea typeface="Cambria" pitchFamily="34" charset="-122"/>
                <a:cs typeface="Cambria" pitchFamily="34" charset="-120"/>
              </a:rPr>
              <a:t>Consumer: one honest number, then what to do with it</a:t>
            </a:r>
            <a:endParaRPr lang="en-US" sz="3400" dirty="0"/>
          </a:p>
        </p:txBody>
      </p:sp>
      <p:sp>
        <p:nvSpPr>
          <p:cNvPr id="4" name="Text 2"/>
          <p:cNvSpPr/>
          <p:nvPr/>
        </p:nvSpPr>
        <p:spPr>
          <a:xfrm>
            <a:off x="640080" y="1371600"/>
            <a:ext cx="10058400" cy="457200"/>
          </a:xfrm>
          <a:prstGeom prst="rect">
            <a:avLst/>
          </a:prstGeom>
          <a:noFill/>
          <a:ln/>
        </p:spPr>
        <p:txBody>
          <a:bodyPr wrap="square" lIns="0" tIns="0" rIns="0" bIns="0" rtlCol="0" anchor="ctr"/>
          <a:lstStyle/>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A signed-in wallet that reads real statements, states what is verified and what is not, and routes the</a:t>
            </a:r>
            <a:endParaRPr lang="en-US" sz="1500" dirty="0"/>
          </a:p>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balance into the redemption that actually pays.</a:t>
            </a:r>
            <a:endParaRPr lang="en-US" sz="1500" dirty="0"/>
          </a:p>
        </p:txBody>
      </p:sp>
      <p:sp>
        <p:nvSpPr>
          <p:cNvPr id="5" name="Shape 3"/>
          <p:cNvSpPr/>
          <p:nvPr/>
        </p:nvSpPr>
        <p:spPr>
          <a:xfrm>
            <a:off x="640080" y="2377440"/>
            <a:ext cx="3520440" cy="1691640"/>
          </a:xfrm>
          <a:prstGeom prst="roundRect">
            <a:avLst>
              <a:gd name="adj" fmla="val 5405"/>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6" name="Shape 4"/>
          <p:cNvSpPr/>
          <p:nvPr/>
        </p:nvSpPr>
        <p:spPr>
          <a:xfrm>
            <a:off x="932688" y="2670048"/>
            <a:ext cx="310896" cy="310896"/>
          </a:xfrm>
          <a:prstGeom prst="ellipse">
            <a:avLst/>
          </a:prstGeom>
          <a:solidFill>
            <a:srgbClr val="F1ECE4"/>
          </a:solidFill>
          <a:ln w="6350">
            <a:solidFill>
              <a:srgbClr val="E7E0D4"/>
            </a:solidFill>
            <a:prstDash val="solid"/>
          </a:ln>
        </p:spPr>
      </p:sp>
      <p:sp>
        <p:nvSpPr>
          <p:cNvPr id="7" name="Text 5"/>
          <p:cNvSpPr/>
          <p:nvPr/>
        </p:nvSpPr>
        <p:spPr>
          <a:xfrm>
            <a:off x="932688" y="2670048"/>
            <a:ext cx="310896" cy="310896"/>
          </a:xfrm>
          <a:prstGeom prst="rect">
            <a:avLst/>
          </a:prstGeom>
          <a:noFill/>
          <a:ln/>
        </p:spPr>
        <p:txBody>
          <a:bodyPr wrap="square" lIns="0" tIns="0" rIns="0" bIns="0" rtlCol="0" anchor="ctr"/>
          <a:lstStyle/>
          <a:p>
            <a:pPr marL="0" indent="0" algn="ctr">
              <a:buNone/>
            </a:pPr>
            <a:r>
              <a:rPr lang="en-US" sz="1100" b="1" dirty="0">
                <a:solidFill>
                  <a:srgbClr val="8C5F12"/>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932688" y="3090672"/>
            <a:ext cx="2935224" cy="365760"/>
          </a:xfrm>
          <a:prstGeom prst="rect">
            <a:avLst/>
          </a:prstGeom>
          <a:noFill/>
          <a:ln/>
        </p:spPr>
        <p:txBody>
          <a:bodyPr wrap="square" lIns="0" tIns="0" rIns="0" bIns="0" rtlCol="0" anchor="ctr"/>
          <a:lstStyle/>
          <a:p>
            <a:pPr marL="0" indent="0">
              <a:buNone/>
            </a:pPr>
            <a:r>
              <a:rPr lang="en-US" sz="1500" b="1" dirty="0">
                <a:solidFill>
                  <a:srgbClr val="142335"/>
                </a:solidFill>
                <a:latin typeface="Cambria" pitchFamily="34" charset="0"/>
                <a:ea typeface="Cambria" pitchFamily="34" charset="-122"/>
                <a:cs typeface="Cambria" pitchFamily="34" charset="-120"/>
              </a:rPr>
              <a:t>Statement Truth</a:t>
            </a:r>
            <a:endParaRPr lang="en-US" sz="1500" dirty="0"/>
          </a:p>
        </p:txBody>
      </p:sp>
      <p:sp>
        <p:nvSpPr>
          <p:cNvPr id="9" name="Text 7"/>
          <p:cNvSpPr/>
          <p:nvPr/>
        </p:nvSpPr>
        <p:spPr>
          <a:xfrm>
            <a:off x="932688" y="3438144"/>
            <a:ext cx="2935224" cy="54864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Upload the PDF your bank issued. We read the real balance and mark it verified.</a:t>
            </a:r>
            <a:endParaRPr lang="en-US" sz="1150" dirty="0"/>
          </a:p>
        </p:txBody>
      </p:sp>
      <p:sp>
        <p:nvSpPr>
          <p:cNvPr id="10" name="Shape 8"/>
          <p:cNvSpPr/>
          <p:nvPr/>
        </p:nvSpPr>
        <p:spPr>
          <a:xfrm>
            <a:off x="4334256" y="2377440"/>
            <a:ext cx="3520440" cy="1691640"/>
          </a:xfrm>
          <a:prstGeom prst="roundRect">
            <a:avLst>
              <a:gd name="adj" fmla="val 5405"/>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1" name="Shape 9"/>
          <p:cNvSpPr/>
          <p:nvPr/>
        </p:nvSpPr>
        <p:spPr>
          <a:xfrm>
            <a:off x="4626864" y="2670048"/>
            <a:ext cx="310896" cy="310896"/>
          </a:xfrm>
          <a:prstGeom prst="ellipse">
            <a:avLst/>
          </a:prstGeom>
          <a:solidFill>
            <a:srgbClr val="F1ECE4"/>
          </a:solidFill>
          <a:ln w="6350">
            <a:solidFill>
              <a:srgbClr val="E7E0D4"/>
            </a:solidFill>
            <a:prstDash val="solid"/>
          </a:ln>
        </p:spPr>
      </p:sp>
      <p:sp>
        <p:nvSpPr>
          <p:cNvPr id="12" name="Text 10"/>
          <p:cNvSpPr/>
          <p:nvPr/>
        </p:nvSpPr>
        <p:spPr>
          <a:xfrm>
            <a:off x="4626864" y="2670048"/>
            <a:ext cx="310896" cy="310896"/>
          </a:xfrm>
          <a:prstGeom prst="rect">
            <a:avLst/>
          </a:prstGeom>
          <a:noFill/>
          <a:ln/>
        </p:spPr>
        <p:txBody>
          <a:bodyPr wrap="square" lIns="0" tIns="0" rIns="0" bIns="0" rtlCol="0" anchor="ctr"/>
          <a:lstStyle/>
          <a:p>
            <a:pPr marL="0" indent="0" algn="ctr">
              <a:buNone/>
            </a:pPr>
            <a:r>
              <a:rPr lang="en-US" sz="1100" b="1" dirty="0">
                <a:solidFill>
                  <a:srgbClr val="8C5F12"/>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4626864" y="3090672"/>
            <a:ext cx="2935224" cy="365760"/>
          </a:xfrm>
          <a:prstGeom prst="rect">
            <a:avLst/>
          </a:prstGeom>
          <a:noFill/>
          <a:ln/>
        </p:spPr>
        <p:txBody>
          <a:bodyPr wrap="square" lIns="0" tIns="0" rIns="0" bIns="0" rtlCol="0" anchor="ctr"/>
          <a:lstStyle/>
          <a:p>
            <a:pPr marL="0" indent="0">
              <a:buNone/>
            </a:pPr>
            <a:r>
              <a:rPr lang="en-US" sz="1500" b="1" dirty="0">
                <a:solidFill>
                  <a:srgbClr val="142335"/>
                </a:solidFill>
                <a:latin typeface="Cambria" pitchFamily="34" charset="0"/>
                <a:ea typeface="Cambria" pitchFamily="34" charset="-122"/>
                <a:cs typeface="Cambria" pitchFamily="34" charset="-120"/>
              </a:rPr>
              <a:t>The wallet gauge</a:t>
            </a:r>
            <a:endParaRPr lang="en-US" sz="1500" dirty="0"/>
          </a:p>
        </p:txBody>
      </p:sp>
      <p:sp>
        <p:nvSpPr>
          <p:cNvPr id="14" name="Text 12"/>
          <p:cNvSpPr/>
          <p:nvPr/>
        </p:nvSpPr>
        <p:spPr>
          <a:xfrm>
            <a:off x="4626864" y="3438144"/>
            <a:ext cx="2935224" cy="54864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Every card, split into verified and self-entered. Never one blended guess.</a:t>
            </a:r>
            <a:endParaRPr lang="en-US" sz="1150" dirty="0"/>
          </a:p>
        </p:txBody>
      </p:sp>
      <p:sp>
        <p:nvSpPr>
          <p:cNvPr id="15" name="Shape 13"/>
          <p:cNvSpPr/>
          <p:nvPr/>
        </p:nvSpPr>
        <p:spPr>
          <a:xfrm>
            <a:off x="8028432" y="2377440"/>
            <a:ext cx="3520440" cy="1691640"/>
          </a:xfrm>
          <a:prstGeom prst="roundRect">
            <a:avLst>
              <a:gd name="adj" fmla="val 5405"/>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6" name="Shape 14"/>
          <p:cNvSpPr/>
          <p:nvPr/>
        </p:nvSpPr>
        <p:spPr>
          <a:xfrm>
            <a:off x="8321040" y="2670048"/>
            <a:ext cx="310896" cy="310896"/>
          </a:xfrm>
          <a:prstGeom prst="ellipse">
            <a:avLst/>
          </a:prstGeom>
          <a:solidFill>
            <a:srgbClr val="F1ECE4"/>
          </a:solidFill>
          <a:ln w="6350">
            <a:solidFill>
              <a:srgbClr val="E7E0D4"/>
            </a:solidFill>
            <a:prstDash val="solid"/>
          </a:ln>
        </p:spPr>
      </p:sp>
      <p:sp>
        <p:nvSpPr>
          <p:cNvPr id="17" name="Text 15"/>
          <p:cNvSpPr/>
          <p:nvPr/>
        </p:nvSpPr>
        <p:spPr>
          <a:xfrm>
            <a:off x="8321040" y="2670048"/>
            <a:ext cx="310896" cy="310896"/>
          </a:xfrm>
          <a:prstGeom prst="rect">
            <a:avLst/>
          </a:prstGeom>
          <a:noFill/>
          <a:ln/>
        </p:spPr>
        <p:txBody>
          <a:bodyPr wrap="square" lIns="0" tIns="0" rIns="0" bIns="0" rtlCol="0" anchor="ctr"/>
          <a:lstStyle/>
          <a:p>
            <a:pPr marL="0" indent="0" algn="ctr">
              <a:buNone/>
            </a:pPr>
            <a:r>
              <a:rPr lang="en-US" sz="1100" b="1" dirty="0">
                <a:solidFill>
                  <a:srgbClr val="8C5F12"/>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8321040" y="3090672"/>
            <a:ext cx="2935224" cy="365760"/>
          </a:xfrm>
          <a:prstGeom prst="rect">
            <a:avLst/>
          </a:prstGeom>
          <a:noFill/>
          <a:ln/>
        </p:spPr>
        <p:txBody>
          <a:bodyPr wrap="square" lIns="0" tIns="0" rIns="0" bIns="0" rtlCol="0" anchor="ctr"/>
          <a:lstStyle/>
          <a:p>
            <a:pPr marL="0" indent="0">
              <a:buNone/>
            </a:pPr>
            <a:r>
              <a:rPr lang="en-US" sz="1500" b="1" dirty="0">
                <a:solidFill>
                  <a:srgbClr val="142335"/>
                </a:solidFill>
                <a:latin typeface="Cambria" pitchFamily="34" charset="0"/>
                <a:ea typeface="Cambria" pitchFamily="34" charset="-122"/>
                <a:cs typeface="Cambria" pitchFamily="34" charset="-120"/>
              </a:rPr>
              <a:t>Redemption routing</a:t>
            </a:r>
            <a:endParaRPr lang="en-US" sz="1500" dirty="0"/>
          </a:p>
        </p:txBody>
      </p:sp>
      <p:sp>
        <p:nvSpPr>
          <p:cNvPr id="19" name="Text 17"/>
          <p:cNvSpPr/>
          <p:nvPr/>
        </p:nvSpPr>
        <p:spPr>
          <a:xfrm>
            <a:off x="8321040" y="3438144"/>
            <a:ext cx="2935224" cy="54864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Balance in, best path out — partner, ratio, steps and what it is worth.</a:t>
            </a:r>
            <a:endParaRPr lang="en-US" sz="1150" dirty="0"/>
          </a:p>
        </p:txBody>
      </p:sp>
      <p:sp>
        <p:nvSpPr>
          <p:cNvPr id="20" name="Shape 18"/>
          <p:cNvSpPr/>
          <p:nvPr/>
        </p:nvSpPr>
        <p:spPr>
          <a:xfrm>
            <a:off x="640080" y="4270248"/>
            <a:ext cx="3520440" cy="1691640"/>
          </a:xfrm>
          <a:prstGeom prst="roundRect">
            <a:avLst>
              <a:gd name="adj" fmla="val 5405"/>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21" name="Shape 19"/>
          <p:cNvSpPr/>
          <p:nvPr/>
        </p:nvSpPr>
        <p:spPr>
          <a:xfrm>
            <a:off x="932688" y="4562856"/>
            <a:ext cx="310896" cy="310896"/>
          </a:xfrm>
          <a:prstGeom prst="ellipse">
            <a:avLst/>
          </a:prstGeom>
          <a:solidFill>
            <a:srgbClr val="F1ECE4"/>
          </a:solidFill>
          <a:ln w="6350">
            <a:solidFill>
              <a:srgbClr val="E7E0D4"/>
            </a:solidFill>
            <a:prstDash val="solid"/>
          </a:ln>
        </p:spPr>
      </p:sp>
      <p:sp>
        <p:nvSpPr>
          <p:cNvPr id="22" name="Text 20"/>
          <p:cNvSpPr/>
          <p:nvPr/>
        </p:nvSpPr>
        <p:spPr>
          <a:xfrm>
            <a:off x="932688" y="4562856"/>
            <a:ext cx="310896" cy="310896"/>
          </a:xfrm>
          <a:prstGeom prst="rect">
            <a:avLst/>
          </a:prstGeom>
          <a:noFill/>
          <a:ln/>
        </p:spPr>
        <p:txBody>
          <a:bodyPr wrap="square" lIns="0" tIns="0" rIns="0" bIns="0" rtlCol="0" anchor="ctr"/>
          <a:lstStyle/>
          <a:p>
            <a:pPr marL="0" indent="0" algn="ctr">
              <a:buNone/>
            </a:pPr>
            <a:r>
              <a:rPr lang="en-US" sz="1100" b="1" dirty="0">
                <a:solidFill>
                  <a:srgbClr val="8C5F12"/>
                </a:solidFill>
                <a:latin typeface="Calibri" pitchFamily="34" charset="0"/>
                <a:ea typeface="Calibri" pitchFamily="34" charset="-122"/>
                <a:cs typeface="Calibri" pitchFamily="34" charset="-120"/>
              </a:rPr>
              <a:t>4</a:t>
            </a:r>
            <a:endParaRPr lang="en-US" sz="1100" dirty="0"/>
          </a:p>
        </p:txBody>
      </p:sp>
      <p:sp>
        <p:nvSpPr>
          <p:cNvPr id="23" name="Text 21"/>
          <p:cNvSpPr/>
          <p:nvPr/>
        </p:nvSpPr>
        <p:spPr>
          <a:xfrm>
            <a:off x="932688" y="4983480"/>
            <a:ext cx="2935224" cy="365760"/>
          </a:xfrm>
          <a:prstGeom prst="rect">
            <a:avLst/>
          </a:prstGeom>
          <a:noFill/>
          <a:ln/>
        </p:spPr>
        <p:txBody>
          <a:bodyPr wrap="square" lIns="0" tIns="0" rIns="0" bIns="0" rtlCol="0" anchor="ctr"/>
          <a:lstStyle/>
          <a:p>
            <a:pPr marL="0" indent="0">
              <a:buNone/>
            </a:pPr>
            <a:r>
              <a:rPr lang="en-US" sz="1500" b="1" dirty="0">
                <a:solidFill>
                  <a:srgbClr val="142335"/>
                </a:solidFill>
                <a:latin typeface="Cambria" pitchFamily="34" charset="0"/>
                <a:ea typeface="Cambria" pitchFamily="34" charset="-122"/>
                <a:cs typeface="Cambria" pitchFamily="34" charset="-120"/>
              </a:rPr>
              <a:t>CIRA assistant</a:t>
            </a:r>
            <a:endParaRPr lang="en-US" sz="1500" dirty="0"/>
          </a:p>
        </p:txBody>
      </p:sp>
      <p:sp>
        <p:nvSpPr>
          <p:cNvPr id="24" name="Text 22"/>
          <p:cNvSpPr/>
          <p:nvPr/>
        </p:nvSpPr>
        <p:spPr>
          <a:xfrm>
            <a:off x="932688" y="5330952"/>
            <a:ext cx="2935224" cy="54864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A card assistant on web and WhatsApp, answering on the user's own cards.</a:t>
            </a:r>
            <a:endParaRPr lang="en-US" sz="1150" dirty="0"/>
          </a:p>
        </p:txBody>
      </p:sp>
      <p:sp>
        <p:nvSpPr>
          <p:cNvPr id="25" name="Shape 23"/>
          <p:cNvSpPr/>
          <p:nvPr/>
        </p:nvSpPr>
        <p:spPr>
          <a:xfrm>
            <a:off x="4334256" y="4270248"/>
            <a:ext cx="3520440" cy="1691640"/>
          </a:xfrm>
          <a:prstGeom prst="roundRect">
            <a:avLst>
              <a:gd name="adj" fmla="val 5405"/>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26" name="Shape 24"/>
          <p:cNvSpPr/>
          <p:nvPr/>
        </p:nvSpPr>
        <p:spPr>
          <a:xfrm>
            <a:off x="4626864" y="4562856"/>
            <a:ext cx="310896" cy="310896"/>
          </a:xfrm>
          <a:prstGeom prst="ellipse">
            <a:avLst/>
          </a:prstGeom>
          <a:solidFill>
            <a:srgbClr val="F1ECE4"/>
          </a:solidFill>
          <a:ln w="6350">
            <a:solidFill>
              <a:srgbClr val="E7E0D4"/>
            </a:solidFill>
            <a:prstDash val="solid"/>
          </a:ln>
        </p:spPr>
      </p:sp>
      <p:sp>
        <p:nvSpPr>
          <p:cNvPr id="27" name="Text 25"/>
          <p:cNvSpPr/>
          <p:nvPr/>
        </p:nvSpPr>
        <p:spPr>
          <a:xfrm>
            <a:off x="4626864" y="4562856"/>
            <a:ext cx="310896" cy="310896"/>
          </a:xfrm>
          <a:prstGeom prst="rect">
            <a:avLst/>
          </a:prstGeom>
          <a:noFill/>
          <a:ln/>
        </p:spPr>
        <p:txBody>
          <a:bodyPr wrap="square" lIns="0" tIns="0" rIns="0" bIns="0" rtlCol="0" anchor="ctr"/>
          <a:lstStyle/>
          <a:p>
            <a:pPr marL="0" indent="0" algn="ctr">
              <a:buNone/>
            </a:pPr>
            <a:r>
              <a:rPr lang="en-US" sz="1100" b="1" dirty="0">
                <a:solidFill>
                  <a:srgbClr val="8C5F12"/>
                </a:solidFill>
                <a:latin typeface="Calibri" pitchFamily="34" charset="0"/>
                <a:ea typeface="Calibri" pitchFamily="34" charset="-122"/>
                <a:cs typeface="Calibri" pitchFamily="34" charset="-120"/>
              </a:rPr>
              <a:t>5</a:t>
            </a:r>
            <a:endParaRPr lang="en-US" sz="1100" dirty="0"/>
          </a:p>
        </p:txBody>
      </p:sp>
      <p:sp>
        <p:nvSpPr>
          <p:cNvPr id="28" name="Text 26"/>
          <p:cNvSpPr/>
          <p:nvPr/>
        </p:nvSpPr>
        <p:spPr>
          <a:xfrm>
            <a:off x="4626864" y="4983480"/>
            <a:ext cx="2935224" cy="365760"/>
          </a:xfrm>
          <a:prstGeom prst="rect">
            <a:avLst/>
          </a:prstGeom>
          <a:noFill/>
          <a:ln/>
        </p:spPr>
        <p:txBody>
          <a:bodyPr wrap="square" lIns="0" tIns="0" rIns="0" bIns="0" rtlCol="0" anchor="ctr"/>
          <a:lstStyle/>
          <a:p>
            <a:pPr marL="0" indent="0">
              <a:buNone/>
            </a:pPr>
            <a:r>
              <a:rPr lang="en-US" sz="1500" b="1" dirty="0">
                <a:solidFill>
                  <a:srgbClr val="142335"/>
                </a:solidFill>
                <a:latin typeface="Cambria" pitchFamily="34" charset="0"/>
                <a:ea typeface="Cambria" pitchFamily="34" charset="-122"/>
                <a:cs typeface="Cambria" pitchFamily="34" charset="-120"/>
              </a:rPr>
              <a:t>Card intelligence</a:t>
            </a:r>
            <a:endParaRPr lang="en-US" sz="1500" dirty="0"/>
          </a:p>
        </p:txBody>
      </p:sp>
      <p:sp>
        <p:nvSpPr>
          <p:cNvPr id="29" name="Text 27"/>
          <p:cNvSpPr/>
          <p:nvPr/>
        </p:nvSpPr>
        <p:spPr>
          <a:xfrm>
            <a:off x="4626864" y="5330952"/>
            <a:ext cx="2935224" cy="54864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Catalogue, comparison, roast and switch across every card we track.</a:t>
            </a:r>
            <a:endParaRPr lang="en-US" sz="1150" dirty="0"/>
          </a:p>
        </p:txBody>
      </p:sp>
      <p:sp>
        <p:nvSpPr>
          <p:cNvPr id="30" name="Shape 28"/>
          <p:cNvSpPr/>
          <p:nvPr/>
        </p:nvSpPr>
        <p:spPr>
          <a:xfrm>
            <a:off x="8028432" y="4270248"/>
            <a:ext cx="3520440" cy="1691640"/>
          </a:xfrm>
          <a:prstGeom prst="roundRect">
            <a:avLst>
              <a:gd name="adj" fmla="val 5405"/>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31" name="Shape 29"/>
          <p:cNvSpPr/>
          <p:nvPr/>
        </p:nvSpPr>
        <p:spPr>
          <a:xfrm>
            <a:off x="8321040" y="4562856"/>
            <a:ext cx="310896" cy="310896"/>
          </a:xfrm>
          <a:prstGeom prst="ellipse">
            <a:avLst/>
          </a:prstGeom>
          <a:solidFill>
            <a:srgbClr val="F1ECE4"/>
          </a:solidFill>
          <a:ln w="6350">
            <a:solidFill>
              <a:srgbClr val="E7E0D4"/>
            </a:solidFill>
            <a:prstDash val="solid"/>
          </a:ln>
        </p:spPr>
      </p:sp>
      <p:sp>
        <p:nvSpPr>
          <p:cNvPr id="32" name="Text 30"/>
          <p:cNvSpPr/>
          <p:nvPr/>
        </p:nvSpPr>
        <p:spPr>
          <a:xfrm>
            <a:off x="8321040" y="4562856"/>
            <a:ext cx="310896" cy="310896"/>
          </a:xfrm>
          <a:prstGeom prst="rect">
            <a:avLst/>
          </a:prstGeom>
          <a:noFill/>
          <a:ln/>
        </p:spPr>
        <p:txBody>
          <a:bodyPr wrap="square" lIns="0" tIns="0" rIns="0" bIns="0" rtlCol="0" anchor="ctr"/>
          <a:lstStyle/>
          <a:p>
            <a:pPr marL="0" indent="0" algn="ctr">
              <a:buNone/>
            </a:pPr>
            <a:r>
              <a:rPr lang="en-US" sz="1100" b="1" dirty="0">
                <a:solidFill>
                  <a:srgbClr val="8C5F12"/>
                </a:solidFill>
                <a:latin typeface="Calibri" pitchFamily="34" charset="0"/>
                <a:ea typeface="Calibri" pitchFamily="34" charset="-122"/>
                <a:cs typeface="Calibri" pitchFamily="34" charset="-120"/>
              </a:rPr>
              <a:t>6</a:t>
            </a:r>
            <a:endParaRPr lang="en-US" sz="1100" dirty="0"/>
          </a:p>
        </p:txBody>
      </p:sp>
      <p:sp>
        <p:nvSpPr>
          <p:cNvPr id="33" name="Text 31"/>
          <p:cNvSpPr/>
          <p:nvPr/>
        </p:nvSpPr>
        <p:spPr>
          <a:xfrm>
            <a:off x="8321040" y="4983480"/>
            <a:ext cx="2935224" cy="365760"/>
          </a:xfrm>
          <a:prstGeom prst="rect">
            <a:avLst/>
          </a:prstGeom>
          <a:noFill/>
          <a:ln/>
        </p:spPr>
        <p:txBody>
          <a:bodyPr wrap="square" lIns="0" tIns="0" rIns="0" bIns="0" rtlCol="0" anchor="ctr"/>
          <a:lstStyle/>
          <a:p>
            <a:pPr marL="0" indent="0">
              <a:buNone/>
            </a:pPr>
            <a:r>
              <a:rPr lang="en-US" sz="1500" b="1" dirty="0">
                <a:solidFill>
                  <a:srgbClr val="142335"/>
                </a:solidFill>
                <a:latin typeface="Cambria" pitchFamily="34" charset="0"/>
                <a:ea typeface="Cambria" pitchFamily="34" charset="-122"/>
                <a:cs typeface="Cambria" pitchFamily="34" charset="-120"/>
              </a:rPr>
              <a:t>Devaluation watch</a:t>
            </a:r>
            <a:endParaRPr lang="en-US" sz="1500" dirty="0"/>
          </a:p>
        </p:txBody>
      </p:sp>
      <p:sp>
        <p:nvSpPr>
          <p:cNvPr id="34" name="Text 32"/>
          <p:cNvSpPr/>
          <p:nvPr/>
        </p:nvSpPr>
        <p:spPr>
          <a:xfrm>
            <a:off x="8321040" y="5330952"/>
            <a:ext cx="2935224" cy="54864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Programme changes caught from issuer pages and community signal, not rumour.</a:t>
            </a:r>
            <a:endParaRPr lang="en-US" sz="1150" dirty="0"/>
          </a:p>
        </p:txBody>
      </p:sp>
      <p:sp>
        <p:nvSpPr>
          <p:cNvPr id="35" name="Text 33"/>
          <p:cNvSpPr/>
          <p:nvPr/>
        </p:nvSpPr>
        <p:spPr>
          <a:xfrm>
            <a:off x="640080" y="6327648"/>
            <a:ext cx="7680960" cy="274320"/>
          </a:xfrm>
          <a:prstGeom prst="rect">
            <a:avLst/>
          </a:prstGeom>
          <a:noFill/>
          <a:ln/>
        </p:spPr>
        <p:txBody>
          <a:bodyPr wrap="square" lIns="0" tIns="0" rIns="0" bIns="0" rtlCol="0" anchor="ctr"/>
          <a:lstStyle/>
          <a:p>
            <a:pPr marL="0" indent="0">
              <a:buNone/>
            </a:pPr>
            <a:r>
              <a:rPr lang="en-US" sz="850" dirty="0">
                <a:solidFill>
                  <a:srgbClr val="6E7890"/>
                </a:solidFill>
                <a:latin typeface="Calibri" pitchFamily="34" charset="0"/>
                <a:ea typeface="Calibri" pitchFamily="34" charset="-122"/>
                <a:cs typeface="Calibri" pitchFamily="34" charset="-120"/>
              </a:rPr>
              <a:t>All six run in production today at creditiq.app</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640080" y="237744"/>
            <a:ext cx="10881360" cy="274320"/>
          </a:xfrm>
          <a:prstGeom prst="rect">
            <a:avLst/>
          </a:prstGeom>
          <a:noFill/>
          <a:ln/>
        </p:spPr>
        <p:txBody>
          <a:bodyPr wrap="square" lIns="0" tIns="0" rIns="0" bIns="0" rtlCol="0" anchor="b"/>
          <a:lstStyle/>
          <a:p>
            <a:pPr marL="0" indent="0">
              <a:buNone/>
            </a:pPr>
            <a:r>
              <a:rPr lang="en-US" sz="1100" b="1" kern="0" spc="200" dirty="0">
                <a:solidFill>
                  <a:srgbClr val="8C5F12"/>
                </a:solidFill>
                <a:latin typeface="Calibri" pitchFamily="34" charset="0"/>
                <a:ea typeface="Calibri" pitchFamily="34" charset="-122"/>
                <a:cs typeface="Calibri" pitchFamily="34" charset="-120"/>
              </a:rPr>
              <a:t>MOAT ONE · PROVENANCE</a:t>
            </a:r>
            <a:endParaRPr lang="en-US" sz="1100" dirty="0"/>
          </a:p>
        </p:txBody>
      </p:sp>
      <p:sp>
        <p:nvSpPr>
          <p:cNvPr id="3" name="Text 1"/>
          <p:cNvSpPr/>
          <p:nvPr/>
        </p:nvSpPr>
        <p:spPr>
          <a:xfrm>
            <a:off x="640080" y="566928"/>
            <a:ext cx="10881360" cy="777240"/>
          </a:xfrm>
          <a:prstGeom prst="rect">
            <a:avLst/>
          </a:prstGeom>
          <a:noFill/>
          <a:ln/>
        </p:spPr>
        <p:txBody>
          <a:bodyPr wrap="square" lIns="0" tIns="0" rIns="0" bIns="0" rtlCol="0" anchor="t"/>
          <a:lstStyle/>
          <a:p>
            <a:pPr marL="0" indent="0">
              <a:buNone/>
            </a:pPr>
            <a:r>
              <a:rPr lang="en-US" sz="3400" b="1" dirty="0">
                <a:solidFill>
                  <a:srgbClr val="142335"/>
                </a:solidFill>
                <a:latin typeface="Cambria" pitchFamily="34" charset="0"/>
                <a:ea typeface="Cambria" pitchFamily="34" charset="-122"/>
                <a:cs typeface="Cambria" pitchFamily="34" charset="-120"/>
              </a:rPr>
              <a:t>We never guess your money</a:t>
            </a:r>
            <a:endParaRPr lang="en-US" sz="3400" dirty="0"/>
          </a:p>
        </p:txBody>
      </p:sp>
      <p:sp>
        <p:nvSpPr>
          <p:cNvPr id="4" name="Text 2"/>
          <p:cNvSpPr/>
          <p:nvPr/>
        </p:nvSpPr>
        <p:spPr>
          <a:xfrm>
            <a:off x="640080" y="1371600"/>
            <a:ext cx="10058400" cy="457200"/>
          </a:xfrm>
          <a:prstGeom prst="rect">
            <a:avLst/>
          </a:prstGeom>
          <a:noFill/>
          <a:ln/>
        </p:spPr>
        <p:txBody>
          <a:bodyPr wrap="square" lIns="0" tIns="0" rIns="0" bIns="0" rtlCol="0" anchor="ctr"/>
          <a:lstStyle/>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Every number in the wallet carries where it came from. A figure read from a statement is verified. A figure</a:t>
            </a:r>
            <a:endParaRPr lang="en-US" sz="1500" dirty="0"/>
          </a:p>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typed by a person is self-entered. The two are never blended into one comforting total.</a:t>
            </a:r>
            <a:endParaRPr lang="en-US" sz="1500" dirty="0"/>
          </a:p>
        </p:txBody>
      </p:sp>
      <p:sp>
        <p:nvSpPr>
          <p:cNvPr id="5" name="Shape 3"/>
          <p:cNvSpPr/>
          <p:nvPr/>
        </p:nvSpPr>
        <p:spPr>
          <a:xfrm>
            <a:off x="640080" y="2468880"/>
            <a:ext cx="5394960" cy="2743200"/>
          </a:xfrm>
          <a:prstGeom prst="roundRect">
            <a:avLst>
              <a:gd name="adj" fmla="val 3333"/>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6" name="Shape 4"/>
          <p:cNvSpPr/>
          <p:nvPr/>
        </p:nvSpPr>
        <p:spPr>
          <a:xfrm>
            <a:off x="1005840" y="2788920"/>
            <a:ext cx="256032" cy="256032"/>
          </a:xfrm>
          <a:prstGeom prst="ellipse">
            <a:avLst/>
          </a:prstGeom>
          <a:solidFill>
            <a:srgbClr val="3E8E63"/>
          </a:solidFill>
          <a:ln w="6350">
            <a:solidFill>
              <a:srgbClr val="3E8E63"/>
            </a:solidFill>
            <a:prstDash val="solid"/>
          </a:ln>
        </p:spPr>
      </p:sp>
      <p:sp>
        <p:nvSpPr>
          <p:cNvPr id="7" name="Text 5"/>
          <p:cNvSpPr/>
          <p:nvPr/>
        </p:nvSpPr>
        <p:spPr>
          <a:xfrm>
            <a:off x="1371600" y="2724912"/>
            <a:ext cx="2743200" cy="384048"/>
          </a:xfrm>
          <a:prstGeom prst="rect">
            <a:avLst/>
          </a:prstGeom>
          <a:noFill/>
          <a:ln/>
        </p:spPr>
        <p:txBody>
          <a:bodyPr wrap="square" lIns="0" tIns="0" rIns="0" bIns="0" rtlCol="0" anchor="ctr"/>
          <a:lstStyle/>
          <a:p>
            <a:pPr marL="0" indent="0">
              <a:buNone/>
            </a:pPr>
            <a:r>
              <a:rPr lang="en-US" sz="1800" b="1" dirty="0">
                <a:solidFill>
                  <a:srgbClr val="142335"/>
                </a:solidFill>
                <a:latin typeface="Cambria" pitchFamily="34" charset="0"/>
                <a:ea typeface="Cambria" pitchFamily="34" charset="-122"/>
                <a:cs typeface="Cambria" pitchFamily="34" charset="-120"/>
              </a:rPr>
              <a:t>Verified</a:t>
            </a:r>
            <a:endParaRPr lang="en-US" sz="1800" dirty="0"/>
          </a:p>
        </p:txBody>
      </p:sp>
      <p:sp>
        <p:nvSpPr>
          <p:cNvPr id="8" name="Text 6"/>
          <p:cNvSpPr/>
          <p:nvPr/>
        </p:nvSpPr>
        <p:spPr>
          <a:xfrm>
            <a:off x="1005840" y="3200400"/>
            <a:ext cx="4663440" cy="777240"/>
          </a:xfrm>
          <a:prstGeom prst="rect">
            <a:avLst/>
          </a:prstGeom>
          <a:noFill/>
          <a:ln/>
        </p:spPr>
        <p:txBody>
          <a:bodyPr wrap="square" lIns="0" tIns="0" rIns="0" bIns="0" rtlCol="0" anchor="ctr"/>
          <a:lstStyle/>
          <a:p>
            <a:pPr marL="0" indent="0">
              <a:lnSpc>
                <a:spcPts val="1700"/>
              </a:lnSpc>
              <a:buNone/>
            </a:pPr>
            <a:r>
              <a:rPr lang="en-US" sz="1250" dirty="0">
                <a:solidFill>
                  <a:srgbClr val="44506A"/>
                </a:solidFill>
                <a:latin typeface="Calibri" pitchFamily="34" charset="0"/>
                <a:ea typeface="Calibri" pitchFamily="34" charset="-122"/>
                <a:cs typeface="Calibri" pitchFamily="34" charset="-120"/>
              </a:rPr>
              <a:t>Read directly from the statement the bank issued, carrying the statement date and the expiry the bank printed.</a:t>
            </a:r>
            <a:endParaRPr lang="en-US" sz="1250" dirty="0"/>
          </a:p>
        </p:txBody>
      </p:sp>
      <p:sp>
        <p:nvSpPr>
          <p:cNvPr id="9" name="Text 7"/>
          <p:cNvSpPr/>
          <p:nvPr/>
        </p:nvSpPr>
        <p:spPr>
          <a:xfrm>
            <a:off x="1005840" y="4069080"/>
            <a:ext cx="4663440" cy="914400"/>
          </a:xfrm>
          <a:prstGeom prst="rect">
            <a:avLst/>
          </a:prstGeom>
          <a:noFill/>
          <a:ln/>
        </p:spPr>
        <p:txBody>
          <a:bodyPr wrap="square" lIns="0" tIns="0" rIns="0" bIns="0" rtlCol="0" anchor="ctr"/>
          <a:lstStyle/>
          <a:p>
            <a:pPr marL="0" indent="0">
              <a:lnSpc>
                <a:spcPts val="1700"/>
              </a:lnSpc>
              <a:buNone/>
            </a:pPr>
            <a:r>
              <a:rPr lang="en-US" sz="1250" dirty="0">
                <a:solidFill>
                  <a:srgbClr val="142335"/>
                </a:solidFill>
                <a:latin typeface="Calibri" pitchFamily="34" charset="0"/>
                <a:ea typeface="Calibri" pitchFamily="34" charset="-122"/>
                <a:cs typeface="Calibri" pitchFamily="34" charset="-120"/>
              </a:rPr>
              <a:t>Edit that number by hand and the badge drops to self-entered permanently. Only a fresh statement earns it back.</a:t>
            </a:r>
            <a:endParaRPr lang="en-US" sz="1250" dirty="0"/>
          </a:p>
        </p:txBody>
      </p:sp>
      <p:sp>
        <p:nvSpPr>
          <p:cNvPr id="10" name="Shape 8"/>
          <p:cNvSpPr/>
          <p:nvPr/>
        </p:nvSpPr>
        <p:spPr>
          <a:xfrm>
            <a:off x="6172200" y="2468880"/>
            <a:ext cx="5376672" cy="2743200"/>
          </a:xfrm>
          <a:prstGeom prst="roundRect">
            <a:avLst>
              <a:gd name="adj" fmla="val 3333"/>
            </a:avLst>
          </a:prstGeom>
          <a:solidFill>
            <a:srgbClr val="F1ECE4"/>
          </a:solidFill>
          <a:ln w="9525">
            <a:solidFill>
              <a:srgbClr val="E7E0D4"/>
            </a:solidFill>
            <a:prstDash val="solid"/>
          </a:ln>
          <a:effectLst>
            <a:outerShdw blurRad="101600" dist="12700" dir="5400000" algn="bl" rotWithShape="0">
              <a:srgbClr val="B9AE9C">
                <a:alpha val="18000"/>
              </a:srgbClr>
            </a:outerShdw>
          </a:effectLst>
        </p:spPr>
      </p:sp>
      <p:sp>
        <p:nvSpPr>
          <p:cNvPr id="11" name="Shape 9"/>
          <p:cNvSpPr/>
          <p:nvPr/>
        </p:nvSpPr>
        <p:spPr>
          <a:xfrm>
            <a:off x="6537960" y="2788920"/>
            <a:ext cx="256032" cy="256032"/>
          </a:xfrm>
          <a:prstGeom prst="ellipse">
            <a:avLst/>
          </a:prstGeom>
          <a:solidFill>
            <a:srgbClr val="6E7890"/>
          </a:solidFill>
          <a:ln w="6350">
            <a:solidFill>
              <a:srgbClr val="6E7890"/>
            </a:solidFill>
            <a:prstDash val="solid"/>
          </a:ln>
        </p:spPr>
      </p:sp>
      <p:sp>
        <p:nvSpPr>
          <p:cNvPr id="12" name="Text 10"/>
          <p:cNvSpPr/>
          <p:nvPr/>
        </p:nvSpPr>
        <p:spPr>
          <a:xfrm>
            <a:off x="6903720" y="2724912"/>
            <a:ext cx="2926080" cy="384048"/>
          </a:xfrm>
          <a:prstGeom prst="rect">
            <a:avLst/>
          </a:prstGeom>
          <a:noFill/>
          <a:ln/>
        </p:spPr>
        <p:txBody>
          <a:bodyPr wrap="square" lIns="0" tIns="0" rIns="0" bIns="0" rtlCol="0" anchor="ctr"/>
          <a:lstStyle/>
          <a:p>
            <a:pPr marL="0" indent="0">
              <a:buNone/>
            </a:pPr>
            <a:r>
              <a:rPr lang="en-US" sz="1800" b="1" dirty="0">
                <a:solidFill>
                  <a:srgbClr val="142335"/>
                </a:solidFill>
                <a:latin typeface="Cambria" pitchFamily="34" charset="0"/>
                <a:ea typeface="Cambria" pitchFamily="34" charset="-122"/>
                <a:cs typeface="Cambria" pitchFamily="34" charset="-120"/>
              </a:rPr>
              <a:t>Self-entered</a:t>
            </a:r>
            <a:endParaRPr lang="en-US" sz="1800" dirty="0"/>
          </a:p>
        </p:txBody>
      </p:sp>
      <p:sp>
        <p:nvSpPr>
          <p:cNvPr id="13" name="Text 11"/>
          <p:cNvSpPr/>
          <p:nvPr/>
        </p:nvSpPr>
        <p:spPr>
          <a:xfrm>
            <a:off x="6537960" y="3200400"/>
            <a:ext cx="4663440" cy="777240"/>
          </a:xfrm>
          <a:prstGeom prst="rect">
            <a:avLst/>
          </a:prstGeom>
          <a:noFill/>
          <a:ln/>
        </p:spPr>
        <p:txBody>
          <a:bodyPr wrap="square" lIns="0" tIns="0" rIns="0" bIns="0" rtlCol="0" anchor="ctr"/>
          <a:lstStyle/>
          <a:p>
            <a:pPr marL="0" indent="0">
              <a:lnSpc>
                <a:spcPts val="1700"/>
              </a:lnSpc>
              <a:buNone/>
            </a:pPr>
            <a:r>
              <a:rPr lang="en-US" sz="1250" dirty="0">
                <a:solidFill>
                  <a:srgbClr val="44506A"/>
                </a:solidFill>
                <a:latin typeface="Calibri" pitchFamily="34" charset="0"/>
                <a:ea typeface="Calibri" pitchFamily="34" charset="-122"/>
                <a:cs typeface="Calibri" pitchFamily="34" charset="-120"/>
              </a:rPr>
              <a:t>Anything a person typed. Shown, counted and labelled — never presented as something we established.</a:t>
            </a:r>
            <a:endParaRPr lang="en-US" sz="1250" dirty="0"/>
          </a:p>
        </p:txBody>
      </p:sp>
      <p:sp>
        <p:nvSpPr>
          <p:cNvPr id="14" name="Text 12"/>
          <p:cNvSpPr/>
          <p:nvPr/>
        </p:nvSpPr>
        <p:spPr>
          <a:xfrm>
            <a:off x="6537960" y="4069080"/>
            <a:ext cx="4663440" cy="914400"/>
          </a:xfrm>
          <a:prstGeom prst="rect">
            <a:avLst/>
          </a:prstGeom>
          <a:noFill/>
          <a:ln/>
        </p:spPr>
        <p:txBody>
          <a:bodyPr wrap="square" lIns="0" tIns="0" rIns="0" bIns="0" rtlCol="0" anchor="ctr"/>
          <a:lstStyle/>
          <a:p>
            <a:pPr marL="0" indent="0">
              <a:lnSpc>
                <a:spcPts val="1700"/>
              </a:lnSpc>
              <a:buNone/>
            </a:pPr>
            <a:r>
              <a:rPr lang="en-US" sz="1250" dirty="0">
                <a:solidFill>
                  <a:srgbClr val="142335"/>
                </a:solidFill>
                <a:latin typeface="Calibri" pitchFamily="34" charset="0"/>
                <a:ea typeface="Calibri" pitchFamily="34" charset="-122"/>
                <a:cs typeface="Calibri" pitchFamily="34" charset="-120"/>
              </a:rPr>
              <a:t>This is the reason to trust the total, and it is enforced in the data model rather than in the copy.</a:t>
            </a:r>
            <a:endParaRPr lang="en-US" sz="1250" dirty="0"/>
          </a:p>
        </p:txBody>
      </p:sp>
      <p:sp>
        <p:nvSpPr>
          <p:cNvPr id="15" name="Text 13"/>
          <p:cNvSpPr/>
          <p:nvPr/>
        </p:nvSpPr>
        <p:spPr>
          <a:xfrm>
            <a:off x="640080" y="6327648"/>
            <a:ext cx="7680960" cy="274320"/>
          </a:xfrm>
          <a:prstGeom prst="rect">
            <a:avLst/>
          </a:prstGeom>
          <a:noFill/>
          <a:ln/>
        </p:spPr>
        <p:txBody>
          <a:bodyPr wrap="square" lIns="0" tIns="0" rIns="0" bIns="0" rtlCol="0" anchor="ctr"/>
          <a:lstStyle/>
          <a:p>
            <a:pPr marL="0" indent="0">
              <a:buNone/>
            </a:pPr>
            <a:r>
              <a:rPr lang="en-US" sz="850" dirty="0">
                <a:solidFill>
                  <a:srgbClr val="6E7890"/>
                </a:solidFill>
                <a:latin typeface="Calibri" pitchFamily="34" charset="0"/>
                <a:ea typeface="Calibri" pitchFamily="34" charset="-122"/>
                <a:cs typeface="Calibri" pitchFamily="34" charset="-120"/>
              </a:rPr>
              <a:t>The demotion flag is one-way by design — a typed number can never wear the badge that means a bank confirmed it.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640080" y="237744"/>
            <a:ext cx="10881360" cy="274320"/>
          </a:xfrm>
          <a:prstGeom prst="rect">
            <a:avLst/>
          </a:prstGeom>
          <a:noFill/>
          <a:ln/>
        </p:spPr>
        <p:txBody>
          <a:bodyPr wrap="square" lIns="0" tIns="0" rIns="0" bIns="0" rtlCol="0" anchor="b"/>
          <a:lstStyle/>
          <a:p>
            <a:pPr marL="0" indent="0">
              <a:buNone/>
            </a:pPr>
            <a:r>
              <a:rPr lang="en-US" sz="1100" b="1" kern="0" spc="200" dirty="0">
                <a:solidFill>
                  <a:srgbClr val="8C5F12"/>
                </a:solidFill>
                <a:latin typeface="Calibri" pitchFamily="34" charset="0"/>
                <a:ea typeface="Calibri" pitchFamily="34" charset="-122"/>
                <a:cs typeface="Calibri" pitchFamily="34" charset="-120"/>
              </a:rPr>
              <a:t>MOAT TWO · COMMUNITY INTELLIGENCE</a:t>
            </a:r>
            <a:endParaRPr lang="en-US" sz="1100" dirty="0"/>
          </a:p>
        </p:txBody>
      </p:sp>
      <p:sp>
        <p:nvSpPr>
          <p:cNvPr id="3" name="Text 1"/>
          <p:cNvSpPr/>
          <p:nvPr/>
        </p:nvSpPr>
        <p:spPr>
          <a:xfrm>
            <a:off x="640080" y="566928"/>
            <a:ext cx="10881360" cy="777240"/>
          </a:xfrm>
          <a:prstGeom prst="rect">
            <a:avLst/>
          </a:prstGeom>
          <a:noFill/>
          <a:ln/>
        </p:spPr>
        <p:txBody>
          <a:bodyPr wrap="square" lIns="0" tIns="0" rIns="0" bIns="0" rtlCol="0" anchor="t"/>
          <a:lstStyle/>
          <a:p>
            <a:pPr marL="0" indent="0">
              <a:buNone/>
            </a:pPr>
            <a:r>
              <a:rPr lang="en-US" sz="3400" b="1" dirty="0">
                <a:solidFill>
                  <a:srgbClr val="142335"/>
                </a:solidFill>
                <a:latin typeface="Cambria" pitchFamily="34" charset="0"/>
                <a:ea typeface="Cambria" pitchFamily="34" charset="-122"/>
                <a:cs typeface="Cambria" pitchFamily="34" charset="-120"/>
              </a:rPr>
              <a:t>And an intelligence pipeline that runs every night</a:t>
            </a:r>
            <a:endParaRPr lang="en-US" sz="3400" dirty="0"/>
          </a:p>
        </p:txBody>
      </p:sp>
      <p:sp>
        <p:nvSpPr>
          <p:cNvPr id="4" name="Text 2"/>
          <p:cNvSpPr/>
          <p:nvPr/>
        </p:nvSpPr>
        <p:spPr>
          <a:xfrm>
            <a:off x="640080" y="1371600"/>
            <a:ext cx="10058400" cy="457200"/>
          </a:xfrm>
          <a:prstGeom prst="rect">
            <a:avLst/>
          </a:prstGeom>
          <a:noFill/>
          <a:ln/>
        </p:spPr>
        <p:txBody>
          <a:bodyPr wrap="square" lIns="0" tIns="0" rIns="0" bIns="0" rtlCol="0" anchor="ctr"/>
          <a:lstStyle/>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Devaluations and redemption sweet spots surface in creator communities long before they reach a</a:t>
            </a:r>
            <a:endParaRPr lang="en-US" sz="1500" dirty="0"/>
          </a:p>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comparison site. We read those communities, classify them, and put the result behind every answer.</a:t>
            </a:r>
            <a:endParaRPr lang="en-US" sz="1500" dirty="0"/>
          </a:p>
        </p:txBody>
      </p:sp>
      <p:sp>
        <p:nvSpPr>
          <p:cNvPr id="5" name="Shape 3"/>
          <p:cNvSpPr/>
          <p:nvPr/>
        </p:nvSpPr>
        <p:spPr>
          <a:xfrm>
            <a:off x="640080" y="2423160"/>
            <a:ext cx="2679192" cy="1828800"/>
          </a:xfrm>
          <a:prstGeom prst="roundRect">
            <a:avLst>
              <a:gd name="adj" fmla="val 5000"/>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6" name="Shape 4"/>
          <p:cNvSpPr/>
          <p:nvPr/>
        </p:nvSpPr>
        <p:spPr>
          <a:xfrm>
            <a:off x="932688" y="2679192"/>
            <a:ext cx="384048" cy="384048"/>
          </a:xfrm>
          <a:prstGeom prst="ellipse">
            <a:avLst/>
          </a:prstGeom>
          <a:solidFill>
            <a:srgbClr val="142335"/>
          </a:solidFill>
          <a:ln w="6350">
            <a:solidFill>
              <a:srgbClr val="142335"/>
            </a:solidFill>
            <a:prstDash val="solid"/>
          </a:ln>
        </p:spPr>
      </p:sp>
      <p:sp>
        <p:nvSpPr>
          <p:cNvPr id="7" name="Text 5"/>
          <p:cNvSpPr/>
          <p:nvPr/>
        </p:nvSpPr>
        <p:spPr>
          <a:xfrm>
            <a:off x="932688" y="267919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32688" y="3154680"/>
            <a:ext cx="2093976" cy="365760"/>
          </a:xfrm>
          <a:prstGeom prst="rect">
            <a:avLst/>
          </a:prstGeom>
          <a:noFill/>
          <a:ln/>
        </p:spPr>
        <p:txBody>
          <a:bodyPr wrap="square" lIns="0" tIns="0" rIns="0" bIns="0" rtlCol="0" anchor="ctr"/>
          <a:lstStyle/>
          <a:p>
            <a:pPr marL="0" indent="0">
              <a:buNone/>
            </a:pPr>
            <a:r>
              <a:rPr lang="en-US" sz="1600" b="1" dirty="0">
                <a:solidFill>
                  <a:srgbClr val="142335"/>
                </a:solidFill>
                <a:latin typeface="Cambria" pitchFamily="34" charset="0"/>
                <a:ea typeface="Cambria" pitchFamily="34" charset="-122"/>
                <a:cs typeface="Cambria" pitchFamily="34" charset="-120"/>
              </a:rPr>
              <a:t>Sources</a:t>
            </a:r>
            <a:endParaRPr lang="en-US" sz="1600" dirty="0"/>
          </a:p>
        </p:txBody>
      </p:sp>
      <p:sp>
        <p:nvSpPr>
          <p:cNvPr id="9" name="Text 7"/>
          <p:cNvSpPr/>
          <p:nvPr/>
        </p:nvSpPr>
        <p:spPr>
          <a:xfrm>
            <a:off x="932688" y="3520440"/>
            <a:ext cx="2093976" cy="658368"/>
          </a:xfrm>
          <a:prstGeom prst="rect">
            <a:avLst/>
          </a:prstGeom>
          <a:noFill/>
          <a:ln/>
        </p:spPr>
        <p:txBody>
          <a:bodyPr wrap="square" lIns="0" tIns="0" rIns="0" bIns="0" rtlCol="0" anchor="ctr"/>
          <a:lstStyle/>
          <a:p>
            <a:pPr marL="0" indent="0">
              <a:lnSpc>
                <a:spcPts val="1400"/>
              </a:lnSpc>
              <a:buNone/>
            </a:pPr>
            <a:r>
              <a:rPr lang="en-US" sz="1100" dirty="0">
                <a:solidFill>
                  <a:srgbClr val="44506A"/>
                </a:solidFill>
                <a:latin typeface="Calibri" pitchFamily="34" charset="0"/>
                <a:ea typeface="Calibri" pitchFamily="34" charset="-122"/>
                <a:cs typeface="Calibri" pitchFamily="34" charset="-120"/>
              </a:rPr>
              <a:t>Instagram, YouTube and Reddit · 5.5M+ combined reach</a:t>
            </a:r>
            <a:endParaRPr lang="en-US" sz="1100" dirty="0"/>
          </a:p>
        </p:txBody>
      </p:sp>
      <p:sp>
        <p:nvSpPr>
          <p:cNvPr id="10" name="Shape 8"/>
          <p:cNvSpPr/>
          <p:nvPr/>
        </p:nvSpPr>
        <p:spPr>
          <a:xfrm>
            <a:off x="3483864" y="2423160"/>
            <a:ext cx="2679192" cy="1828800"/>
          </a:xfrm>
          <a:prstGeom prst="roundRect">
            <a:avLst>
              <a:gd name="adj" fmla="val 5000"/>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1" name="Shape 9"/>
          <p:cNvSpPr/>
          <p:nvPr/>
        </p:nvSpPr>
        <p:spPr>
          <a:xfrm>
            <a:off x="3776472" y="2679192"/>
            <a:ext cx="384048" cy="384048"/>
          </a:xfrm>
          <a:prstGeom prst="ellipse">
            <a:avLst/>
          </a:prstGeom>
          <a:solidFill>
            <a:srgbClr val="142335"/>
          </a:solidFill>
          <a:ln w="6350">
            <a:solidFill>
              <a:srgbClr val="142335"/>
            </a:solidFill>
            <a:prstDash val="solid"/>
          </a:ln>
        </p:spPr>
      </p:sp>
      <p:sp>
        <p:nvSpPr>
          <p:cNvPr id="12" name="Text 10"/>
          <p:cNvSpPr/>
          <p:nvPr/>
        </p:nvSpPr>
        <p:spPr>
          <a:xfrm>
            <a:off x="3776472" y="267919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3776472" y="3154680"/>
            <a:ext cx="2093976" cy="365760"/>
          </a:xfrm>
          <a:prstGeom prst="rect">
            <a:avLst/>
          </a:prstGeom>
          <a:noFill/>
          <a:ln/>
        </p:spPr>
        <p:txBody>
          <a:bodyPr wrap="square" lIns="0" tIns="0" rIns="0" bIns="0" rtlCol="0" anchor="ctr"/>
          <a:lstStyle/>
          <a:p>
            <a:pPr marL="0" indent="0">
              <a:buNone/>
            </a:pPr>
            <a:r>
              <a:rPr lang="en-US" sz="1600" b="1" dirty="0">
                <a:solidFill>
                  <a:srgbClr val="142335"/>
                </a:solidFill>
                <a:latin typeface="Cambria" pitchFamily="34" charset="0"/>
                <a:ea typeface="Cambria" pitchFamily="34" charset="-122"/>
                <a:cs typeface="Cambria" pitchFamily="34" charset="-120"/>
              </a:rPr>
              <a:t>Classify</a:t>
            </a:r>
            <a:endParaRPr lang="en-US" sz="1600" dirty="0"/>
          </a:p>
        </p:txBody>
      </p:sp>
      <p:sp>
        <p:nvSpPr>
          <p:cNvPr id="14" name="Text 12"/>
          <p:cNvSpPr/>
          <p:nvPr/>
        </p:nvSpPr>
        <p:spPr>
          <a:xfrm>
            <a:off x="3776472" y="3520440"/>
            <a:ext cx="2093976" cy="658368"/>
          </a:xfrm>
          <a:prstGeom prst="rect">
            <a:avLst/>
          </a:prstGeom>
          <a:noFill/>
          <a:ln/>
        </p:spPr>
        <p:txBody>
          <a:bodyPr wrap="square" lIns="0" tIns="0" rIns="0" bIns="0" rtlCol="0" anchor="ctr"/>
          <a:lstStyle/>
          <a:p>
            <a:pPr marL="0" indent="0">
              <a:lnSpc>
                <a:spcPts val="1400"/>
              </a:lnSpc>
              <a:buNone/>
            </a:pPr>
            <a:r>
              <a:rPr lang="en-US" sz="1100" dirty="0">
                <a:solidFill>
                  <a:srgbClr val="44506A"/>
                </a:solidFill>
                <a:latin typeface="Calibri" pitchFamily="34" charset="0"/>
                <a:ea typeface="Calibri" pitchFamily="34" charset="-122"/>
                <a:cs typeface="Calibri" pitchFamily="34" charset="-120"/>
              </a:rPr>
              <a:t>Intent, card mentions, trust score — scored, not scraped raw</a:t>
            </a:r>
            <a:endParaRPr lang="en-US" sz="1100" dirty="0"/>
          </a:p>
        </p:txBody>
      </p:sp>
      <p:sp>
        <p:nvSpPr>
          <p:cNvPr id="15" name="Shape 13"/>
          <p:cNvSpPr/>
          <p:nvPr/>
        </p:nvSpPr>
        <p:spPr>
          <a:xfrm>
            <a:off x="6327648" y="2423160"/>
            <a:ext cx="2679192" cy="1828800"/>
          </a:xfrm>
          <a:prstGeom prst="roundRect">
            <a:avLst>
              <a:gd name="adj" fmla="val 5000"/>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6" name="Shape 14"/>
          <p:cNvSpPr/>
          <p:nvPr/>
        </p:nvSpPr>
        <p:spPr>
          <a:xfrm>
            <a:off x="6620256" y="2679192"/>
            <a:ext cx="384048" cy="384048"/>
          </a:xfrm>
          <a:prstGeom prst="ellipse">
            <a:avLst/>
          </a:prstGeom>
          <a:solidFill>
            <a:srgbClr val="142335"/>
          </a:solidFill>
          <a:ln w="6350">
            <a:solidFill>
              <a:srgbClr val="142335"/>
            </a:solidFill>
            <a:prstDash val="solid"/>
          </a:ln>
        </p:spPr>
      </p:sp>
      <p:sp>
        <p:nvSpPr>
          <p:cNvPr id="17" name="Text 15"/>
          <p:cNvSpPr/>
          <p:nvPr/>
        </p:nvSpPr>
        <p:spPr>
          <a:xfrm>
            <a:off x="6620256" y="267919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6620256" y="3154680"/>
            <a:ext cx="2093976" cy="365760"/>
          </a:xfrm>
          <a:prstGeom prst="rect">
            <a:avLst/>
          </a:prstGeom>
          <a:noFill/>
          <a:ln/>
        </p:spPr>
        <p:txBody>
          <a:bodyPr wrap="square" lIns="0" tIns="0" rIns="0" bIns="0" rtlCol="0" anchor="ctr"/>
          <a:lstStyle/>
          <a:p>
            <a:pPr marL="0" indent="0">
              <a:buNone/>
            </a:pPr>
            <a:r>
              <a:rPr lang="en-US" sz="1600" b="1" dirty="0">
                <a:solidFill>
                  <a:srgbClr val="142335"/>
                </a:solidFill>
                <a:latin typeface="Cambria" pitchFamily="34" charset="0"/>
                <a:ea typeface="Cambria" pitchFamily="34" charset="-122"/>
                <a:cs typeface="Cambria" pitchFamily="34" charset="-120"/>
              </a:rPr>
              <a:t>Embed</a:t>
            </a:r>
            <a:endParaRPr lang="en-US" sz="1600" dirty="0"/>
          </a:p>
        </p:txBody>
      </p:sp>
      <p:sp>
        <p:nvSpPr>
          <p:cNvPr id="19" name="Text 17"/>
          <p:cNvSpPr/>
          <p:nvPr/>
        </p:nvSpPr>
        <p:spPr>
          <a:xfrm>
            <a:off x="6620256" y="3520440"/>
            <a:ext cx="2093976" cy="658368"/>
          </a:xfrm>
          <a:prstGeom prst="rect">
            <a:avLst/>
          </a:prstGeom>
          <a:noFill/>
          <a:ln/>
        </p:spPr>
        <p:txBody>
          <a:bodyPr wrap="square" lIns="0" tIns="0" rIns="0" bIns="0" rtlCol="0" anchor="ctr"/>
          <a:lstStyle/>
          <a:p>
            <a:pPr marL="0" indent="0">
              <a:lnSpc>
                <a:spcPts val="1400"/>
              </a:lnSpc>
              <a:buNone/>
            </a:pPr>
            <a:r>
              <a:rPr lang="en-US" sz="1100" dirty="0">
                <a:solidFill>
                  <a:srgbClr val="44506A"/>
                </a:solidFill>
                <a:latin typeface="Calibri" pitchFamily="34" charset="0"/>
                <a:ea typeface="Calibri" pitchFamily="34" charset="-122"/>
                <a:cs typeface="Calibri" pitchFamily="34" charset="-120"/>
              </a:rPr>
              <a:t>Vector search over the classified corpus</a:t>
            </a:r>
            <a:endParaRPr lang="en-US" sz="1100" dirty="0"/>
          </a:p>
        </p:txBody>
      </p:sp>
      <p:sp>
        <p:nvSpPr>
          <p:cNvPr id="20" name="Shape 18"/>
          <p:cNvSpPr/>
          <p:nvPr/>
        </p:nvSpPr>
        <p:spPr>
          <a:xfrm>
            <a:off x="9171432" y="2423160"/>
            <a:ext cx="2679192" cy="1828800"/>
          </a:xfrm>
          <a:prstGeom prst="roundRect">
            <a:avLst>
              <a:gd name="adj" fmla="val 5000"/>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21" name="Shape 19"/>
          <p:cNvSpPr/>
          <p:nvPr/>
        </p:nvSpPr>
        <p:spPr>
          <a:xfrm>
            <a:off x="9464040" y="2679192"/>
            <a:ext cx="384048" cy="384048"/>
          </a:xfrm>
          <a:prstGeom prst="ellipse">
            <a:avLst/>
          </a:prstGeom>
          <a:solidFill>
            <a:srgbClr val="142335"/>
          </a:solidFill>
          <a:ln w="6350">
            <a:solidFill>
              <a:srgbClr val="142335"/>
            </a:solidFill>
            <a:prstDash val="solid"/>
          </a:ln>
        </p:spPr>
      </p:sp>
      <p:sp>
        <p:nvSpPr>
          <p:cNvPr id="22" name="Text 20"/>
          <p:cNvSpPr/>
          <p:nvPr/>
        </p:nvSpPr>
        <p:spPr>
          <a:xfrm>
            <a:off x="9464040" y="267919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9464040" y="3154680"/>
            <a:ext cx="2093976" cy="365760"/>
          </a:xfrm>
          <a:prstGeom prst="rect">
            <a:avLst/>
          </a:prstGeom>
          <a:noFill/>
          <a:ln/>
        </p:spPr>
        <p:txBody>
          <a:bodyPr wrap="square" lIns="0" tIns="0" rIns="0" bIns="0" rtlCol="0" anchor="ctr"/>
          <a:lstStyle/>
          <a:p>
            <a:pPr marL="0" indent="0">
              <a:buNone/>
            </a:pPr>
            <a:r>
              <a:rPr lang="en-US" sz="1600" b="1" dirty="0">
                <a:solidFill>
                  <a:srgbClr val="142335"/>
                </a:solidFill>
                <a:latin typeface="Cambria" pitchFamily="34" charset="0"/>
                <a:ea typeface="Cambria" pitchFamily="34" charset="-122"/>
                <a:cs typeface="Cambria" pitchFamily="34" charset="-120"/>
              </a:rPr>
              <a:t>Serve</a:t>
            </a:r>
            <a:endParaRPr lang="en-US" sz="1600" dirty="0"/>
          </a:p>
        </p:txBody>
      </p:sp>
      <p:sp>
        <p:nvSpPr>
          <p:cNvPr id="24" name="Text 22"/>
          <p:cNvSpPr/>
          <p:nvPr/>
        </p:nvSpPr>
        <p:spPr>
          <a:xfrm>
            <a:off x="9464040" y="3520440"/>
            <a:ext cx="2093976" cy="658368"/>
          </a:xfrm>
          <a:prstGeom prst="rect">
            <a:avLst/>
          </a:prstGeom>
          <a:noFill/>
          <a:ln/>
        </p:spPr>
        <p:txBody>
          <a:bodyPr wrap="square" lIns="0" tIns="0" rIns="0" bIns="0" rtlCol="0" anchor="ctr"/>
          <a:lstStyle/>
          <a:p>
            <a:pPr marL="0" indent="0">
              <a:lnSpc>
                <a:spcPts val="1400"/>
              </a:lnSpc>
              <a:buNone/>
            </a:pPr>
            <a:r>
              <a:rPr lang="en-US" sz="1100" dirty="0">
                <a:solidFill>
                  <a:srgbClr val="44506A"/>
                </a:solidFill>
                <a:latin typeface="Calibri" pitchFamily="34" charset="0"/>
                <a:ea typeface="Calibri" pitchFamily="34" charset="-122"/>
                <a:cs typeface="Calibri" pitchFamily="34" charset="-120"/>
              </a:rPr>
              <a:t>Community signal on card pages, in CIRA answers, and on the feed</a:t>
            </a:r>
            <a:endParaRPr lang="en-US" sz="1100" dirty="0"/>
          </a:p>
        </p:txBody>
      </p:sp>
      <p:sp>
        <p:nvSpPr>
          <p:cNvPr id="25" name="Shape 23"/>
          <p:cNvSpPr/>
          <p:nvPr/>
        </p:nvSpPr>
        <p:spPr>
          <a:xfrm>
            <a:off x="640080" y="4480560"/>
            <a:ext cx="10908792" cy="1280160"/>
          </a:xfrm>
          <a:prstGeom prst="roundRect">
            <a:avLst>
              <a:gd name="adj" fmla="val 7143"/>
            </a:avLst>
          </a:prstGeom>
          <a:solidFill>
            <a:srgbClr val="F1ECE4"/>
          </a:solidFill>
          <a:ln w="9525">
            <a:solidFill>
              <a:srgbClr val="E7E0D4"/>
            </a:solidFill>
            <a:prstDash val="solid"/>
          </a:ln>
          <a:effectLst>
            <a:outerShdw blurRad="101600" dist="12700" dir="5400000" algn="bl" rotWithShape="0">
              <a:srgbClr val="B9AE9C">
                <a:alpha val="18000"/>
              </a:srgbClr>
            </a:outerShdw>
          </a:effectLst>
        </p:spPr>
      </p:sp>
      <p:sp>
        <p:nvSpPr>
          <p:cNvPr id="26" name="Text 24"/>
          <p:cNvSpPr/>
          <p:nvPr/>
        </p:nvSpPr>
        <p:spPr>
          <a:xfrm>
            <a:off x="960120" y="4617720"/>
            <a:ext cx="5486400" cy="365760"/>
          </a:xfrm>
          <a:prstGeom prst="rect">
            <a:avLst/>
          </a:prstGeom>
          <a:noFill/>
          <a:ln/>
        </p:spPr>
        <p:txBody>
          <a:bodyPr wrap="square" lIns="0" tIns="0" rIns="0" bIns="0" rtlCol="0" anchor="ctr"/>
          <a:lstStyle/>
          <a:p>
            <a:pPr marL="0" indent="0">
              <a:buNone/>
            </a:pPr>
            <a:r>
              <a:rPr lang="en-US" sz="1550" b="1" dirty="0">
                <a:solidFill>
                  <a:srgbClr val="142335"/>
                </a:solidFill>
                <a:latin typeface="Cambria" pitchFamily="34" charset="0"/>
                <a:ea typeface="Cambria" pitchFamily="34" charset="-122"/>
                <a:cs typeface="Cambria" pitchFamily="34" charset="-120"/>
              </a:rPr>
              <a:t>Creator claims are labelled as creator claims</a:t>
            </a:r>
            <a:endParaRPr lang="en-US" sz="1550" dirty="0"/>
          </a:p>
        </p:txBody>
      </p:sp>
      <p:sp>
        <p:nvSpPr>
          <p:cNvPr id="27" name="Text 25"/>
          <p:cNvSpPr/>
          <p:nvPr/>
        </p:nvSpPr>
        <p:spPr>
          <a:xfrm>
            <a:off x="960120" y="4983480"/>
            <a:ext cx="10241280" cy="685800"/>
          </a:xfrm>
          <a:prstGeom prst="rect">
            <a:avLst/>
          </a:prstGeom>
          <a:noFill/>
          <a:ln/>
        </p:spPr>
        <p:txBody>
          <a:bodyPr wrap="square" lIns="0" tIns="0" rIns="0" bIns="0" rtlCol="0" anchor="ctr"/>
          <a:lstStyle/>
          <a:p>
            <a:pPr marL="0" indent="0">
              <a:lnSpc>
                <a:spcPts val="1600"/>
              </a:lnSpc>
              <a:buNone/>
            </a:pPr>
            <a:r>
              <a:rPr lang="en-US" sz="1200" dirty="0">
                <a:solidFill>
                  <a:srgbClr val="44506A"/>
                </a:solidFill>
                <a:latin typeface="Calibri" pitchFamily="34" charset="0"/>
                <a:ea typeface="Calibri" pitchFamily="34" charset="-122"/>
                <a:cs typeface="Calibri" pitchFamily="34" charset="-120"/>
              </a:rPr>
              <a:t>Community intelligence is surfaced with its source and marked as not independently verified. A database fact and a creator's claim are shown differently — the same discipline as the wallet, applied to information instead of money.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640080" y="237744"/>
            <a:ext cx="10881360" cy="274320"/>
          </a:xfrm>
          <a:prstGeom prst="rect">
            <a:avLst/>
          </a:prstGeom>
          <a:noFill/>
          <a:ln/>
        </p:spPr>
        <p:txBody>
          <a:bodyPr wrap="square" lIns="0" tIns="0" rIns="0" bIns="0" rtlCol="0" anchor="b"/>
          <a:lstStyle/>
          <a:p>
            <a:pPr marL="0" indent="0">
              <a:buNone/>
            </a:pPr>
            <a:r>
              <a:rPr lang="en-US" sz="1100" b="1" kern="0" spc="200" dirty="0">
                <a:solidFill>
                  <a:srgbClr val="8C5F12"/>
                </a:solidFill>
                <a:latin typeface="Calibri" pitchFamily="34" charset="0"/>
                <a:ea typeface="Calibri" pitchFamily="34" charset="-122"/>
                <a:cs typeface="Calibri" pitchFamily="34" charset="-120"/>
              </a:rPr>
              <a:t>CREDITIQ FOR BUSINESS</a:t>
            </a:r>
            <a:endParaRPr lang="en-US" sz="1100" dirty="0"/>
          </a:p>
        </p:txBody>
      </p:sp>
      <p:sp>
        <p:nvSpPr>
          <p:cNvPr id="3" name="Text 1"/>
          <p:cNvSpPr/>
          <p:nvPr/>
        </p:nvSpPr>
        <p:spPr>
          <a:xfrm>
            <a:off x="640080" y="566928"/>
            <a:ext cx="10881360" cy="777240"/>
          </a:xfrm>
          <a:prstGeom prst="rect">
            <a:avLst/>
          </a:prstGeom>
          <a:noFill/>
          <a:ln/>
        </p:spPr>
        <p:txBody>
          <a:bodyPr wrap="square" lIns="0" tIns="0" rIns="0" bIns="0" rtlCol="0" anchor="t"/>
          <a:lstStyle/>
          <a:p>
            <a:pPr marL="0" indent="0">
              <a:buNone/>
            </a:pPr>
            <a:r>
              <a:rPr lang="en-US" sz="3400" b="1" dirty="0">
                <a:solidFill>
                  <a:srgbClr val="142335"/>
                </a:solidFill>
                <a:latin typeface="Cambria" pitchFamily="34" charset="0"/>
                <a:ea typeface="Cambria" pitchFamily="34" charset="-122"/>
                <a:cs typeface="Cambria" pitchFamily="34" charset="-120"/>
              </a:rPr>
              <a:t>Business: we show a CFO what last year cost them</a:t>
            </a:r>
            <a:endParaRPr lang="en-US" sz="3400" dirty="0"/>
          </a:p>
        </p:txBody>
      </p:sp>
      <p:sp>
        <p:nvSpPr>
          <p:cNvPr id="4" name="Text 2"/>
          <p:cNvSpPr/>
          <p:nvPr/>
        </p:nvSpPr>
        <p:spPr>
          <a:xfrm>
            <a:off x="640080" y="1371600"/>
            <a:ext cx="7315200" cy="457200"/>
          </a:xfrm>
          <a:prstGeom prst="rect">
            <a:avLst/>
          </a:prstGeom>
          <a:noFill/>
          <a:ln/>
        </p:spPr>
        <p:txBody>
          <a:bodyPr wrap="square" lIns="0" tIns="0" rIns="0" bIns="0" rtlCol="0" anchor="ctr"/>
          <a:lstStyle/>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Fee forensics across a company's corporate cards. Every figure traceable to a line on a statement.</a:t>
            </a:r>
            <a:endParaRPr lang="en-US" sz="1500" dirty="0"/>
          </a:p>
        </p:txBody>
      </p:sp>
      <p:graphicFrame>
        <p:nvGraphicFramePr>
          <p:cNvPr id="5" name="Chart 0"/>
          <p:cNvGraphicFramePr/>
          <p:nvPr/>
        </p:nvGraphicFramePr>
        <p:xfrm>
          <a:off x="640080" y="2148840"/>
          <a:ext cx="74523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366760" y="2148840"/>
            <a:ext cx="3182112" cy="3566160"/>
          </a:xfrm>
          <a:prstGeom prst="roundRect">
            <a:avLst>
              <a:gd name="adj" fmla="val 2874"/>
            </a:avLst>
          </a:prstGeom>
          <a:solidFill>
            <a:srgbClr val="142335"/>
          </a:solidFill>
          <a:ln w="9525">
            <a:solidFill>
              <a:srgbClr val="142335"/>
            </a:solidFill>
            <a:prstDash val="solid"/>
          </a:ln>
          <a:effectLst>
            <a:outerShdw blurRad="101600" dist="12700" dir="5400000" algn="bl" rotWithShape="0">
              <a:srgbClr val="B9AE9C">
                <a:alpha val="18000"/>
              </a:srgbClr>
            </a:outerShdw>
          </a:effectLst>
        </p:spPr>
      </p:sp>
      <p:sp>
        <p:nvSpPr>
          <p:cNvPr id="7" name="Text 4"/>
          <p:cNvSpPr/>
          <p:nvPr/>
        </p:nvSpPr>
        <p:spPr>
          <a:xfrm>
            <a:off x="8686800" y="2468880"/>
            <a:ext cx="2560320" cy="320040"/>
          </a:xfrm>
          <a:prstGeom prst="rect">
            <a:avLst/>
          </a:prstGeom>
          <a:noFill/>
          <a:ln/>
        </p:spPr>
        <p:txBody>
          <a:bodyPr wrap="square" lIns="0" tIns="0" rIns="0" bIns="0" rtlCol="0" anchor="ctr"/>
          <a:lstStyle/>
          <a:p>
            <a:pPr marL="0" indent="0">
              <a:buNone/>
            </a:pPr>
            <a:r>
              <a:rPr lang="en-US" sz="1000" b="1" kern="0" spc="150" dirty="0">
                <a:solidFill>
                  <a:srgbClr val="D89B2A"/>
                </a:solidFill>
                <a:latin typeface="Calibri" pitchFamily="34" charset="0"/>
                <a:ea typeface="Calibri" pitchFamily="34" charset="-122"/>
                <a:cs typeface="Calibri" pitchFamily="34" charset="-120"/>
              </a:rPr>
              <a:t>TOTAL RECOVERABLE</a:t>
            </a:r>
            <a:endParaRPr lang="en-US" sz="1000" dirty="0"/>
          </a:p>
        </p:txBody>
      </p:sp>
      <p:sp>
        <p:nvSpPr>
          <p:cNvPr id="8" name="Text 5"/>
          <p:cNvSpPr/>
          <p:nvPr/>
        </p:nvSpPr>
        <p:spPr>
          <a:xfrm>
            <a:off x="8686800" y="2834640"/>
            <a:ext cx="2560320" cy="86868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₹17,301</a:t>
            </a:r>
            <a:endParaRPr lang="en-US" sz="4000" dirty="0"/>
          </a:p>
        </p:txBody>
      </p:sp>
      <p:sp>
        <p:nvSpPr>
          <p:cNvPr id="9" name="Text 6"/>
          <p:cNvSpPr/>
          <p:nvPr/>
        </p:nvSpPr>
        <p:spPr>
          <a:xfrm>
            <a:off x="8686800" y="3794760"/>
            <a:ext cx="2560320" cy="1097280"/>
          </a:xfrm>
          <a:prstGeom prst="rect">
            <a:avLst/>
          </a:prstGeom>
          <a:noFill/>
          <a:ln/>
        </p:spPr>
        <p:txBody>
          <a:bodyPr wrap="square" lIns="0" tIns="0" rIns="0" bIns="0" rtlCol="0" anchor="ctr"/>
          <a:lstStyle/>
          <a:p>
            <a:pPr marL="0" indent="0">
              <a:lnSpc>
                <a:spcPts val="1600"/>
              </a:lnSpc>
              <a:buNone/>
            </a:pPr>
            <a:r>
              <a:rPr lang="en-US" sz="1200" dirty="0">
                <a:solidFill>
                  <a:srgbClr val="D9D3C8"/>
                </a:solidFill>
                <a:latin typeface="Calibri" pitchFamily="34" charset="0"/>
                <a:ea typeface="Calibri" pitchFamily="34" charset="-122"/>
                <a:cs typeface="Calibri" pitchFamily="34" charset="-120"/>
              </a:rPr>
              <a:t>for one organisation, in one year, across six categories of leakage the finance team had no view of.</a:t>
            </a:r>
            <a:endParaRPr lang="en-US" sz="1200" dirty="0"/>
          </a:p>
        </p:txBody>
      </p:sp>
      <p:sp>
        <p:nvSpPr>
          <p:cNvPr id="10" name="Shape 7"/>
          <p:cNvSpPr/>
          <p:nvPr/>
        </p:nvSpPr>
        <p:spPr>
          <a:xfrm>
            <a:off x="8686800" y="5074920"/>
            <a:ext cx="2560320" cy="274320"/>
          </a:xfrm>
          <a:prstGeom prst="roundRect">
            <a:avLst>
              <a:gd name="adj" fmla="val 50000"/>
            </a:avLst>
          </a:prstGeom>
          <a:solidFill>
            <a:srgbClr val="24344A"/>
          </a:solidFill>
          <a:ln w="9525">
            <a:solidFill>
              <a:srgbClr val="24344A"/>
            </a:solidFill>
            <a:prstDash val="solid"/>
          </a:ln>
        </p:spPr>
      </p:sp>
      <p:sp>
        <p:nvSpPr>
          <p:cNvPr id="11" name="Text 8"/>
          <p:cNvSpPr/>
          <p:nvPr/>
        </p:nvSpPr>
        <p:spPr>
          <a:xfrm>
            <a:off x="8686800" y="5074920"/>
            <a:ext cx="256032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Computed from real statements</a:t>
            </a:r>
            <a:endParaRPr lang="en-US" sz="950" dirty="0"/>
          </a:p>
        </p:txBody>
      </p:sp>
      <p:sp>
        <p:nvSpPr>
          <p:cNvPr id="12" name="Text 9"/>
          <p:cNvSpPr/>
          <p:nvPr/>
        </p:nvSpPr>
        <p:spPr>
          <a:xfrm>
            <a:off x="640080" y="6327648"/>
            <a:ext cx="7680960" cy="274320"/>
          </a:xfrm>
          <a:prstGeom prst="rect">
            <a:avLst/>
          </a:prstGeom>
          <a:noFill/>
          <a:ln/>
        </p:spPr>
        <p:txBody>
          <a:bodyPr wrap="square" lIns="0" tIns="0" rIns="0" bIns="0" rtlCol="0" anchor="ctr"/>
          <a:lstStyle/>
          <a:p>
            <a:pPr marL="0" indent="0">
              <a:buNone/>
            </a:pPr>
            <a:r>
              <a:rPr lang="en-US" sz="850" dirty="0">
                <a:solidFill>
                  <a:srgbClr val="6E7890"/>
                </a:solidFill>
                <a:latin typeface="Calibri" pitchFamily="34" charset="0"/>
                <a:ea typeface="Calibri" pitchFamily="34" charset="-122"/>
                <a:cs typeface="Calibri" pitchFamily="34" charset="-120"/>
              </a:rPr>
              <a:t>Figures from a live organisation in the product. Product shipped; no corporate customers signed to date.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640080" y="237744"/>
            <a:ext cx="10881360" cy="274320"/>
          </a:xfrm>
          <a:prstGeom prst="rect">
            <a:avLst/>
          </a:prstGeom>
          <a:noFill/>
          <a:ln/>
        </p:spPr>
        <p:txBody>
          <a:bodyPr wrap="square" lIns="0" tIns="0" rIns="0" bIns="0" rtlCol="0" anchor="b"/>
          <a:lstStyle/>
          <a:p>
            <a:pPr marL="0" indent="0">
              <a:buNone/>
            </a:pPr>
            <a:r>
              <a:rPr lang="en-US" sz="1100" b="1" kern="0" spc="200" dirty="0">
                <a:solidFill>
                  <a:srgbClr val="8C5F12"/>
                </a:solidFill>
                <a:latin typeface="Calibri" pitchFamily="34" charset="0"/>
                <a:ea typeface="Calibri" pitchFamily="34" charset="-122"/>
                <a:cs typeface="Calibri" pitchFamily="34" charset="-120"/>
              </a:rPr>
              <a:t>THE CORPORATE POINTS DESK</a:t>
            </a:r>
            <a:endParaRPr lang="en-US" sz="1100" dirty="0"/>
          </a:p>
        </p:txBody>
      </p:sp>
      <p:sp>
        <p:nvSpPr>
          <p:cNvPr id="3" name="Text 1"/>
          <p:cNvSpPr/>
          <p:nvPr/>
        </p:nvSpPr>
        <p:spPr>
          <a:xfrm>
            <a:off x="640080" y="566928"/>
            <a:ext cx="10881360" cy="777240"/>
          </a:xfrm>
          <a:prstGeom prst="rect">
            <a:avLst/>
          </a:prstGeom>
          <a:noFill/>
          <a:ln/>
        </p:spPr>
        <p:txBody>
          <a:bodyPr wrap="square" lIns="0" tIns="0" rIns="0" bIns="0" rtlCol="0" anchor="t"/>
          <a:lstStyle/>
          <a:p>
            <a:pPr marL="0" indent="0">
              <a:buNone/>
            </a:pPr>
            <a:r>
              <a:rPr lang="en-US" sz="3400" b="1" dirty="0">
                <a:solidFill>
                  <a:srgbClr val="142335"/>
                </a:solidFill>
                <a:latin typeface="Cambria" pitchFamily="34" charset="0"/>
                <a:ea typeface="Cambria" pitchFamily="34" charset="-122"/>
                <a:cs typeface="Cambria" pitchFamily="34" charset="-120"/>
              </a:rPr>
              <a:t>And then we spend the points for them</a:t>
            </a:r>
            <a:endParaRPr lang="en-US" sz="3400" dirty="0"/>
          </a:p>
        </p:txBody>
      </p:sp>
      <p:sp>
        <p:nvSpPr>
          <p:cNvPr id="4" name="Text 2"/>
          <p:cNvSpPr/>
          <p:nvPr/>
        </p:nvSpPr>
        <p:spPr>
          <a:xfrm>
            <a:off x="640080" y="1371600"/>
            <a:ext cx="10058400" cy="457200"/>
          </a:xfrm>
          <a:prstGeom prst="rect">
            <a:avLst/>
          </a:prstGeom>
          <a:noFill/>
          <a:ln/>
        </p:spPr>
        <p:txBody>
          <a:bodyPr wrap="square" lIns="0" tIns="0" rIns="0" bIns="0" rtlCol="0" anchor="ctr"/>
          <a:lstStyle/>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A company's card points sit in one account, on a two-year clock, worth the issuer's floor price. Our desk</a:t>
            </a:r>
            <a:endParaRPr lang="en-US" sz="1500" dirty="0"/>
          </a:p>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consolidates, routes, books and reconciles — and bills against the value it actually recovers.</a:t>
            </a:r>
            <a:endParaRPr lang="en-US" sz="1500" dirty="0"/>
          </a:p>
        </p:txBody>
      </p:sp>
      <p:sp>
        <p:nvSpPr>
          <p:cNvPr id="5" name="Shape 3"/>
          <p:cNvSpPr/>
          <p:nvPr/>
        </p:nvSpPr>
        <p:spPr>
          <a:xfrm>
            <a:off x="640080" y="2468880"/>
            <a:ext cx="2679192" cy="2148840"/>
          </a:xfrm>
          <a:prstGeom prst="roundRect">
            <a:avLst>
              <a:gd name="adj" fmla="val 4255"/>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6" name="Shape 4"/>
          <p:cNvSpPr/>
          <p:nvPr/>
        </p:nvSpPr>
        <p:spPr>
          <a:xfrm>
            <a:off x="932688" y="2724912"/>
            <a:ext cx="384048" cy="384048"/>
          </a:xfrm>
          <a:prstGeom prst="ellipse">
            <a:avLst/>
          </a:prstGeom>
          <a:solidFill>
            <a:srgbClr val="142335"/>
          </a:solidFill>
          <a:ln w="6350">
            <a:solidFill>
              <a:srgbClr val="142335"/>
            </a:solidFill>
            <a:prstDash val="solid"/>
          </a:ln>
        </p:spPr>
      </p:sp>
      <p:sp>
        <p:nvSpPr>
          <p:cNvPr id="7" name="Text 5"/>
          <p:cNvSpPr/>
          <p:nvPr/>
        </p:nvSpPr>
        <p:spPr>
          <a:xfrm>
            <a:off x="932688" y="272491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32688" y="3200400"/>
            <a:ext cx="2093976" cy="365760"/>
          </a:xfrm>
          <a:prstGeom prst="rect">
            <a:avLst/>
          </a:prstGeom>
          <a:noFill/>
          <a:ln/>
        </p:spPr>
        <p:txBody>
          <a:bodyPr wrap="square" lIns="0" tIns="0" rIns="0" bIns="0" rtlCol="0" anchor="ctr"/>
          <a:lstStyle/>
          <a:p>
            <a:pPr marL="0" indent="0">
              <a:buNone/>
            </a:pPr>
            <a:r>
              <a:rPr lang="en-US" sz="1600" b="1" dirty="0">
                <a:solidFill>
                  <a:srgbClr val="142335"/>
                </a:solidFill>
                <a:latin typeface="Cambria" pitchFamily="34" charset="0"/>
                <a:ea typeface="Cambria" pitchFamily="34" charset="-122"/>
                <a:cs typeface="Cambria" pitchFamily="34" charset="-120"/>
              </a:rPr>
              <a:t>Inventory</a:t>
            </a:r>
            <a:endParaRPr lang="en-US" sz="1600" dirty="0"/>
          </a:p>
        </p:txBody>
      </p:sp>
      <p:sp>
        <p:nvSpPr>
          <p:cNvPr id="9" name="Text 7"/>
          <p:cNvSpPr/>
          <p:nvPr/>
        </p:nvSpPr>
        <p:spPr>
          <a:xfrm>
            <a:off x="932688" y="3566160"/>
            <a:ext cx="2093976" cy="91440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Every card, every entity, every balance — and the expiry date on each.</a:t>
            </a:r>
            <a:endParaRPr lang="en-US" sz="1150" dirty="0"/>
          </a:p>
        </p:txBody>
      </p:sp>
      <p:sp>
        <p:nvSpPr>
          <p:cNvPr id="10" name="Shape 8"/>
          <p:cNvSpPr/>
          <p:nvPr/>
        </p:nvSpPr>
        <p:spPr>
          <a:xfrm>
            <a:off x="3483864" y="2468880"/>
            <a:ext cx="2679192" cy="2148840"/>
          </a:xfrm>
          <a:prstGeom prst="roundRect">
            <a:avLst>
              <a:gd name="adj" fmla="val 4255"/>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1" name="Shape 9"/>
          <p:cNvSpPr/>
          <p:nvPr/>
        </p:nvSpPr>
        <p:spPr>
          <a:xfrm>
            <a:off x="3776472" y="2724912"/>
            <a:ext cx="384048" cy="384048"/>
          </a:xfrm>
          <a:prstGeom prst="ellipse">
            <a:avLst/>
          </a:prstGeom>
          <a:solidFill>
            <a:srgbClr val="142335"/>
          </a:solidFill>
          <a:ln w="6350">
            <a:solidFill>
              <a:srgbClr val="142335"/>
            </a:solidFill>
            <a:prstDash val="solid"/>
          </a:ln>
        </p:spPr>
      </p:sp>
      <p:sp>
        <p:nvSpPr>
          <p:cNvPr id="12" name="Text 10"/>
          <p:cNvSpPr/>
          <p:nvPr/>
        </p:nvSpPr>
        <p:spPr>
          <a:xfrm>
            <a:off x="3776472" y="272491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3776472" y="3200400"/>
            <a:ext cx="2093976" cy="365760"/>
          </a:xfrm>
          <a:prstGeom prst="rect">
            <a:avLst/>
          </a:prstGeom>
          <a:noFill/>
          <a:ln/>
        </p:spPr>
        <p:txBody>
          <a:bodyPr wrap="square" lIns="0" tIns="0" rIns="0" bIns="0" rtlCol="0" anchor="ctr"/>
          <a:lstStyle/>
          <a:p>
            <a:pPr marL="0" indent="0">
              <a:buNone/>
            </a:pPr>
            <a:r>
              <a:rPr lang="en-US" sz="1600" b="1" dirty="0">
                <a:solidFill>
                  <a:srgbClr val="142335"/>
                </a:solidFill>
                <a:latin typeface="Cambria" pitchFamily="34" charset="0"/>
                <a:ea typeface="Cambria" pitchFamily="34" charset="-122"/>
                <a:cs typeface="Cambria" pitchFamily="34" charset="-120"/>
              </a:rPr>
              <a:t>Route</a:t>
            </a:r>
            <a:endParaRPr lang="en-US" sz="1600" dirty="0"/>
          </a:p>
        </p:txBody>
      </p:sp>
      <p:sp>
        <p:nvSpPr>
          <p:cNvPr id="14" name="Text 12"/>
          <p:cNvSpPr/>
          <p:nvPr/>
        </p:nvSpPr>
        <p:spPr>
          <a:xfrm>
            <a:off x="3776472" y="3566160"/>
            <a:ext cx="2093976" cy="91440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Issuer portal at the floor, or transfer to an airline programme. We compute which.</a:t>
            </a:r>
            <a:endParaRPr lang="en-US" sz="1150" dirty="0"/>
          </a:p>
        </p:txBody>
      </p:sp>
      <p:sp>
        <p:nvSpPr>
          <p:cNvPr id="15" name="Shape 13"/>
          <p:cNvSpPr/>
          <p:nvPr/>
        </p:nvSpPr>
        <p:spPr>
          <a:xfrm>
            <a:off x="6327648" y="2468880"/>
            <a:ext cx="2679192" cy="2148840"/>
          </a:xfrm>
          <a:prstGeom prst="roundRect">
            <a:avLst>
              <a:gd name="adj" fmla="val 4255"/>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6" name="Shape 14"/>
          <p:cNvSpPr/>
          <p:nvPr/>
        </p:nvSpPr>
        <p:spPr>
          <a:xfrm>
            <a:off x="6620256" y="2724912"/>
            <a:ext cx="384048" cy="384048"/>
          </a:xfrm>
          <a:prstGeom prst="ellipse">
            <a:avLst/>
          </a:prstGeom>
          <a:solidFill>
            <a:srgbClr val="142335"/>
          </a:solidFill>
          <a:ln w="6350">
            <a:solidFill>
              <a:srgbClr val="142335"/>
            </a:solidFill>
            <a:prstDash val="solid"/>
          </a:ln>
        </p:spPr>
      </p:sp>
      <p:sp>
        <p:nvSpPr>
          <p:cNvPr id="17" name="Text 15"/>
          <p:cNvSpPr/>
          <p:nvPr/>
        </p:nvSpPr>
        <p:spPr>
          <a:xfrm>
            <a:off x="6620256" y="272491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6620256" y="3200400"/>
            <a:ext cx="2093976" cy="365760"/>
          </a:xfrm>
          <a:prstGeom prst="rect">
            <a:avLst/>
          </a:prstGeom>
          <a:noFill/>
          <a:ln/>
        </p:spPr>
        <p:txBody>
          <a:bodyPr wrap="square" lIns="0" tIns="0" rIns="0" bIns="0" rtlCol="0" anchor="ctr"/>
          <a:lstStyle/>
          <a:p>
            <a:pPr marL="0" indent="0">
              <a:buNone/>
            </a:pPr>
            <a:r>
              <a:rPr lang="en-US" sz="1600" b="1" dirty="0">
                <a:solidFill>
                  <a:srgbClr val="142335"/>
                </a:solidFill>
                <a:latin typeface="Cambria" pitchFamily="34" charset="0"/>
                <a:ea typeface="Cambria" pitchFamily="34" charset="-122"/>
                <a:cs typeface="Cambria" pitchFamily="34" charset="-120"/>
              </a:rPr>
              <a:t>Book</a:t>
            </a:r>
            <a:endParaRPr lang="en-US" sz="1600" dirty="0"/>
          </a:p>
        </p:txBody>
      </p:sp>
      <p:sp>
        <p:nvSpPr>
          <p:cNvPr id="19" name="Text 17"/>
          <p:cNvSpPr/>
          <p:nvPr/>
        </p:nvSpPr>
        <p:spPr>
          <a:xfrm>
            <a:off x="6620256" y="3566160"/>
            <a:ext cx="2093976" cy="91440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As an authorised agent on the corporate account — the standard corporate travel pattern.</a:t>
            </a:r>
            <a:endParaRPr lang="en-US" sz="1150" dirty="0"/>
          </a:p>
        </p:txBody>
      </p:sp>
      <p:sp>
        <p:nvSpPr>
          <p:cNvPr id="20" name="Shape 18"/>
          <p:cNvSpPr/>
          <p:nvPr/>
        </p:nvSpPr>
        <p:spPr>
          <a:xfrm>
            <a:off x="9171432" y="2468880"/>
            <a:ext cx="2679192" cy="2148840"/>
          </a:xfrm>
          <a:prstGeom prst="roundRect">
            <a:avLst>
              <a:gd name="adj" fmla="val 4255"/>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21" name="Shape 19"/>
          <p:cNvSpPr/>
          <p:nvPr/>
        </p:nvSpPr>
        <p:spPr>
          <a:xfrm>
            <a:off x="9464040" y="2724912"/>
            <a:ext cx="384048" cy="384048"/>
          </a:xfrm>
          <a:prstGeom prst="ellipse">
            <a:avLst/>
          </a:prstGeom>
          <a:solidFill>
            <a:srgbClr val="142335"/>
          </a:solidFill>
          <a:ln w="6350">
            <a:solidFill>
              <a:srgbClr val="142335"/>
            </a:solidFill>
            <a:prstDash val="solid"/>
          </a:ln>
        </p:spPr>
      </p:sp>
      <p:sp>
        <p:nvSpPr>
          <p:cNvPr id="22" name="Text 20"/>
          <p:cNvSpPr/>
          <p:nvPr/>
        </p:nvSpPr>
        <p:spPr>
          <a:xfrm>
            <a:off x="9464040" y="272491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9464040" y="3200400"/>
            <a:ext cx="2093976" cy="365760"/>
          </a:xfrm>
          <a:prstGeom prst="rect">
            <a:avLst/>
          </a:prstGeom>
          <a:noFill/>
          <a:ln/>
        </p:spPr>
        <p:txBody>
          <a:bodyPr wrap="square" lIns="0" tIns="0" rIns="0" bIns="0" rtlCol="0" anchor="ctr"/>
          <a:lstStyle/>
          <a:p>
            <a:pPr marL="0" indent="0">
              <a:buNone/>
            </a:pPr>
            <a:r>
              <a:rPr lang="en-US" sz="1600" b="1" dirty="0">
                <a:solidFill>
                  <a:srgbClr val="142335"/>
                </a:solidFill>
                <a:latin typeface="Cambria" pitchFamily="34" charset="0"/>
                <a:ea typeface="Cambria" pitchFamily="34" charset="-122"/>
                <a:cs typeface="Cambria" pitchFamily="34" charset="-120"/>
              </a:rPr>
              <a:t>Reconcile</a:t>
            </a:r>
            <a:endParaRPr lang="en-US" sz="1600" dirty="0"/>
          </a:p>
        </p:txBody>
      </p:sp>
      <p:sp>
        <p:nvSpPr>
          <p:cNvPr id="24" name="Text 22"/>
          <p:cNvSpPr/>
          <p:nvPr/>
        </p:nvSpPr>
        <p:spPr>
          <a:xfrm>
            <a:off x="9464040" y="3566160"/>
            <a:ext cx="2093976" cy="91440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Points spent, cash saved, cost centre, traveller. The CFO's audit trail and our invoice evidence.</a:t>
            </a:r>
            <a:endParaRPr lang="en-US" sz="1150" dirty="0"/>
          </a:p>
        </p:txBody>
      </p:sp>
      <p:sp>
        <p:nvSpPr>
          <p:cNvPr id="25" name="Shape 23"/>
          <p:cNvSpPr/>
          <p:nvPr/>
        </p:nvSpPr>
        <p:spPr>
          <a:xfrm>
            <a:off x="640080" y="4846320"/>
            <a:ext cx="10908792" cy="914400"/>
          </a:xfrm>
          <a:prstGeom prst="roundRect">
            <a:avLst>
              <a:gd name="adj" fmla="val 10000"/>
            </a:avLst>
          </a:prstGeom>
          <a:solidFill>
            <a:srgbClr val="F1ECE4"/>
          </a:solidFill>
          <a:ln w="9525">
            <a:solidFill>
              <a:srgbClr val="E7E0D4"/>
            </a:solidFill>
            <a:prstDash val="solid"/>
          </a:ln>
          <a:effectLst>
            <a:outerShdw blurRad="101600" dist="12700" dir="5400000" algn="bl" rotWithShape="0">
              <a:srgbClr val="B9AE9C">
                <a:alpha val="18000"/>
              </a:srgbClr>
            </a:outerShdw>
          </a:effectLst>
        </p:spPr>
      </p:sp>
      <p:sp>
        <p:nvSpPr>
          <p:cNvPr id="26" name="Text 24"/>
          <p:cNvSpPr/>
          <p:nvPr/>
        </p:nvSpPr>
        <p:spPr>
          <a:xfrm>
            <a:off x="960120" y="4846320"/>
            <a:ext cx="10241280" cy="914400"/>
          </a:xfrm>
          <a:prstGeom prst="rect">
            <a:avLst/>
          </a:prstGeom>
          <a:noFill/>
          <a:ln/>
        </p:spPr>
        <p:txBody>
          <a:bodyPr wrap="square" lIns="0" tIns="0" rIns="0" bIns="0" rtlCol="0" anchor="ctr"/>
          <a:lstStyle/>
          <a:p>
            <a:pPr marL="0" indent="0">
              <a:lnSpc>
                <a:spcPts val="1700"/>
              </a:lnSpc>
              <a:buNone/>
            </a:pPr>
            <a:r>
              <a:rPr lang="en-US" sz="1250" dirty="0">
                <a:solidFill>
                  <a:srgbClr val="142335"/>
                </a:solidFill>
                <a:latin typeface="Calibri" pitchFamily="34" charset="0"/>
                <a:ea typeface="Calibri" pitchFamily="34" charset="-122"/>
                <a:cs typeface="Calibri" pitchFamily="34" charset="-120"/>
              </a:rPr>
              <a:t>Nobody in India is doing this for corporate card points. The closest analogue anywhere is a listed company — Ten Lifestyle Group, £65.7m net revenue, running concierge for over fifty corporate clients.</a:t>
            </a:r>
            <a:endParaRPr lang="en-US" sz="1250" dirty="0"/>
          </a:p>
        </p:txBody>
      </p:sp>
      <p:sp>
        <p:nvSpPr>
          <p:cNvPr id="27" name="Text 25"/>
          <p:cNvSpPr/>
          <p:nvPr/>
        </p:nvSpPr>
        <p:spPr>
          <a:xfrm>
            <a:off x="640080" y="6327648"/>
            <a:ext cx="7680960" cy="274320"/>
          </a:xfrm>
          <a:prstGeom prst="rect">
            <a:avLst/>
          </a:prstGeom>
          <a:noFill/>
          <a:ln/>
        </p:spPr>
        <p:txBody>
          <a:bodyPr wrap="square" lIns="0" tIns="0" rIns="0" bIns="0" rtlCol="0" anchor="ctr"/>
          <a:lstStyle/>
          <a:p>
            <a:pPr marL="0" indent="0">
              <a:buNone/>
            </a:pPr>
            <a:r>
              <a:rPr lang="en-US" sz="850" dirty="0">
                <a:solidFill>
                  <a:srgbClr val="6E7890"/>
                </a:solidFill>
                <a:latin typeface="Calibri" pitchFamily="34" charset="0"/>
                <a:ea typeface="Calibri" pitchFamily="34" charset="-122"/>
                <a:cs typeface="Calibri" pitchFamily="34" charset="-120"/>
              </a:rPr>
              <a:t>Ten Lifestyle Group FY2025 results · the desk is designed and costed, not yet staffed.</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640080" y="237744"/>
            <a:ext cx="10881360" cy="274320"/>
          </a:xfrm>
          <a:prstGeom prst="rect">
            <a:avLst/>
          </a:prstGeom>
          <a:noFill/>
          <a:ln/>
        </p:spPr>
        <p:txBody>
          <a:bodyPr wrap="square" lIns="0" tIns="0" rIns="0" bIns="0" rtlCol="0" anchor="b"/>
          <a:lstStyle/>
          <a:p>
            <a:pPr marL="0" indent="0">
              <a:buNone/>
            </a:pPr>
            <a:r>
              <a:rPr lang="en-US" sz="1100" b="1" kern="0" spc="200" dirty="0">
                <a:solidFill>
                  <a:srgbClr val="8C5F12"/>
                </a:solidFill>
                <a:latin typeface="Calibri" pitchFamily="34" charset="0"/>
                <a:ea typeface="Calibri" pitchFamily="34" charset="-122"/>
                <a:cs typeface="Calibri" pitchFamily="34" charset="-120"/>
              </a:rPr>
              <a:t>WHY THE TWO HALVES BELONG TOGETHER</a:t>
            </a:r>
            <a:endParaRPr lang="en-US" sz="1100" dirty="0"/>
          </a:p>
        </p:txBody>
      </p:sp>
      <p:sp>
        <p:nvSpPr>
          <p:cNvPr id="3" name="Text 1"/>
          <p:cNvSpPr/>
          <p:nvPr/>
        </p:nvSpPr>
        <p:spPr>
          <a:xfrm>
            <a:off x="640080" y="566928"/>
            <a:ext cx="10881360" cy="777240"/>
          </a:xfrm>
          <a:prstGeom prst="rect">
            <a:avLst/>
          </a:prstGeom>
          <a:noFill/>
          <a:ln/>
        </p:spPr>
        <p:txBody>
          <a:bodyPr wrap="square" lIns="0" tIns="0" rIns="0" bIns="0" rtlCol="0" anchor="t"/>
          <a:lstStyle/>
          <a:p>
            <a:pPr marL="0" indent="0">
              <a:buNone/>
            </a:pPr>
            <a:r>
              <a:rPr lang="en-US" sz="3400" b="1" dirty="0">
                <a:solidFill>
                  <a:srgbClr val="142335"/>
                </a:solidFill>
                <a:latin typeface="Cambria" pitchFamily="34" charset="0"/>
                <a:ea typeface="Cambria" pitchFamily="34" charset="-122"/>
                <a:cs typeface="Cambria" pitchFamily="34" charset="-120"/>
              </a:rPr>
              <a:t>One customer, two products, near-zero acquisition cost</a:t>
            </a:r>
            <a:endParaRPr lang="en-US" sz="3400" dirty="0"/>
          </a:p>
        </p:txBody>
      </p:sp>
      <p:sp>
        <p:nvSpPr>
          <p:cNvPr id="4" name="Text 2"/>
          <p:cNvSpPr/>
          <p:nvPr/>
        </p:nvSpPr>
        <p:spPr>
          <a:xfrm>
            <a:off x="640080" y="1371600"/>
            <a:ext cx="10058400" cy="457200"/>
          </a:xfrm>
          <a:prstGeom prst="rect">
            <a:avLst/>
          </a:prstGeom>
          <a:noFill/>
          <a:ln/>
        </p:spPr>
        <p:txBody>
          <a:bodyPr wrap="square" lIns="0" tIns="0" rIns="0" bIns="0" rtlCol="0" anchor="ctr"/>
          <a:lstStyle/>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We sell to the company. The company's employees arrive as consumer users — already identified, already</a:t>
            </a:r>
            <a:endParaRPr lang="en-US" sz="1500" dirty="0"/>
          </a:p>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card-holding, and already inside a product their employer chose.</a:t>
            </a:r>
            <a:endParaRPr lang="en-US" sz="1500" dirty="0"/>
          </a:p>
        </p:txBody>
      </p:sp>
      <p:sp>
        <p:nvSpPr>
          <p:cNvPr id="5" name="Shape 3"/>
          <p:cNvSpPr/>
          <p:nvPr/>
        </p:nvSpPr>
        <p:spPr>
          <a:xfrm>
            <a:off x="640080" y="2468880"/>
            <a:ext cx="2395728" cy="2103120"/>
          </a:xfrm>
          <a:prstGeom prst="roundRect">
            <a:avLst>
              <a:gd name="adj" fmla="val 4348"/>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6" name="Text 4"/>
          <p:cNvSpPr/>
          <p:nvPr/>
        </p:nvSpPr>
        <p:spPr>
          <a:xfrm>
            <a:off x="914400" y="2724912"/>
            <a:ext cx="1847088" cy="658368"/>
          </a:xfrm>
          <a:prstGeom prst="rect">
            <a:avLst/>
          </a:prstGeom>
          <a:noFill/>
          <a:ln/>
        </p:spPr>
        <p:txBody>
          <a:bodyPr wrap="square" lIns="0" tIns="0" rIns="0" bIns="0" rtlCol="0" anchor="ctr"/>
          <a:lstStyle/>
          <a:p>
            <a:pPr marL="0" indent="0">
              <a:lnSpc>
                <a:spcPts val="2000"/>
              </a:lnSpc>
              <a:buNone/>
            </a:pPr>
            <a:r>
              <a:rPr lang="en-US" sz="1650" b="1" dirty="0">
                <a:solidFill>
                  <a:srgbClr val="142335"/>
                </a:solidFill>
                <a:latin typeface="Cambria" pitchFamily="34" charset="0"/>
                <a:ea typeface="Cambria" pitchFamily="34" charset="-122"/>
                <a:cs typeface="Cambria" pitchFamily="34" charset="-120"/>
              </a:rPr>
              <a:t>1 corporate</a:t>
            </a:r>
            <a:endParaRPr lang="en-US" sz="1650" dirty="0"/>
          </a:p>
        </p:txBody>
      </p:sp>
      <p:sp>
        <p:nvSpPr>
          <p:cNvPr id="7" name="Text 5"/>
          <p:cNvSpPr/>
          <p:nvPr/>
        </p:nvSpPr>
        <p:spPr>
          <a:xfrm>
            <a:off x="914400" y="3419856"/>
            <a:ext cx="1847088" cy="91440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signs for fee forensics and the points desk</a:t>
            </a:r>
            <a:endParaRPr lang="en-US" sz="1150" dirty="0"/>
          </a:p>
        </p:txBody>
      </p:sp>
      <p:sp>
        <p:nvSpPr>
          <p:cNvPr id="8" name="Shape 6"/>
          <p:cNvSpPr/>
          <p:nvPr/>
        </p:nvSpPr>
        <p:spPr>
          <a:xfrm>
            <a:off x="3127248" y="3346704"/>
            <a:ext cx="292608" cy="347472"/>
          </a:xfrm>
          <a:prstGeom prst="rightArrow">
            <a:avLst/>
          </a:prstGeom>
          <a:solidFill>
            <a:srgbClr val="D89B2A"/>
          </a:solidFill>
          <a:ln w="6350">
            <a:solidFill>
              <a:srgbClr val="D89B2A"/>
            </a:solidFill>
            <a:prstDash val="solid"/>
          </a:ln>
        </p:spPr>
      </p:sp>
      <p:sp>
        <p:nvSpPr>
          <p:cNvPr id="9" name="Shape 7"/>
          <p:cNvSpPr/>
          <p:nvPr/>
        </p:nvSpPr>
        <p:spPr>
          <a:xfrm>
            <a:off x="3474720" y="2468880"/>
            <a:ext cx="2395728" cy="2103120"/>
          </a:xfrm>
          <a:prstGeom prst="roundRect">
            <a:avLst>
              <a:gd name="adj" fmla="val 4348"/>
            </a:avLst>
          </a:prstGeom>
          <a:solidFill>
            <a:srgbClr val="F1ECE4"/>
          </a:solidFill>
          <a:ln w="9525">
            <a:solidFill>
              <a:srgbClr val="E7E0D4"/>
            </a:solidFill>
            <a:prstDash val="solid"/>
          </a:ln>
          <a:effectLst>
            <a:outerShdw blurRad="101600" dist="12700" dir="5400000" algn="bl" rotWithShape="0">
              <a:srgbClr val="B9AE9C">
                <a:alpha val="18000"/>
              </a:srgbClr>
            </a:outerShdw>
          </a:effectLst>
        </p:spPr>
      </p:sp>
      <p:sp>
        <p:nvSpPr>
          <p:cNvPr id="10" name="Text 8"/>
          <p:cNvSpPr/>
          <p:nvPr/>
        </p:nvSpPr>
        <p:spPr>
          <a:xfrm>
            <a:off x="3749040" y="2724912"/>
            <a:ext cx="1847088" cy="658368"/>
          </a:xfrm>
          <a:prstGeom prst="rect">
            <a:avLst/>
          </a:prstGeom>
          <a:noFill/>
          <a:ln/>
        </p:spPr>
        <p:txBody>
          <a:bodyPr wrap="square" lIns="0" tIns="0" rIns="0" bIns="0" rtlCol="0" anchor="ctr"/>
          <a:lstStyle/>
          <a:p>
            <a:pPr marL="0" indent="0">
              <a:lnSpc>
                <a:spcPts val="2000"/>
              </a:lnSpc>
              <a:buNone/>
            </a:pPr>
            <a:r>
              <a:rPr lang="en-US" sz="1650" b="1" dirty="0">
                <a:solidFill>
                  <a:srgbClr val="142335"/>
                </a:solidFill>
                <a:latin typeface="Cambria" pitchFamily="34" charset="0"/>
                <a:ea typeface="Cambria" pitchFamily="34" charset="-122"/>
                <a:cs typeface="Cambria" pitchFamily="34" charset="-120"/>
              </a:rPr>
              <a:t>Its employees</a:t>
            </a:r>
            <a:endParaRPr lang="en-US" sz="1650" dirty="0"/>
          </a:p>
        </p:txBody>
      </p:sp>
      <p:sp>
        <p:nvSpPr>
          <p:cNvPr id="11" name="Text 9"/>
          <p:cNvSpPr/>
          <p:nvPr/>
        </p:nvSpPr>
        <p:spPr>
          <a:xfrm>
            <a:off x="3749040" y="3419856"/>
            <a:ext cx="1847088" cy="91440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get consumer accounts for their own personal cards</a:t>
            </a:r>
            <a:endParaRPr lang="en-US" sz="1150" dirty="0"/>
          </a:p>
        </p:txBody>
      </p:sp>
      <p:sp>
        <p:nvSpPr>
          <p:cNvPr id="12" name="Shape 10"/>
          <p:cNvSpPr/>
          <p:nvPr/>
        </p:nvSpPr>
        <p:spPr>
          <a:xfrm>
            <a:off x="5961888" y="3346704"/>
            <a:ext cx="292608" cy="347472"/>
          </a:xfrm>
          <a:prstGeom prst="rightArrow">
            <a:avLst/>
          </a:prstGeom>
          <a:solidFill>
            <a:srgbClr val="D89B2A"/>
          </a:solidFill>
          <a:ln w="6350">
            <a:solidFill>
              <a:srgbClr val="D89B2A"/>
            </a:solidFill>
            <a:prstDash val="solid"/>
          </a:ln>
        </p:spPr>
      </p:sp>
      <p:sp>
        <p:nvSpPr>
          <p:cNvPr id="13" name="Shape 11"/>
          <p:cNvSpPr/>
          <p:nvPr/>
        </p:nvSpPr>
        <p:spPr>
          <a:xfrm>
            <a:off x="6309360" y="2468880"/>
            <a:ext cx="2395728" cy="2103120"/>
          </a:xfrm>
          <a:prstGeom prst="roundRect">
            <a:avLst>
              <a:gd name="adj" fmla="val 4348"/>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4" name="Text 12"/>
          <p:cNvSpPr/>
          <p:nvPr/>
        </p:nvSpPr>
        <p:spPr>
          <a:xfrm>
            <a:off x="6583680" y="2724912"/>
            <a:ext cx="1847088" cy="658368"/>
          </a:xfrm>
          <a:prstGeom prst="rect">
            <a:avLst/>
          </a:prstGeom>
          <a:noFill/>
          <a:ln/>
        </p:spPr>
        <p:txBody>
          <a:bodyPr wrap="square" lIns="0" tIns="0" rIns="0" bIns="0" rtlCol="0" anchor="ctr"/>
          <a:lstStyle/>
          <a:p>
            <a:pPr marL="0" indent="0">
              <a:lnSpc>
                <a:spcPts val="2000"/>
              </a:lnSpc>
              <a:buNone/>
            </a:pPr>
            <a:r>
              <a:rPr lang="en-US" sz="1650" b="1" dirty="0">
                <a:solidFill>
                  <a:srgbClr val="142335"/>
                </a:solidFill>
                <a:latin typeface="Cambria" pitchFamily="34" charset="0"/>
                <a:ea typeface="Cambria" pitchFamily="34" charset="-122"/>
                <a:cs typeface="Cambria" pitchFamily="34" charset="-120"/>
              </a:rPr>
              <a:t>Their wallets</a:t>
            </a:r>
            <a:endParaRPr lang="en-US" sz="1650" dirty="0"/>
          </a:p>
        </p:txBody>
      </p:sp>
      <p:sp>
        <p:nvSpPr>
          <p:cNvPr id="15" name="Text 13"/>
          <p:cNvSpPr/>
          <p:nvPr/>
        </p:nvSpPr>
        <p:spPr>
          <a:xfrm>
            <a:off x="6583680" y="3419856"/>
            <a:ext cx="1847088" cy="91440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feed real, verified card behaviour back into the engine</a:t>
            </a:r>
            <a:endParaRPr lang="en-US" sz="1150" dirty="0"/>
          </a:p>
        </p:txBody>
      </p:sp>
      <p:sp>
        <p:nvSpPr>
          <p:cNvPr id="16" name="Shape 14"/>
          <p:cNvSpPr/>
          <p:nvPr/>
        </p:nvSpPr>
        <p:spPr>
          <a:xfrm>
            <a:off x="8796528" y="3346704"/>
            <a:ext cx="292608" cy="347472"/>
          </a:xfrm>
          <a:prstGeom prst="rightArrow">
            <a:avLst/>
          </a:prstGeom>
          <a:solidFill>
            <a:srgbClr val="D89B2A"/>
          </a:solidFill>
          <a:ln w="6350">
            <a:solidFill>
              <a:srgbClr val="D89B2A"/>
            </a:solidFill>
            <a:prstDash val="solid"/>
          </a:ln>
        </p:spPr>
      </p:sp>
      <p:sp>
        <p:nvSpPr>
          <p:cNvPr id="17" name="Shape 15"/>
          <p:cNvSpPr/>
          <p:nvPr/>
        </p:nvSpPr>
        <p:spPr>
          <a:xfrm>
            <a:off x="9144000" y="2468880"/>
            <a:ext cx="2395728" cy="2103120"/>
          </a:xfrm>
          <a:prstGeom prst="roundRect">
            <a:avLst>
              <a:gd name="adj" fmla="val 4348"/>
            </a:avLst>
          </a:prstGeom>
          <a:solidFill>
            <a:srgbClr val="F1ECE4"/>
          </a:solidFill>
          <a:ln w="9525">
            <a:solidFill>
              <a:srgbClr val="E7E0D4"/>
            </a:solidFill>
            <a:prstDash val="solid"/>
          </a:ln>
          <a:effectLst>
            <a:outerShdw blurRad="101600" dist="12700" dir="5400000" algn="bl" rotWithShape="0">
              <a:srgbClr val="B9AE9C">
                <a:alpha val="18000"/>
              </a:srgbClr>
            </a:outerShdw>
          </a:effectLst>
        </p:spPr>
      </p:sp>
      <p:sp>
        <p:nvSpPr>
          <p:cNvPr id="18" name="Text 16"/>
          <p:cNvSpPr/>
          <p:nvPr/>
        </p:nvSpPr>
        <p:spPr>
          <a:xfrm>
            <a:off x="9418320" y="2724912"/>
            <a:ext cx="1847088" cy="658368"/>
          </a:xfrm>
          <a:prstGeom prst="rect">
            <a:avLst/>
          </a:prstGeom>
          <a:noFill/>
          <a:ln/>
        </p:spPr>
        <p:txBody>
          <a:bodyPr wrap="square" lIns="0" tIns="0" rIns="0" bIns="0" rtlCol="0" anchor="ctr"/>
          <a:lstStyle/>
          <a:p>
            <a:pPr marL="0" indent="0">
              <a:lnSpc>
                <a:spcPts val="2000"/>
              </a:lnSpc>
              <a:buNone/>
            </a:pPr>
            <a:r>
              <a:rPr lang="en-US" sz="1650" b="1" dirty="0">
                <a:solidFill>
                  <a:srgbClr val="142335"/>
                </a:solidFill>
                <a:latin typeface="Cambria" pitchFamily="34" charset="0"/>
                <a:ea typeface="Cambria" pitchFamily="34" charset="-122"/>
                <a:cs typeface="Cambria" pitchFamily="34" charset="-120"/>
              </a:rPr>
              <a:t>Better routing</a:t>
            </a:r>
            <a:endParaRPr lang="en-US" sz="1650" dirty="0"/>
          </a:p>
        </p:txBody>
      </p:sp>
      <p:sp>
        <p:nvSpPr>
          <p:cNvPr id="19" name="Text 17"/>
          <p:cNvSpPr/>
          <p:nvPr/>
        </p:nvSpPr>
        <p:spPr>
          <a:xfrm>
            <a:off x="9418320" y="3419856"/>
            <a:ext cx="1847088" cy="91440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for every user, which is what the next corporate buys</a:t>
            </a:r>
            <a:endParaRPr lang="en-US" sz="1150" dirty="0"/>
          </a:p>
        </p:txBody>
      </p:sp>
      <p:sp>
        <p:nvSpPr>
          <p:cNvPr id="20" name="Shape 18"/>
          <p:cNvSpPr/>
          <p:nvPr/>
        </p:nvSpPr>
        <p:spPr>
          <a:xfrm>
            <a:off x="640080" y="4800600"/>
            <a:ext cx="10908792" cy="1325880"/>
          </a:xfrm>
          <a:prstGeom prst="roundRect">
            <a:avLst>
              <a:gd name="adj" fmla="val 6897"/>
            </a:avLst>
          </a:prstGeom>
          <a:solidFill>
            <a:srgbClr val="142335"/>
          </a:solidFill>
          <a:ln w="9525">
            <a:solidFill>
              <a:srgbClr val="142335"/>
            </a:solidFill>
            <a:prstDash val="solid"/>
          </a:ln>
          <a:effectLst>
            <a:outerShdw blurRad="101600" dist="12700" dir="5400000" algn="bl" rotWithShape="0">
              <a:srgbClr val="B9AE9C">
                <a:alpha val="18000"/>
              </a:srgbClr>
            </a:outerShdw>
          </a:effectLst>
        </p:spPr>
      </p:sp>
      <p:sp>
        <p:nvSpPr>
          <p:cNvPr id="21" name="Text 19"/>
          <p:cNvSpPr/>
          <p:nvPr/>
        </p:nvSpPr>
        <p:spPr>
          <a:xfrm>
            <a:off x="1051560" y="4956048"/>
            <a:ext cx="1005840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The corporate sale pays for the consumer distribution.</a:t>
            </a:r>
            <a:endParaRPr lang="en-US" sz="2000" dirty="0"/>
          </a:p>
        </p:txBody>
      </p:sp>
      <p:sp>
        <p:nvSpPr>
          <p:cNvPr id="22" name="Text 20"/>
          <p:cNvSpPr/>
          <p:nvPr/>
        </p:nvSpPr>
        <p:spPr>
          <a:xfrm>
            <a:off x="1051560" y="5413248"/>
            <a:ext cx="10058400" cy="566928"/>
          </a:xfrm>
          <a:prstGeom prst="rect">
            <a:avLst/>
          </a:prstGeom>
          <a:noFill/>
          <a:ln/>
        </p:spPr>
        <p:txBody>
          <a:bodyPr wrap="square" lIns="0" tIns="0" rIns="0" bIns="0" rtlCol="0" anchor="ctr"/>
          <a:lstStyle/>
          <a:p>
            <a:pPr marL="0" indent="0">
              <a:lnSpc>
                <a:spcPts val="1700"/>
              </a:lnSpc>
              <a:buNone/>
            </a:pPr>
            <a:r>
              <a:rPr lang="en-US" sz="1250" dirty="0">
                <a:solidFill>
                  <a:srgbClr val="D9D3C8"/>
                </a:solidFill>
                <a:latin typeface="Calibri" pitchFamily="34" charset="0"/>
                <a:ea typeface="Calibri" pitchFamily="34" charset="-122"/>
                <a:cs typeface="Calibri" pitchFamily="34" charset="-120"/>
              </a:rPr>
              <a:t>Acquire the employer, inherit the employees, and give both sides a reason to stay — the consumer product becomes a retention benefit the company is already paying for.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640080" y="237744"/>
            <a:ext cx="10881360" cy="274320"/>
          </a:xfrm>
          <a:prstGeom prst="rect">
            <a:avLst/>
          </a:prstGeom>
          <a:noFill/>
          <a:ln/>
        </p:spPr>
        <p:txBody>
          <a:bodyPr wrap="square" lIns="0" tIns="0" rIns="0" bIns="0" rtlCol="0" anchor="b"/>
          <a:lstStyle/>
          <a:p>
            <a:pPr marL="0" indent="0">
              <a:buNone/>
            </a:pPr>
            <a:r>
              <a:rPr lang="en-US" sz="1100" b="1" kern="0" spc="200" dirty="0">
                <a:solidFill>
                  <a:srgbClr val="8C5F12"/>
                </a:solidFill>
                <a:latin typeface="Calibri" pitchFamily="34" charset="0"/>
                <a:ea typeface="Calibri" pitchFamily="34" charset="-122"/>
                <a:cs typeface="Calibri" pitchFamily="34" charset="-120"/>
              </a:rPr>
              <a:t>MARKET 1 OF 4</a:t>
            </a:r>
            <a:endParaRPr lang="en-US" sz="1100" dirty="0"/>
          </a:p>
        </p:txBody>
      </p:sp>
      <p:sp>
        <p:nvSpPr>
          <p:cNvPr id="3" name="Text 1"/>
          <p:cNvSpPr/>
          <p:nvPr/>
        </p:nvSpPr>
        <p:spPr>
          <a:xfrm>
            <a:off x="640080" y="566928"/>
            <a:ext cx="10881360" cy="777240"/>
          </a:xfrm>
          <a:prstGeom prst="rect">
            <a:avLst/>
          </a:prstGeom>
          <a:noFill/>
          <a:ln/>
        </p:spPr>
        <p:txBody>
          <a:bodyPr wrap="square" lIns="0" tIns="0" rIns="0" bIns="0" rtlCol="0" anchor="t"/>
          <a:lstStyle/>
          <a:p>
            <a:pPr marL="0" indent="0">
              <a:buNone/>
            </a:pPr>
            <a:r>
              <a:rPr lang="en-US" sz="3400" b="1" dirty="0">
                <a:solidFill>
                  <a:srgbClr val="142335"/>
                </a:solidFill>
                <a:latin typeface="Cambria" pitchFamily="34" charset="0"/>
                <a:ea typeface="Cambria" pitchFamily="34" charset="-122"/>
                <a:cs typeface="Cambria" pitchFamily="34" charset="-120"/>
              </a:rPr>
              <a:t>India — the proven market</a:t>
            </a:r>
            <a:endParaRPr lang="en-US" sz="3400" dirty="0"/>
          </a:p>
        </p:txBody>
      </p:sp>
      <p:sp>
        <p:nvSpPr>
          <p:cNvPr id="4" name="Text 2"/>
          <p:cNvSpPr/>
          <p:nvPr/>
        </p:nvSpPr>
        <p:spPr>
          <a:xfrm>
            <a:off x="640080" y="1371600"/>
            <a:ext cx="10058400" cy="457200"/>
          </a:xfrm>
          <a:prstGeom prst="rect">
            <a:avLst/>
          </a:prstGeom>
          <a:noFill/>
          <a:ln/>
        </p:spPr>
        <p:txBody>
          <a:bodyPr wrap="square" lIns="0" tIns="0" rIns="0" bIns="0" rtlCol="0" anchor="ctr"/>
          <a:lstStyle/>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The only market where the product is live, the floor price is published, and the uplift is provable.</a:t>
            </a:r>
            <a:endParaRPr lang="en-US" sz="1500" dirty="0"/>
          </a:p>
        </p:txBody>
      </p:sp>
      <p:sp>
        <p:nvSpPr>
          <p:cNvPr id="5" name="Shape 3"/>
          <p:cNvSpPr/>
          <p:nvPr/>
        </p:nvSpPr>
        <p:spPr>
          <a:xfrm>
            <a:off x="640080" y="2286000"/>
            <a:ext cx="5394960" cy="3383280"/>
          </a:xfrm>
          <a:prstGeom prst="roundRect">
            <a:avLst>
              <a:gd name="adj" fmla="val 2703"/>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6" name="Text 4"/>
          <p:cNvSpPr/>
          <p:nvPr/>
        </p:nvSpPr>
        <p:spPr>
          <a:xfrm>
            <a:off x="960120" y="2542032"/>
            <a:ext cx="4754880" cy="365760"/>
          </a:xfrm>
          <a:prstGeom prst="rect">
            <a:avLst/>
          </a:prstGeom>
          <a:noFill/>
          <a:ln/>
        </p:spPr>
        <p:txBody>
          <a:bodyPr wrap="square" lIns="0" tIns="0" rIns="0" bIns="0" rtlCol="0" anchor="ctr"/>
          <a:lstStyle/>
          <a:p>
            <a:pPr marL="0" indent="0">
              <a:buNone/>
            </a:pPr>
            <a:r>
              <a:rPr lang="en-US" sz="1700" b="1" dirty="0">
                <a:solidFill>
                  <a:srgbClr val="142335"/>
                </a:solidFill>
                <a:latin typeface="Cambria" pitchFamily="34" charset="0"/>
                <a:ea typeface="Cambria" pitchFamily="34" charset="-122"/>
                <a:cs typeface="Cambria" pitchFamily="34" charset="-120"/>
              </a:rPr>
              <a:t>Established</a:t>
            </a:r>
            <a:endParaRPr lang="en-US" sz="1700" dirty="0"/>
          </a:p>
        </p:txBody>
      </p:sp>
      <p:sp>
        <p:nvSpPr>
          <p:cNvPr id="7" name="Text 5"/>
          <p:cNvSpPr/>
          <p:nvPr/>
        </p:nvSpPr>
        <p:spPr>
          <a:xfrm>
            <a:off x="960120" y="2971800"/>
            <a:ext cx="4754880" cy="246888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44506A"/>
                </a:solidFill>
                <a:latin typeface="Calibri" pitchFamily="34" charset="0"/>
                <a:ea typeface="Calibri" pitchFamily="34" charset="-122"/>
                <a:cs typeface="Calibri" pitchFamily="34" charset="-120"/>
              </a:rPr>
              <a:t>₹23.62 lakh crore card spend in FY2026 (RBI)</a:t>
            </a:r>
            <a:endParaRPr lang="en-US" sz="1250" dirty="0"/>
          </a:p>
          <a:p>
            <a:pPr marL="342900" indent="-342900">
              <a:spcAft>
                <a:spcPts val="900"/>
              </a:spcAft>
              <a:buSzPct val="100000"/>
              <a:buChar char="•"/>
            </a:pPr>
            <a:r>
              <a:rPr lang="en-US" sz="1250" dirty="0">
                <a:solidFill>
                  <a:srgbClr val="44506A"/>
                </a:solidFill>
                <a:latin typeface="Calibri" pitchFamily="34" charset="0"/>
                <a:ea typeface="Calibri" pitchFamily="34" charset="-122"/>
                <a:cs typeface="Calibri" pitchFamily="34" charset="-120"/>
              </a:rPr>
              <a:t>120 million cards outstanding, May 2026 (RBI)</a:t>
            </a:r>
            <a:endParaRPr lang="en-US" sz="1250" dirty="0"/>
          </a:p>
          <a:p>
            <a:pPr marL="342900" indent="-342900">
              <a:spcAft>
                <a:spcPts val="900"/>
              </a:spcAft>
              <a:buSzPct val="100000"/>
              <a:buChar char="•"/>
            </a:pPr>
            <a:r>
              <a:rPr lang="en-US" sz="1250" dirty="0">
                <a:solidFill>
                  <a:srgbClr val="44506A"/>
                </a:solidFill>
                <a:latin typeface="Calibri" pitchFamily="34" charset="0"/>
                <a:ea typeface="Calibri" pitchFamily="34" charset="-122"/>
                <a:cs typeface="Calibri" pitchFamily="34" charset="-120"/>
              </a:rPr>
              <a:t>HDFC corporate points: 30 paise floor, published</a:t>
            </a:r>
            <a:endParaRPr lang="en-US" sz="1250" dirty="0"/>
          </a:p>
          <a:p>
            <a:pPr marL="342900" indent="-342900">
              <a:spcAft>
                <a:spcPts val="900"/>
              </a:spcAft>
              <a:buSzPct val="100000"/>
              <a:buChar char="•"/>
            </a:pPr>
            <a:r>
              <a:rPr lang="en-US" sz="1250" dirty="0">
                <a:solidFill>
                  <a:srgbClr val="44506A"/>
                </a:solidFill>
                <a:latin typeface="Calibri" pitchFamily="34" charset="0"/>
                <a:ea typeface="Calibri" pitchFamily="34" charset="-122"/>
                <a:cs typeface="Calibri" pitchFamily="34" charset="-120"/>
              </a:rPr>
              <a:t>Two-year expiry from the month of accrual</a:t>
            </a:r>
            <a:endParaRPr lang="en-US" sz="1250" dirty="0"/>
          </a:p>
          <a:p>
            <a:pPr marL="342900" indent="-342900">
              <a:spcAft>
                <a:spcPts val="900"/>
              </a:spcAft>
              <a:buSzPct val="100000"/>
              <a:buChar char="•"/>
            </a:pPr>
            <a:r>
              <a:rPr lang="en-US" sz="1250" dirty="0">
                <a:solidFill>
                  <a:srgbClr val="44506A"/>
                </a:solidFill>
                <a:latin typeface="Calibri" pitchFamily="34" charset="0"/>
                <a:ea typeface="Calibri" pitchFamily="34" charset="-122"/>
                <a:cs typeface="Calibri" pitchFamily="34" charset="-120"/>
              </a:rPr>
              <a:t>SmartBuy Corporate routes points to airline miles</a:t>
            </a:r>
            <a:endParaRPr lang="en-US" sz="1250" dirty="0"/>
          </a:p>
          <a:p>
            <a:pPr marL="342900" indent="-342900">
              <a:spcAft>
                <a:spcPts val="900"/>
              </a:spcAft>
              <a:buSzPct val="100000"/>
              <a:buChar char="•"/>
            </a:pPr>
            <a:r>
              <a:rPr lang="en-US" sz="1250" dirty="0">
                <a:solidFill>
                  <a:srgbClr val="44506A"/>
                </a:solidFill>
                <a:latin typeface="Calibri" pitchFamily="34" charset="0"/>
                <a:ea typeface="Calibri" pitchFamily="34" charset="-122"/>
                <a:cs typeface="Calibri" pitchFamily="34" charset="-120"/>
              </a:rPr>
              <a:t>162 cards and 36 banks in our catalogue</a:t>
            </a:r>
            <a:endParaRPr lang="en-US" sz="1250" dirty="0"/>
          </a:p>
        </p:txBody>
      </p:sp>
      <p:sp>
        <p:nvSpPr>
          <p:cNvPr id="8" name="Shape 6"/>
          <p:cNvSpPr/>
          <p:nvPr/>
        </p:nvSpPr>
        <p:spPr>
          <a:xfrm>
            <a:off x="6172200" y="2286000"/>
            <a:ext cx="5376672" cy="3383280"/>
          </a:xfrm>
          <a:prstGeom prst="roundRect">
            <a:avLst>
              <a:gd name="adj" fmla="val 2703"/>
            </a:avLst>
          </a:prstGeom>
          <a:solidFill>
            <a:srgbClr val="F1ECE4"/>
          </a:solidFill>
          <a:ln w="9525">
            <a:solidFill>
              <a:srgbClr val="E7E0D4"/>
            </a:solidFill>
            <a:prstDash val="solid"/>
          </a:ln>
          <a:effectLst>
            <a:outerShdw blurRad="101600" dist="12700" dir="5400000" algn="bl" rotWithShape="0">
              <a:srgbClr val="B9AE9C">
                <a:alpha val="18000"/>
              </a:srgbClr>
            </a:outerShdw>
          </a:effectLst>
        </p:spPr>
      </p:sp>
      <p:sp>
        <p:nvSpPr>
          <p:cNvPr id="9" name="Text 7"/>
          <p:cNvSpPr/>
          <p:nvPr/>
        </p:nvSpPr>
        <p:spPr>
          <a:xfrm>
            <a:off x="6492240" y="2542032"/>
            <a:ext cx="4754880" cy="365760"/>
          </a:xfrm>
          <a:prstGeom prst="rect">
            <a:avLst/>
          </a:prstGeom>
          <a:noFill/>
          <a:ln/>
        </p:spPr>
        <p:txBody>
          <a:bodyPr wrap="square" lIns="0" tIns="0" rIns="0" bIns="0" rtlCol="0" anchor="ctr"/>
          <a:lstStyle/>
          <a:p>
            <a:pPr marL="0" indent="0">
              <a:buNone/>
            </a:pPr>
            <a:r>
              <a:rPr lang="en-US" sz="1700" b="1" dirty="0">
                <a:solidFill>
                  <a:srgbClr val="142335"/>
                </a:solidFill>
                <a:latin typeface="Cambria" pitchFamily="34" charset="0"/>
                <a:ea typeface="Cambria" pitchFamily="34" charset="-122"/>
                <a:cs typeface="Cambria" pitchFamily="34" charset="-120"/>
              </a:rPr>
              <a:t>Building toward</a:t>
            </a:r>
            <a:endParaRPr lang="en-US" sz="1700" dirty="0"/>
          </a:p>
        </p:txBody>
      </p:sp>
      <p:sp>
        <p:nvSpPr>
          <p:cNvPr id="10" name="Text 8"/>
          <p:cNvSpPr/>
          <p:nvPr/>
        </p:nvSpPr>
        <p:spPr>
          <a:xfrm>
            <a:off x="6492240" y="2971800"/>
            <a:ext cx="4754880" cy="155448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44506A"/>
                </a:solidFill>
                <a:latin typeface="Calibri" pitchFamily="34" charset="0"/>
                <a:ea typeface="Calibri" pitchFamily="34" charset="-122"/>
                <a:cs typeface="Calibri" pitchFamily="34" charset="-120"/>
              </a:rPr>
              <a:t>Corporate pilots — none signed to date</a:t>
            </a:r>
            <a:endParaRPr lang="en-US" sz="1250" dirty="0"/>
          </a:p>
          <a:p>
            <a:pPr marL="342900" indent="-342900">
              <a:spcAft>
                <a:spcPts val="900"/>
              </a:spcAft>
              <a:buSzPct val="100000"/>
              <a:buChar char="•"/>
            </a:pPr>
            <a:r>
              <a:rPr lang="en-US" sz="1250" dirty="0">
                <a:solidFill>
                  <a:srgbClr val="44506A"/>
                </a:solidFill>
                <a:latin typeface="Calibri" pitchFamily="34" charset="0"/>
                <a:ea typeface="Calibri" pitchFamily="34" charset="-122"/>
                <a:cs typeface="Calibri" pitchFamily="34" charset="-120"/>
              </a:rPr>
              <a:t>The points desk, staffed and operating</a:t>
            </a:r>
            <a:endParaRPr lang="en-US" sz="1250" dirty="0"/>
          </a:p>
          <a:p>
            <a:pPr marL="342900" indent="-342900">
              <a:spcAft>
                <a:spcPts val="900"/>
              </a:spcAft>
              <a:buSzPct val="100000"/>
              <a:buChar char="•"/>
            </a:pPr>
            <a:r>
              <a:rPr lang="en-US" sz="1250" dirty="0">
                <a:solidFill>
                  <a:srgbClr val="44506A"/>
                </a:solidFill>
                <a:latin typeface="Calibri" pitchFamily="34" charset="0"/>
                <a:ea typeface="Calibri" pitchFamily="34" charset="-122"/>
                <a:cs typeface="Calibri" pitchFamily="34" charset="-120"/>
              </a:rPr>
              <a:t>Per-issuer floor prices beyond HDFC</a:t>
            </a:r>
            <a:endParaRPr lang="en-US" sz="1250" dirty="0"/>
          </a:p>
          <a:p>
            <a:pPr marL="342900" indent="-342900">
              <a:spcAft>
                <a:spcPts val="900"/>
              </a:spcAft>
              <a:buSzPct val="100000"/>
              <a:buChar char="•"/>
            </a:pPr>
            <a:r>
              <a:rPr lang="en-US" sz="1250" dirty="0">
                <a:solidFill>
                  <a:srgbClr val="44506A"/>
                </a:solidFill>
                <a:latin typeface="Calibri" pitchFamily="34" charset="0"/>
                <a:ea typeface="Calibri" pitchFamily="34" charset="-122"/>
                <a:cs typeface="Calibri" pitchFamily="34" charset="-120"/>
              </a:rPr>
              <a:t>Employee consumer accounts as the flywheel</a:t>
            </a:r>
            <a:endParaRPr lang="en-US" sz="1250" dirty="0"/>
          </a:p>
        </p:txBody>
      </p:sp>
      <p:sp>
        <p:nvSpPr>
          <p:cNvPr id="11" name="Shape 9"/>
          <p:cNvSpPr/>
          <p:nvPr/>
        </p:nvSpPr>
        <p:spPr>
          <a:xfrm>
            <a:off x="6492240" y="5029200"/>
            <a:ext cx="3200400" cy="274320"/>
          </a:xfrm>
          <a:prstGeom prst="roundRect">
            <a:avLst>
              <a:gd name="adj" fmla="val 50000"/>
            </a:avLst>
          </a:prstGeom>
          <a:solidFill>
            <a:srgbClr val="FFFFFF"/>
          </a:solidFill>
          <a:ln w="9525">
            <a:solidFill>
              <a:srgbClr val="E7E0D4"/>
            </a:solidFill>
            <a:prstDash val="solid"/>
          </a:ln>
        </p:spPr>
      </p:sp>
      <p:sp>
        <p:nvSpPr>
          <p:cNvPr id="12" name="Text 10"/>
          <p:cNvSpPr/>
          <p:nvPr/>
        </p:nvSpPr>
        <p:spPr>
          <a:xfrm>
            <a:off x="6492240" y="5029200"/>
            <a:ext cx="3200400" cy="274320"/>
          </a:xfrm>
          <a:prstGeom prst="rect">
            <a:avLst/>
          </a:prstGeom>
          <a:noFill/>
          <a:ln/>
        </p:spPr>
        <p:txBody>
          <a:bodyPr wrap="square" lIns="0" tIns="0" rIns="0" bIns="0" rtlCol="0" anchor="ctr"/>
          <a:lstStyle/>
          <a:p>
            <a:pPr marL="0" indent="0" algn="ctr">
              <a:buNone/>
            </a:pPr>
            <a:r>
              <a:rPr lang="en-US" sz="950" b="1" dirty="0">
                <a:solidFill>
                  <a:srgbClr val="CA7344"/>
                </a:solidFill>
                <a:latin typeface="Calibri" pitchFamily="34" charset="0"/>
                <a:ea typeface="Calibri" pitchFamily="34" charset="-122"/>
                <a:cs typeface="Calibri" pitchFamily="34" charset="-120"/>
              </a:rPr>
              <a:t>Forward-looking · not booked revenue</a:t>
            </a:r>
            <a:endParaRPr lang="en-US" sz="950" dirty="0"/>
          </a:p>
        </p:txBody>
      </p:sp>
      <p:sp>
        <p:nvSpPr>
          <p:cNvPr id="13" name="Text 11"/>
          <p:cNvSpPr/>
          <p:nvPr/>
        </p:nvSpPr>
        <p:spPr>
          <a:xfrm>
            <a:off x="640080" y="6327648"/>
            <a:ext cx="7680960" cy="274320"/>
          </a:xfrm>
          <a:prstGeom prst="rect">
            <a:avLst/>
          </a:prstGeom>
          <a:noFill/>
          <a:ln/>
        </p:spPr>
        <p:txBody>
          <a:bodyPr wrap="square" lIns="0" tIns="0" rIns="0" bIns="0" rtlCol="0" anchor="ctr"/>
          <a:lstStyle/>
          <a:p>
            <a:pPr marL="0" indent="0">
              <a:buNone/>
            </a:pPr>
            <a:r>
              <a:rPr lang="en-US" sz="850" dirty="0">
                <a:solidFill>
                  <a:srgbClr val="6E7890"/>
                </a:solidFill>
                <a:latin typeface="Calibri" pitchFamily="34" charset="0"/>
                <a:ea typeface="Calibri" pitchFamily="34" charset="-122"/>
                <a:cs typeface="Calibri" pitchFamily="34" charset="-120"/>
              </a:rPr>
              <a:t>₹4 Cr of this raise funds India.</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640080" y="237744"/>
            <a:ext cx="10881360" cy="274320"/>
          </a:xfrm>
          <a:prstGeom prst="rect">
            <a:avLst/>
          </a:prstGeom>
          <a:noFill/>
          <a:ln/>
        </p:spPr>
        <p:txBody>
          <a:bodyPr wrap="square" lIns="0" tIns="0" rIns="0" bIns="0" rtlCol="0" anchor="b"/>
          <a:lstStyle/>
          <a:p>
            <a:pPr marL="0" indent="0">
              <a:buNone/>
            </a:pPr>
            <a:r>
              <a:rPr lang="en-US" sz="1100" b="1" kern="0" spc="200" dirty="0">
                <a:solidFill>
                  <a:srgbClr val="8C5F12"/>
                </a:solidFill>
                <a:latin typeface="Calibri" pitchFamily="34" charset="0"/>
                <a:ea typeface="Calibri" pitchFamily="34" charset="-122"/>
                <a:cs typeface="Calibri" pitchFamily="34" charset="-120"/>
              </a:rPr>
              <a:t>MARKET 2 OF 4 · WHERE THE DUBAI ENTITY EARNS ITS KEEP</a:t>
            </a:r>
            <a:endParaRPr lang="en-US" sz="1100" dirty="0"/>
          </a:p>
        </p:txBody>
      </p:sp>
      <p:sp>
        <p:nvSpPr>
          <p:cNvPr id="3" name="Text 1"/>
          <p:cNvSpPr/>
          <p:nvPr/>
        </p:nvSpPr>
        <p:spPr>
          <a:xfrm>
            <a:off x="640080" y="566928"/>
            <a:ext cx="10881360" cy="777240"/>
          </a:xfrm>
          <a:prstGeom prst="rect">
            <a:avLst/>
          </a:prstGeom>
          <a:noFill/>
          <a:ln/>
        </p:spPr>
        <p:txBody>
          <a:bodyPr wrap="square" lIns="0" tIns="0" rIns="0" bIns="0" rtlCol="0" anchor="t"/>
          <a:lstStyle/>
          <a:p>
            <a:pPr marL="0" indent="0">
              <a:buNone/>
            </a:pPr>
            <a:r>
              <a:rPr lang="en-US" sz="3400" b="1" dirty="0">
                <a:solidFill>
                  <a:srgbClr val="142335"/>
                </a:solidFill>
                <a:latin typeface="Cambria" pitchFamily="34" charset="0"/>
                <a:ea typeface="Cambria" pitchFamily="34" charset="-122"/>
                <a:cs typeface="Cambria" pitchFamily="34" charset="-120"/>
              </a:rPr>
              <a:t>UAE — 4.3 million Indians, two shared airlines</a:t>
            </a:r>
            <a:endParaRPr lang="en-US" sz="3400" dirty="0"/>
          </a:p>
        </p:txBody>
      </p:sp>
      <p:sp>
        <p:nvSpPr>
          <p:cNvPr id="4" name="Text 2"/>
          <p:cNvSpPr/>
          <p:nvPr/>
        </p:nvSpPr>
        <p:spPr>
          <a:xfrm>
            <a:off x="640080" y="1371600"/>
            <a:ext cx="10058400" cy="457200"/>
          </a:xfrm>
          <a:prstGeom prst="rect">
            <a:avLst/>
          </a:prstGeom>
          <a:noFill/>
          <a:ln/>
        </p:spPr>
        <p:txBody>
          <a:bodyPr wrap="square" lIns="0" tIns="0" rIns="0" bIns="0" rtlCol="0" anchor="ctr"/>
          <a:lstStyle/>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An Indian expatriate in Dubai holds cards in both countries. Their points cannot be combined — but they</a:t>
            </a:r>
            <a:endParaRPr lang="en-US" sz="1500" dirty="0"/>
          </a:p>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can be pointed at the same airline programme, and flown home on the result.</a:t>
            </a:r>
            <a:endParaRPr lang="en-US" sz="1500" dirty="0"/>
          </a:p>
        </p:txBody>
      </p:sp>
      <p:sp>
        <p:nvSpPr>
          <p:cNvPr id="5" name="Shape 3"/>
          <p:cNvSpPr/>
          <p:nvPr/>
        </p:nvSpPr>
        <p:spPr>
          <a:xfrm>
            <a:off x="640080" y="2514600"/>
            <a:ext cx="3200400" cy="1371600"/>
          </a:xfrm>
          <a:prstGeom prst="roundRect">
            <a:avLst>
              <a:gd name="adj" fmla="val 6667"/>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6" name="Text 4"/>
          <p:cNvSpPr/>
          <p:nvPr/>
        </p:nvSpPr>
        <p:spPr>
          <a:xfrm>
            <a:off x="914400" y="2697480"/>
            <a:ext cx="2651760" cy="548640"/>
          </a:xfrm>
          <a:prstGeom prst="rect">
            <a:avLst/>
          </a:prstGeom>
          <a:noFill/>
          <a:ln/>
        </p:spPr>
        <p:txBody>
          <a:bodyPr wrap="square" lIns="0" tIns="0" rIns="0" bIns="0" rtlCol="0" anchor="ctr"/>
          <a:lstStyle/>
          <a:p>
            <a:pPr marL="0" indent="0">
              <a:buNone/>
            </a:pPr>
            <a:r>
              <a:rPr lang="en-US" sz="3000" b="1" dirty="0">
                <a:solidFill>
                  <a:srgbClr val="142335"/>
                </a:solidFill>
                <a:latin typeface="Cambria" pitchFamily="34" charset="0"/>
                <a:ea typeface="Cambria" pitchFamily="34" charset="-122"/>
                <a:cs typeface="Cambria" pitchFamily="34" charset="-120"/>
              </a:rPr>
              <a:t>4,344,008</a:t>
            </a:r>
            <a:endParaRPr lang="en-US" sz="3000" dirty="0"/>
          </a:p>
        </p:txBody>
      </p:sp>
      <p:sp>
        <p:nvSpPr>
          <p:cNvPr id="7" name="Text 5"/>
          <p:cNvSpPr/>
          <p:nvPr/>
        </p:nvSpPr>
        <p:spPr>
          <a:xfrm>
            <a:off x="914400" y="3218688"/>
            <a:ext cx="2651760" cy="566928"/>
          </a:xfrm>
          <a:prstGeom prst="rect">
            <a:avLst/>
          </a:prstGeom>
          <a:noFill/>
          <a:ln/>
        </p:spPr>
        <p:txBody>
          <a:bodyPr wrap="square" lIns="0" tIns="0" rIns="0" bIns="0" rtlCol="0" anchor="ctr"/>
          <a:lstStyle/>
          <a:p>
            <a:pPr marL="0" indent="0">
              <a:lnSpc>
                <a:spcPts val="1400"/>
              </a:lnSpc>
              <a:buNone/>
            </a:pPr>
            <a:r>
              <a:rPr lang="en-US" sz="1050" dirty="0">
                <a:solidFill>
                  <a:srgbClr val="6E7890"/>
                </a:solidFill>
                <a:latin typeface="Calibri" pitchFamily="34" charset="0"/>
                <a:ea typeface="Calibri" pitchFamily="34" charset="-122"/>
                <a:cs typeface="Calibri" pitchFamily="34" charset="-120"/>
              </a:rPr>
              <a:t>overseas Indians in the UAE</a:t>
            </a:r>
            <a:endParaRPr lang="en-US" sz="1050" dirty="0"/>
          </a:p>
          <a:p>
            <a:pPr marL="0" indent="0">
              <a:lnSpc>
                <a:spcPts val="1400"/>
              </a:lnSpc>
              <a:buNone/>
            </a:pPr>
            <a:r>
              <a:rPr lang="en-US" sz="1050" dirty="0">
                <a:solidFill>
                  <a:srgbClr val="6E7890"/>
                </a:solidFill>
                <a:latin typeface="Calibri" pitchFamily="34" charset="0"/>
                <a:ea typeface="Calibri" pitchFamily="34" charset="-122"/>
                <a:cs typeface="Calibri" pitchFamily="34" charset="-120"/>
              </a:rPr>
              <a:t>Ministry of External Affairs, Jan 2026</a:t>
            </a:r>
            <a:endParaRPr lang="en-US" sz="1050" dirty="0"/>
          </a:p>
        </p:txBody>
      </p:sp>
      <p:sp>
        <p:nvSpPr>
          <p:cNvPr id="8" name="Shape 6"/>
          <p:cNvSpPr/>
          <p:nvPr/>
        </p:nvSpPr>
        <p:spPr>
          <a:xfrm>
            <a:off x="4069080" y="2514600"/>
            <a:ext cx="7479792" cy="1371600"/>
          </a:xfrm>
          <a:prstGeom prst="roundRect">
            <a:avLst>
              <a:gd name="adj" fmla="val 6667"/>
            </a:avLst>
          </a:prstGeom>
          <a:solidFill>
            <a:srgbClr val="F1ECE4"/>
          </a:solidFill>
          <a:ln w="9525">
            <a:solidFill>
              <a:srgbClr val="E7E0D4"/>
            </a:solidFill>
            <a:prstDash val="solid"/>
          </a:ln>
          <a:effectLst>
            <a:outerShdw blurRad="101600" dist="12700" dir="5400000" algn="bl" rotWithShape="0">
              <a:srgbClr val="B9AE9C">
                <a:alpha val="18000"/>
              </a:srgbClr>
            </a:outerShdw>
          </a:effectLst>
        </p:spPr>
      </p:sp>
      <p:sp>
        <p:nvSpPr>
          <p:cNvPr id="9" name="Text 7"/>
          <p:cNvSpPr/>
          <p:nvPr/>
        </p:nvSpPr>
        <p:spPr>
          <a:xfrm>
            <a:off x="4389120" y="2514600"/>
            <a:ext cx="6858000" cy="1371600"/>
          </a:xfrm>
          <a:prstGeom prst="rect">
            <a:avLst/>
          </a:prstGeom>
          <a:noFill/>
          <a:ln/>
        </p:spPr>
        <p:txBody>
          <a:bodyPr wrap="square" lIns="0" tIns="0" rIns="0" bIns="0" rtlCol="0" anchor="ctr"/>
          <a:lstStyle/>
          <a:p>
            <a:pPr marL="0" indent="0">
              <a:lnSpc>
                <a:spcPts val="1700"/>
              </a:lnSpc>
              <a:buNone/>
            </a:pPr>
            <a:r>
              <a:rPr lang="en-US" sz="1250" dirty="0">
                <a:solidFill>
                  <a:srgbClr val="142335"/>
                </a:solidFill>
                <a:latin typeface="Calibri" pitchFamily="34" charset="0"/>
                <a:ea typeface="Calibri" pitchFamily="34" charset="-122"/>
                <a:cs typeface="Calibri" pitchFamily="34" charset="-120"/>
              </a:rPr>
              <a:t>Points cannot be pooled across an Indian and a UAE issuer — both sides say so in their own terms. What is real is convergence, and it is verified on both sides for exactly two programmes.</a:t>
            </a:r>
            <a:endParaRPr lang="en-US" sz="1250" dirty="0"/>
          </a:p>
        </p:txBody>
      </p:sp>
      <p:sp>
        <p:nvSpPr>
          <p:cNvPr id="10" name="Shape 8"/>
          <p:cNvSpPr/>
          <p:nvPr/>
        </p:nvSpPr>
        <p:spPr>
          <a:xfrm>
            <a:off x="640080" y="4069080"/>
            <a:ext cx="5394960" cy="1234440"/>
          </a:xfrm>
          <a:prstGeom prst="roundRect">
            <a:avLst>
              <a:gd name="adj" fmla="val 7407"/>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1" name="Text 9"/>
          <p:cNvSpPr/>
          <p:nvPr/>
        </p:nvSpPr>
        <p:spPr>
          <a:xfrm>
            <a:off x="960120" y="4224528"/>
            <a:ext cx="4754880" cy="365760"/>
          </a:xfrm>
          <a:prstGeom prst="rect">
            <a:avLst/>
          </a:prstGeom>
          <a:noFill/>
          <a:ln/>
        </p:spPr>
        <p:txBody>
          <a:bodyPr wrap="square" lIns="0" tIns="0" rIns="0" bIns="0" rtlCol="0" anchor="ctr"/>
          <a:lstStyle/>
          <a:p>
            <a:pPr marL="0" indent="0">
              <a:buNone/>
            </a:pPr>
            <a:r>
              <a:rPr lang="en-US" sz="1600" b="1" dirty="0">
                <a:solidFill>
                  <a:srgbClr val="8C5F12"/>
                </a:solidFill>
                <a:latin typeface="Cambria" pitchFamily="34" charset="0"/>
                <a:ea typeface="Cambria" pitchFamily="34" charset="-122"/>
                <a:cs typeface="Cambria" pitchFamily="34" charset="-120"/>
              </a:rPr>
              <a:t>Emirates Skywards</a:t>
            </a:r>
            <a:endParaRPr lang="en-US" sz="1600" dirty="0"/>
          </a:p>
        </p:txBody>
      </p:sp>
      <p:sp>
        <p:nvSpPr>
          <p:cNvPr id="12" name="Text 10"/>
          <p:cNvSpPr/>
          <p:nvPr/>
        </p:nvSpPr>
        <p:spPr>
          <a:xfrm>
            <a:off x="960120" y="4599432"/>
            <a:ext cx="4754880" cy="274320"/>
          </a:xfrm>
          <a:prstGeom prst="rect">
            <a:avLst/>
          </a:prstGeom>
          <a:noFill/>
          <a:ln/>
        </p:spPr>
        <p:txBody>
          <a:bodyPr wrap="square" lIns="0" tIns="0" rIns="0" bIns="0" rtlCol="0" anchor="ctr"/>
          <a:lstStyle/>
          <a:p>
            <a:pPr marL="0" indent="0">
              <a:buNone/>
            </a:pPr>
            <a:r>
              <a:rPr lang="en-US" sz="1150" dirty="0">
                <a:solidFill>
                  <a:srgbClr val="44506A"/>
                </a:solidFill>
                <a:latin typeface="Calibri" pitchFamily="34" charset="0"/>
                <a:ea typeface="Calibri" pitchFamily="34" charset="-122"/>
                <a:cs typeface="Calibri" pitchFamily="34" charset="-120"/>
              </a:rPr>
              <a:t>UAE side · Emirates NBD Skywards cards</a:t>
            </a:r>
            <a:endParaRPr lang="en-US" sz="1150" dirty="0"/>
          </a:p>
        </p:txBody>
      </p:sp>
      <p:sp>
        <p:nvSpPr>
          <p:cNvPr id="13" name="Text 11"/>
          <p:cNvSpPr/>
          <p:nvPr/>
        </p:nvSpPr>
        <p:spPr>
          <a:xfrm>
            <a:off x="960120" y="4873752"/>
            <a:ext cx="4754880" cy="274320"/>
          </a:xfrm>
          <a:prstGeom prst="rect">
            <a:avLst/>
          </a:prstGeom>
          <a:noFill/>
          <a:ln/>
        </p:spPr>
        <p:txBody>
          <a:bodyPr wrap="square" lIns="0" tIns="0" rIns="0" bIns="0" rtlCol="0" anchor="ctr"/>
          <a:lstStyle/>
          <a:p>
            <a:pPr marL="0" indent="0">
              <a:buNone/>
            </a:pPr>
            <a:r>
              <a:rPr lang="en-US" sz="1150" dirty="0">
                <a:solidFill>
                  <a:srgbClr val="44506A"/>
                </a:solidFill>
                <a:latin typeface="Calibri" pitchFamily="34" charset="0"/>
                <a:ea typeface="Calibri" pitchFamily="34" charset="-122"/>
                <a:cs typeface="Calibri" pitchFamily="34" charset="-120"/>
              </a:rPr>
              <a:t>India side · ICICI Emirates co-brand</a:t>
            </a:r>
            <a:endParaRPr lang="en-US" sz="1150" dirty="0"/>
          </a:p>
        </p:txBody>
      </p:sp>
      <p:sp>
        <p:nvSpPr>
          <p:cNvPr id="14" name="Shape 12"/>
          <p:cNvSpPr/>
          <p:nvPr/>
        </p:nvSpPr>
        <p:spPr>
          <a:xfrm>
            <a:off x="6153912" y="4069080"/>
            <a:ext cx="5394960" cy="1234440"/>
          </a:xfrm>
          <a:prstGeom prst="roundRect">
            <a:avLst>
              <a:gd name="adj" fmla="val 7407"/>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5" name="Text 13"/>
          <p:cNvSpPr/>
          <p:nvPr/>
        </p:nvSpPr>
        <p:spPr>
          <a:xfrm>
            <a:off x="6473952" y="4224528"/>
            <a:ext cx="4754880" cy="365760"/>
          </a:xfrm>
          <a:prstGeom prst="rect">
            <a:avLst/>
          </a:prstGeom>
          <a:noFill/>
          <a:ln/>
        </p:spPr>
        <p:txBody>
          <a:bodyPr wrap="square" lIns="0" tIns="0" rIns="0" bIns="0" rtlCol="0" anchor="ctr"/>
          <a:lstStyle/>
          <a:p>
            <a:pPr marL="0" indent="0">
              <a:buNone/>
            </a:pPr>
            <a:r>
              <a:rPr lang="en-US" sz="1600" b="1" dirty="0">
                <a:solidFill>
                  <a:srgbClr val="8C5F12"/>
                </a:solidFill>
                <a:latin typeface="Cambria" pitchFamily="34" charset="0"/>
                <a:ea typeface="Cambria" pitchFamily="34" charset="-122"/>
                <a:cs typeface="Cambria" pitchFamily="34" charset="-120"/>
              </a:rPr>
              <a:t>Etihad Guest</a:t>
            </a:r>
            <a:endParaRPr lang="en-US" sz="1600" dirty="0"/>
          </a:p>
        </p:txBody>
      </p:sp>
      <p:sp>
        <p:nvSpPr>
          <p:cNvPr id="16" name="Text 14"/>
          <p:cNvSpPr/>
          <p:nvPr/>
        </p:nvSpPr>
        <p:spPr>
          <a:xfrm>
            <a:off x="6473952" y="4599432"/>
            <a:ext cx="4754880" cy="274320"/>
          </a:xfrm>
          <a:prstGeom prst="rect">
            <a:avLst/>
          </a:prstGeom>
          <a:noFill/>
          <a:ln/>
        </p:spPr>
        <p:txBody>
          <a:bodyPr wrap="square" lIns="0" tIns="0" rIns="0" bIns="0" rtlCol="0" anchor="ctr"/>
          <a:lstStyle/>
          <a:p>
            <a:pPr marL="0" indent="0">
              <a:buNone/>
            </a:pPr>
            <a:r>
              <a:rPr lang="en-US" sz="1150" dirty="0">
                <a:solidFill>
                  <a:srgbClr val="44506A"/>
                </a:solidFill>
                <a:latin typeface="Calibri" pitchFamily="34" charset="0"/>
                <a:ea typeface="Calibri" pitchFamily="34" charset="-122"/>
                <a:cs typeface="Calibri" pitchFamily="34" charset="-120"/>
              </a:rPr>
              <a:t>UAE side · Emirates NBD Etihad cards</a:t>
            </a:r>
            <a:endParaRPr lang="en-US" sz="1150" dirty="0"/>
          </a:p>
        </p:txBody>
      </p:sp>
      <p:sp>
        <p:nvSpPr>
          <p:cNvPr id="17" name="Text 15"/>
          <p:cNvSpPr/>
          <p:nvPr/>
        </p:nvSpPr>
        <p:spPr>
          <a:xfrm>
            <a:off x="6473952" y="4873752"/>
            <a:ext cx="4754880" cy="274320"/>
          </a:xfrm>
          <a:prstGeom prst="rect">
            <a:avLst/>
          </a:prstGeom>
          <a:noFill/>
          <a:ln/>
        </p:spPr>
        <p:txBody>
          <a:bodyPr wrap="square" lIns="0" tIns="0" rIns="0" bIns="0" rtlCol="0" anchor="ctr"/>
          <a:lstStyle/>
          <a:p>
            <a:pPr marL="0" indent="0">
              <a:buNone/>
            </a:pPr>
            <a:r>
              <a:rPr lang="en-US" sz="1150" dirty="0">
                <a:solidFill>
                  <a:srgbClr val="44506A"/>
                </a:solidFill>
                <a:latin typeface="Calibri" pitchFamily="34" charset="0"/>
                <a:ea typeface="Calibri" pitchFamily="34" charset="-122"/>
                <a:cs typeface="Calibri" pitchFamily="34" charset="-120"/>
              </a:rPr>
              <a:t>India side · HDFC, on Etihad's own partner page</a:t>
            </a:r>
            <a:endParaRPr lang="en-US" sz="1150" dirty="0"/>
          </a:p>
        </p:txBody>
      </p:sp>
      <p:sp>
        <p:nvSpPr>
          <p:cNvPr id="18" name="Shape 16"/>
          <p:cNvSpPr/>
          <p:nvPr/>
        </p:nvSpPr>
        <p:spPr>
          <a:xfrm>
            <a:off x="640080" y="5440680"/>
            <a:ext cx="10908792" cy="658368"/>
          </a:xfrm>
          <a:prstGeom prst="roundRect">
            <a:avLst>
              <a:gd name="adj" fmla="val 13889"/>
            </a:avLst>
          </a:prstGeom>
          <a:solidFill>
            <a:srgbClr val="142335"/>
          </a:solidFill>
          <a:ln w="9525">
            <a:solidFill>
              <a:srgbClr val="142335"/>
            </a:solidFill>
            <a:prstDash val="solid"/>
          </a:ln>
          <a:effectLst>
            <a:outerShdw blurRad="101600" dist="12700" dir="5400000" algn="bl" rotWithShape="0">
              <a:srgbClr val="B9AE9C">
                <a:alpha val="18000"/>
              </a:srgbClr>
            </a:outerShdw>
          </a:effectLst>
        </p:spPr>
      </p:sp>
      <p:sp>
        <p:nvSpPr>
          <p:cNvPr id="19" name="Text 17"/>
          <p:cNvSpPr/>
          <p:nvPr/>
        </p:nvSpPr>
        <p:spPr>
          <a:xfrm>
            <a:off x="960120" y="5440680"/>
            <a:ext cx="10241280" cy="65836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Corporate points transfer here too: Emirates NBD Business Rewards redeem directly for Emirates flights, any fare, any class.</a:t>
            </a:r>
            <a:endParaRPr lang="en-US" sz="1200" dirty="0"/>
          </a:p>
        </p:txBody>
      </p:sp>
      <p:sp>
        <p:nvSpPr>
          <p:cNvPr id="20" name="Text 18"/>
          <p:cNvSpPr/>
          <p:nvPr/>
        </p:nvSpPr>
        <p:spPr>
          <a:xfrm>
            <a:off x="640080" y="6327648"/>
            <a:ext cx="7680960" cy="274320"/>
          </a:xfrm>
          <a:prstGeom prst="rect">
            <a:avLst/>
          </a:prstGeom>
          <a:noFill/>
          <a:ln/>
        </p:spPr>
        <p:txBody>
          <a:bodyPr wrap="square" lIns="0" tIns="0" rIns="0" bIns="0" rtlCol="0" anchor="ctr"/>
          <a:lstStyle/>
          <a:p>
            <a:pPr marL="0" indent="0">
              <a:buNone/>
            </a:pPr>
            <a:r>
              <a:rPr lang="en-US" sz="850" dirty="0">
                <a:solidFill>
                  <a:srgbClr val="6E7890"/>
                </a:solidFill>
                <a:latin typeface="Calibri" pitchFamily="34" charset="0"/>
                <a:ea typeface="Calibri" pitchFamily="34" charset="-122"/>
                <a:cs typeface="Calibri" pitchFamily="34" charset="-120"/>
              </a:rPr>
              <a:t>Card penetration among UAE expatriates is not published by any primary source — we do not claim a figure.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640080" y="237744"/>
            <a:ext cx="10881360" cy="274320"/>
          </a:xfrm>
          <a:prstGeom prst="rect">
            <a:avLst/>
          </a:prstGeom>
          <a:noFill/>
          <a:ln/>
        </p:spPr>
        <p:txBody>
          <a:bodyPr wrap="square" lIns="0" tIns="0" rIns="0" bIns="0" rtlCol="0" anchor="b"/>
          <a:lstStyle/>
          <a:p>
            <a:pPr marL="0" indent="0">
              <a:buNone/>
            </a:pPr>
            <a:r>
              <a:rPr lang="en-US" sz="1100" b="1" kern="0" spc="200" dirty="0">
                <a:solidFill>
                  <a:srgbClr val="8C5F12"/>
                </a:solidFill>
                <a:latin typeface="Calibri" pitchFamily="34" charset="0"/>
                <a:ea typeface="Calibri" pitchFamily="34" charset="-122"/>
                <a:cs typeface="Calibri" pitchFamily="34" charset="-120"/>
              </a:rPr>
              <a:t>MARKETS 3 AND 4</a:t>
            </a:r>
            <a:endParaRPr lang="en-US" sz="1100" dirty="0"/>
          </a:p>
        </p:txBody>
      </p:sp>
      <p:sp>
        <p:nvSpPr>
          <p:cNvPr id="3" name="Text 1"/>
          <p:cNvSpPr/>
          <p:nvPr/>
        </p:nvSpPr>
        <p:spPr>
          <a:xfrm>
            <a:off x="640080" y="566928"/>
            <a:ext cx="10881360" cy="777240"/>
          </a:xfrm>
          <a:prstGeom prst="rect">
            <a:avLst/>
          </a:prstGeom>
          <a:noFill/>
          <a:ln/>
        </p:spPr>
        <p:txBody>
          <a:bodyPr wrap="square" lIns="0" tIns="0" rIns="0" bIns="0" rtlCol="0" anchor="t"/>
          <a:lstStyle/>
          <a:p>
            <a:pPr marL="0" indent="0">
              <a:buNone/>
            </a:pPr>
            <a:r>
              <a:rPr lang="en-US" sz="3400" b="1" dirty="0">
                <a:solidFill>
                  <a:srgbClr val="142335"/>
                </a:solidFill>
                <a:latin typeface="Cambria" pitchFamily="34" charset="0"/>
                <a:ea typeface="Cambria" pitchFamily="34" charset="-122"/>
                <a:cs typeface="Cambria" pitchFamily="34" charset="-120"/>
              </a:rPr>
              <a:t>Singapore and Malaysia — enter on the corporate side</a:t>
            </a:r>
            <a:endParaRPr lang="en-US" sz="3400" dirty="0"/>
          </a:p>
        </p:txBody>
      </p:sp>
      <p:sp>
        <p:nvSpPr>
          <p:cNvPr id="4" name="Text 2"/>
          <p:cNvSpPr/>
          <p:nvPr/>
        </p:nvSpPr>
        <p:spPr>
          <a:xfrm>
            <a:off x="640080" y="1371600"/>
            <a:ext cx="10058400" cy="457200"/>
          </a:xfrm>
          <a:prstGeom prst="rect">
            <a:avLst/>
          </a:prstGeom>
          <a:noFill/>
          <a:ln/>
        </p:spPr>
        <p:txBody>
          <a:bodyPr wrap="square" lIns="0" tIns="0" rIns="0" bIns="0" rtlCol="0" anchor="ctr"/>
          <a:lstStyle/>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Both have deep card bases and confirmed corporate transfer paths. Singapore's consumer layer is already</a:t>
            </a:r>
            <a:endParaRPr lang="en-US" sz="1500" dirty="0"/>
          </a:p>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free, which tells us exactly where not to compete.</a:t>
            </a:r>
            <a:endParaRPr lang="en-US" sz="1500" dirty="0"/>
          </a:p>
        </p:txBody>
      </p:sp>
      <p:sp>
        <p:nvSpPr>
          <p:cNvPr id="5" name="Shape 3"/>
          <p:cNvSpPr/>
          <p:nvPr/>
        </p:nvSpPr>
        <p:spPr>
          <a:xfrm>
            <a:off x="640080" y="2331720"/>
            <a:ext cx="5394960" cy="3383280"/>
          </a:xfrm>
          <a:prstGeom prst="roundRect">
            <a:avLst>
              <a:gd name="adj" fmla="val 2703"/>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6" name="Text 4"/>
          <p:cNvSpPr/>
          <p:nvPr/>
        </p:nvSpPr>
        <p:spPr>
          <a:xfrm>
            <a:off x="960120" y="2560320"/>
            <a:ext cx="4754880" cy="411480"/>
          </a:xfrm>
          <a:prstGeom prst="rect">
            <a:avLst/>
          </a:prstGeom>
          <a:noFill/>
          <a:ln/>
        </p:spPr>
        <p:txBody>
          <a:bodyPr wrap="square" lIns="0" tIns="0" rIns="0" bIns="0" rtlCol="0" anchor="ctr"/>
          <a:lstStyle/>
          <a:p>
            <a:pPr marL="0" indent="0">
              <a:buNone/>
            </a:pPr>
            <a:r>
              <a:rPr lang="en-US" sz="2000" b="1" dirty="0">
                <a:solidFill>
                  <a:srgbClr val="142335"/>
                </a:solidFill>
                <a:latin typeface="Cambria" pitchFamily="34" charset="0"/>
                <a:ea typeface="Cambria" pitchFamily="34" charset="-122"/>
                <a:cs typeface="Cambria" pitchFamily="34" charset="-120"/>
              </a:rPr>
              <a:t>Singapore</a:t>
            </a:r>
            <a:endParaRPr lang="en-US" sz="2000" dirty="0"/>
          </a:p>
        </p:txBody>
      </p:sp>
      <p:sp>
        <p:nvSpPr>
          <p:cNvPr id="7" name="Text 5"/>
          <p:cNvSpPr/>
          <p:nvPr/>
        </p:nvSpPr>
        <p:spPr>
          <a:xfrm>
            <a:off x="960120" y="3017520"/>
            <a:ext cx="4754880" cy="548640"/>
          </a:xfrm>
          <a:prstGeom prst="rect">
            <a:avLst/>
          </a:prstGeom>
          <a:noFill/>
          <a:ln/>
        </p:spPr>
        <p:txBody>
          <a:bodyPr wrap="square" lIns="0" tIns="0" rIns="0" bIns="0" rtlCol="0" anchor="ctr"/>
          <a:lstStyle/>
          <a:p>
            <a:pPr marL="0" indent="0">
              <a:buNone/>
            </a:pPr>
            <a:r>
              <a:rPr lang="en-US" sz="2700" b="1" dirty="0">
                <a:solidFill>
                  <a:srgbClr val="8C5F12"/>
                </a:solidFill>
                <a:latin typeface="Cambria" pitchFamily="34" charset="0"/>
                <a:ea typeface="Cambria" pitchFamily="34" charset="-122"/>
                <a:cs typeface="Cambria" pitchFamily="34" charset="-120"/>
              </a:rPr>
              <a:t>7.04 million</a:t>
            </a:r>
            <a:endParaRPr lang="en-US" sz="2700" dirty="0"/>
          </a:p>
        </p:txBody>
      </p:sp>
      <p:sp>
        <p:nvSpPr>
          <p:cNvPr id="8" name="Text 6"/>
          <p:cNvSpPr/>
          <p:nvPr/>
        </p:nvSpPr>
        <p:spPr>
          <a:xfrm>
            <a:off x="960120" y="3566160"/>
            <a:ext cx="4754880" cy="457200"/>
          </a:xfrm>
          <a:prstGeom prst="rect">
            <a:avLst/>
          </a:prstGeom>
          <a:noFill/>
          <a:ln/>
        </p:spPr>
        <p:txBody>
          <a:bodyPr wrap="square" lIns="0" tIns="0" rIns="0" bIns="0" rtlCol="0" anchor="ctr"/>
          <a:lstStyle/>
          <a:p>
            <a:pPr marL="0" indent="0">
              <a:lnSpc>
                <a:spcPts val="1400"/>
              </a:lnSpc>
              <a:buNone/>
            </a:pPr>
            <a:r>
              <a:rPr lang="en-US" sz="1100" dirty="0">
                <a:solidFill>
                  <a:srgbClr val="6E7890"/>
                </a:solidFill>
                <a:latin typeface="Calibri" pitchFamily="34" charset="0"/>
                <a:ea typeface="Calibri" pitchFamily="34" charset="-122"/>
                <a:cs typeface="Calibri" pitchFamily="34" charset="-120"/>
              </a:rPr>
              <a:t>cardholders — 6.17m principal plus 0.87m supplementary, Q1 2026 (MAS)</a:t>
            </a:r>
            <a:endParaRPr lang="en-US" sz="1100" dirty="0"/>
          </a:p>
        </p:txBody>
      </p:sp>
      <p:sp>
        <p:nvSpPr>
          <p:cNvPr id="9" name="Text 7"/>
          <p:cNvSpPr/>
          <p:nvPr/>
        </p:nvSpPr>
        <p:spPr>
          <a:xfrm>
            <a:off x="960120" y="4069080"/>
            <a:ext cx="4754880" cy="146304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44506A"/>
                </a:solidFill>
                <a:latin typeface="Calibri" pitchFamily="34" charset="0"/>
                <a:ea typeface="Calibri" pitchFamily="34" charset="-122"/>
                <a:cs typeface="Calibri" pitchFamily="34" charset="-120"/>
              </a:rPr>
              <a:t>KrisFlyer is the hub — DBS and UOB at 1 point to 2 miles</a:t>
            </a:r>
            <a:endParaRPr lang="en-US" sz="1150" dirty="0"/>
          </a:p>
          <a:p>
            <a:pPr marL="342900" indent="-342900">
              <a:spcAft>
                <a:spcPts val="700"/>
              </a:spcAft>
              <a:buSzPct val="100000"/>
              <a:buChar char="•"/>
            </a:pPr>
            <a:r>
              <a:rPr lang="en-US" sz="1150" dirty="0">
                <a:solidFill>
                  <a:srgbClr val="44506A"/>
                </a:solidFill>
                <a:latin typeface="Calibri" pitchFamily="34" charset="0"/>
                <a:ea typeface="Calibri" pitchFamily="34" charset="-122"/>
                <a:cs typeface="Calibri" pitchFamily="34" charset="-120"/>
              </a:rPr>
              <a:t>DBS World Business Card converts to air miles</a:t>
            </a:r>
            <a:endParaRPr lang="en-US" sz="1150" dirty="0"/>
          </a:p>
          <a:p>
            <a:pPr marL="342900" indent="-342900">
              <a:spcAft>
                <a:spcPts val="700"/>
              </a:spcAft>
              <a:buSzPct val="100000"/>
              <a:buChar char="•"/>
            </a:pPr>
            <a:r>
              <a:rPr lang="en-US" sz="1150" dirty="0">
                <a:solidFill>
                  <a:srgbClr val="44506A"/>
                </a:solidFill>
                <a:latin typeface="Calibri" pitchFamily="34" charset="0"/>
                <a:ea typeface="Calibri" pitchFamily="34" charset="-122"/>
                <a:cs typeface="Calibri" pitchFamily="34" charset="-120"/>
              </a:rPr>
              <a:t>Amex Singapore Corporate transfers to KrisFlyer</a:t>
            </a:r>
            <a:endParaRPr lang="en-US" sz="1150" dirty="0"/>
          </a:p>
          <a:p>
            <a:pPr marL="342900" indent="-342900">
              <a:spcAft>
                <a:spcPts val="700"/>
              </a:spcAft>
              <a:buSzPct val="100000"/>
              <a:buChar char="•"/>
            </a:pPr>
            <a:r>
              <a:rPr lang="en-US" sz="1150" dirty="0">
                <a:solidFill>
                  <a:srgbClr val="44506A"/>
                </a:solidFill>
                <a:latin typeface="Calibri" pitchFamily="34" charset="0"/>
                <a:ea typeface="Calibri" pitchFamily="34" charset="-122"/>
                <a:cs typeface="Calibri" pitchFamily="34" charset="-120"/>
              </a:rPr>
              <a:t>HSBC excludes corporate cards from rewards entirely</a:t>
            </a:r>
            <a:endParaRPr lang="en-US" sz="1150" dirty="0"/>
          </a:p>
        </p:txBody>
      </p:sp>
      <p:sp>
        <p:nvSpPr>
          <p:cNvPr id="10" name="Shape 8"/>
          <p:cNvSpPr/>
          <p:nvPr/>
        </p:nvSpPr>
        <p:spPr>
          <a:xfrm>
            <a:off x="6172200" y="2331720"/>
            <a:ext cx="5376672" cy="3383280"/>
          </a:xfrm>
          <a:prstGeom prst="roundRect">
            <a:avLst>
              <a:gd name="adj" fmla="val 2703"/>
            </a:avLst>
          </a:prstGeom>
          <a:solidFill>
            <a:srgbClr val="F1ECE4"/>
          </a:solidFill>
          <a:ln w="9525">
            <a:solidFill>
              <a:srgbClr val="E7E0D4"/>
            </a:solidFill>
            <a:prstDash val="solid"/>
          </a:ln>
          <a:effectLst>
            <a:outerShdw blurRad="101600" dist="12700" dir="5400000" algn="bl" rotWithShape="0">
              <a:srgbClr val="B9AE9C">
                <a:alpha val="18000"/>
              </a:srgbClr>
            </a:outerShdw>
          </a:effectLst>
        </p:spPr>
      </p:sp>
      <p:sp>
        <p:nvSpPr>
          <p:cNvPr id="11" name="Text 9"/>
          <p:cNvSpPr/>
          <p:nvPr/>
        </p:nvSpPr>
        <p:spPr>
          <a:xfrm>
            <a:off x="6492240" y="2560320"/>
            <a:ext cx="4754880" cy="411480"/>
          </a:xfrm>
          <a:prstGeom prst="rect">
            <a:avLst/>
          </a:prstGeom>
          <a:noFill/>
          <a:ln/>
        </p:spPr>
        <p:txBody>
          <a:bodyPr wrap="square" lIns="0" tIns="0" rIns="0" bIns="0" rtlCol="0" anchor="ctr"/>
          <a:lstStyle/>
          <a:p>
            <a:pPr marL="0" indent="0">
              <a:buNone/>
            </a:pPr>
            <a:r>
              <a:rPr lang="en-US" sz="2000" b="1" dirty="0">
                <a:solidFill>
                  <a:srgbClr val="142335"/>
                </a:solidFill>
                <a:latin typeface="Cambria" pitchFamily="34" charset="0"/>
                <a:ea typeface="Cambria" pitchFamily="34" charset="-122"/>
                <a:cs typeface="Cambria" pitchFamily="34" charset="-120"/>
              </a:rPr>
              <a:t>Malaysia</a:t>
            </a:r>
            <a:endParaRPr lang="en-US" sz="2000" dirty="0"/>
          </a:p>
        </p:txBody>
      </p:sp>
      <p:sp>
        <p:nvSpPr>
          <p:cNvPr id="12" name="Text 10"/>
          <p:cNvSpPr/>
          <p:nvPr/>
        </p:nvSpPr>
        <p:spPr>
          <a:xfrm>
            <a:off x="6492240" y="3017520"/>
            <a:ext cx="4754880" cy="548640"/>
          </a:xfrm>
          <a:prstGeom prst="rect">
            <a:avLst/>
          </a:prstGeom>
          <a:noFill/>
          <a:ln/>
        </p:spPr>
        <p:txBody>
          <a:bodyPr wrap="square" lIns="0" tIns="0" rIns="0" bIns="0" rtlCol="0" anchor="ctr"/>
          <a:lstStyle/>
          <a:p>
            <a:pPr marL="0" indent="0">
              <a:buNone/>
            </a:pPr>
            <a:r>
              <a:rPr lang="en-US" sz="2700" b="1" dirty="0">
                <a:solidFill>
                  <a:srgbClr val="8C5F12"/>
                </a:solidFill>
                <a:latin typeface="Cambria" pitchFamily="34" charset="0"/>
                <a:ea typeface="Cambria" pitchFamily="34" charset="-122"/>
                <a:cs typeface="Cambria" pitchFamily="34" charset="-120"/>
              </a:rPr>
              <a:t>11.83 million</a:t>
            </a:r>
            <a:endParaRPr lang="en-US" sz="2700" dirty="0"/>
          </a:p>
        </p:txBody>
      </p:sp>
      <p:sp>
        <p:nvSpPr>
          <p:cNvPr id="13" name="Text 11"/>
          <p:cNvSpPr/>
          <p:nvPr/>
        </p:nvSpPr>
        <p:spPr>
          <a:xfrm>
            <a:off x="6492240" y="3566160"/>
            <a:ext cx="4754880" cy="457200"/>
          </a:xfrm>
          <a:prstGeom prst="rect">
            <a:avLst/>
          </a:prstGeom>
          <a:noFill/>
          <a:ln/>
        </p:spPr>
        <p:txBody>
          <a:bodyPr wrap="square" lIns="0" tIns="0" rIns="0" bIns="0" rtlCol="0" anchor="ctr"/>
          <a:lstStyle/>
          <a:p>
            <a:pPr marL="0" indent="0">
              <a:lnSpc>
                <a:spcPts val="1400"/>
              </a:lnSpc>
              <a:buNone/>
            </a:pPr>
            <a:r>
              <a:rPr lang="en-US" sz="1100" dirty="0">
                <a:solidFill>
                  <a:srgbClr val="6E7890"/>
                </a:solidFill>
                <a:latin typeface="Calibri" pitchFamily="34" charset="0"/>
                <a:ea typeface="Calibri" pitchFamily="34" charset="-122"/>
                <a:cs typeface="Calibri" pitchFamily="34" charset="-120"/>
              </a:rPr>
              <a:t>credit cards in circulation, end-June 2026 — Bank Negara Malaysia primary data</a:t>
            </a:r>
            <a:endParaRPr lang="en-US" sz="1100" dirty="0"/>
          </a:p>
        </p:txBody>
      </p:sp>
      <p:sp>
        <p:nvSpPr>
          <p:cNvPr id="14" name="Text 12"/>
          <p:cNvSpPr/>
          <p:nvPr/>
        </p:nvSpPr>
        <p:spPr>
          <a:xfrm>
            <a:off x="6492240" y="4069080"/>
            <a:ext cx="4754880" cy="146304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44506A"/>
                </a:solidFill>
                <a:latin typeface="Calibri" pitchFamily="34" charset="0"/>
                <a:ea typeface="Calibri" pitchFamily="34" charset="-122"/>
                <a:cs typeface="Calibri" pitchFamily="34" charset="-120"/>
              </a:rPr>
              <a:t>Largest card base of the three expansion markets</a:t>
            </a:r>
            <a:endParaRPr lang="en-US" sz="1150" dirty="0"/>
          </a:p>
          <a:p>
            <a:pPr marL="342900" indent="-342900">
              <a:spcAft>
                <a:spcPts val="700"/>
              </a:spcAft>
              <a:buSzPct val="100000"/>
              <a:buChar char="•"/>
            </a:pPr>
            <a:r>
              <a:rPr lang="en-US" sz="1150" dirty="0">
                <a:solidFill>
                  <a:srgbClr val="44506A"/>
                </a:solidFill>
                <a:latin typeface="Calibri" pitchFamily="34" charset="0"/>
                <a:ea typeface="Calibri" pitchFamily="34" charset="-122"/>
                <a:cs typeface="Calibri" pitchFamily="34" charset="-120"/>
              </a:rPr>
              <a:t>Maybank Amex Corporate converts to Enrich</a:t>
            </a:r>
            <a:endParaRPr lang="en-US" sz="1150" dirty="0"/>
          </a:p>
          <a:p>
            <a:pPr marL="342900" indent="-342900">
              <a:spcAft>
                <a:spcPts val="700"/>
              </a:spcAft>
              <a:buSzPct val="100000"/>
              <a:buChar char="•"/>
            </a:pPr>
            <a:r>
              <a:rPr lang="en-US" sz="1150" dirty="0">
                <a:solidFill>
                  <a:srgbClr val="44506A"/>
                </a:solidFill>
                <a:latin typeface="Calibri" pitchFamily="34" charset="0"/>
                <a:ea typeface="Calibri" pitchFamily="34" charset="-122"/>
                <a:cs typeface="Calibri" pitchFamily="34" charset="-120"/>
              </a:rPr>
              <a:t>Beyond Maybank, corporate lines are mostly portal-only</a:t>
            </a:r>
            <a:endParaRPr lang="en-US" sz="1150" dirty="0"/>
          </a:p>
          <a:p>
            <a:pPr marL="342900" indent="-342900">
              <a:spcAft>
                <a:spcPts val="700"/>
              </a:spcAft>
              <a:buSzPct val="100000"/>
              <a:buChar char="•"/>
            </a:pPr>
            <a:r>
              <a:rPr lang="en-US" sz="1150" dirty="0">
                <a:solidFill>
                  <a:srgbClr val="44506A"/>
                </a:solidFill>
                <a:latin typeface="Calibri" pitchFamily="34" charset="0"/>
                <a:ea typeface="Calibri" pitchFamily="34" charset="-122"/>
                <a:cs typeface="Calibri" pitchFamily="34" charset="-120"/>
              </a:rPr>
              <a:t>The figure everyone else quotes, 9.9m, is the 2020 level</a:t>
            </a:r>
            <a:endParaRPr lang="en-US" sz="1150" dirty="0"/>
          </a:p>
        </p:txBody>
      </p:sp>
      <p:sp>
        <p:nvSpPr>
          <p:cNvPr id="15" name="Text 13"/>
          <p:cNvSpPr/>
          <p:nvPr/>
        </p:nvSpPr>
        <p:spPr>
          <a:xfrm>
            <a:off x="640080" y="6327648"/>
            <a:ext cx="7680960" cy="274320"/>
          </a:xfrm>
          <a:prstGeom prst="rect">
            <a:avLst/>
          </a:prstGeom>
          <a:noFill/>
          <a:ln/>
        </p:spPr>
        <p:txBody>
          <a:bodyPr wrap="square" lIns="0" tIns="0" rIns="0" bIns="0" rtlCol="0" anchor="ctr"/>
          <a:lstStyle/>
          <a:p>
            <a:pPr marL="0" indent="0">
              <a:buNone/>
            </a:pPr>
            <a:r>
              <a:rPr lang="en-US" sz="850" dirty="0">
                <a:solidFill>
                  <a:srgbClr val="6E7890"/>
                </a:solidFill>
                <a:latin typeface="Calibri" pitchFamily="34" charset="0"/>
                <a:ea typeface="Calibri" pitchFamily="34" charset="-122"/>
                <a:cs typeface="Calibri" pitchFamily="34" charset="-120"/>
              </a:rPr>
              <a:t>Corporate transfer works issuer by issuer, never universally — the product is built to be issuer-segmented.</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640080" y="237744"/>
            <a:ext cx="10881360" cy="274320"/>
          </a:xfrm>
          <a:prstGeom prst="rect">
            <a:avLst/>
          </a:prstGeom>
          <a:noFill/>
          <a:ln/>
        </p:spPr>
        <p:txBody>
          <a:bodyPr wrap="square" lIns="0" tIns="0" rIns="0" bIns="0" rtlCol="0" anchor="b"/>
          <a:lstStyle/>
          <a:p>
            <a:pPr marL="0" indent="0">
              <a:buNone/>
            </a:pPr>
            <a:r>
              <a:rPr lang="en-US" sz="1100" b="1" kern="0" spc="200" dirty="0">
                <a:solidFill>
                  <a:srgbClr val="8C5F12"/>
                </a:solidFill>
                <a:latin typeface="Calibri" pitchFamily="34" charset="0"/>
                <a:ea typeface="Calibri" pitchFamily="34" charset="-122"/>
                <a:cs typeface="Calibri" pitchFamily="34" charset="-120"/>
              </a:rPr>
              <a:t>THE EXPANSION</a:t>
            </a:r>
            <a:endParaRPr lang="en-US" sz="1100" dirty="0"/>
          </a:p>
        </p:txBody>
      </p:sp>
      <p:sp>
        <p:nvSpPr>
          <p:cNvPr id="3" name="Text 1"/>
          <p:cNvSpPr/>
          <p:nvPr/>
        </p:nvSpPr>
        <p:spPr>
          <a:xfrm>
            <a:off x="640080" y="566928"/>
            <a:ext cx="10881360" cy="777240"/>
          </a:xfrm>
          <a:prstGeom prst="rect">
            <a:avLst/>
          </a:prstGeom>
          <a:noFill/>
          <a:ln/>
        </p:spPr>
        <p:txBody>
          <a:bodyPr wrap="square" lIns="0" tIns="0" rIns="0" bIns="0" rtlCol="0" anchor="t"/>
          <a:lstStyle/>
          <a:p>
            <a:pPr marL="0" indent="0">
              <a:buNone/>
            </a:pPr>
            <a:r>
              <a:rPr lang="en-US" sz="3400" b="1" dirty="0">
                <a:solidFill>
                  <a:srgbClr val="142335"/>
                </a:solidFill>
                <a:latin typeface="Cambria" pitchFamily="34" charset="0"/>
                <a:ea typeface="Cambria" pitchFamily="34" charset="-122"/>
                <a:cs typeface="Cambria" pitchFamily="34" charset="-120"/>
              </a:rPr>
              <a:t>One model, four markets, entered in sequence</a:t>
            </a:r>
            <a:endParaRPr lang="en-US" sz="3400" dirty="0"/>
          </a:p>
        </p:txBody>
      </p:sp>
      <p:sp>
        <p:nvSpPr>
          <p:cNvPr id="4" name="Text 2"/>
          <p:cNvSpPr/>
          <p:nvPr/>
        </p:nvSpPr>
        <p:spPr>
          <a:xfrm>
            <a:off x="640080" y="1371600"/>
            <a:ext cx="5852160" cy="457200"/>
          </a:xfrm>
          <a:prstGeom prst="rect">
            <a:avLst/>
          </a:prstGeom>
          <a:noFill/>
          <a:ln/>
        </p:spPr>
        <p:txBody>
          <a:bodyPr wrap="square" lIns="0" tIns="0" rIns="0" bIns="0" rtlCol="0" anchor="ctr"/>
          <a:lstStyle/>
          <a:p>
            <a:pPr marL="0" indent="0">
              <a:lnSpc>
                <a:spcPts val="2000"/>
              </a:lnSpc>
              <a:buNone/>
            </a:pPr>
            <a:r>
              <a:rPr lang="en-US" sz="1400" dirty="0">
                <a:solidFill>
                  <a:srgbClr val="44506A"/>
                </a:solidFill>
                <a:latin typeface="Calibri" pitchFamily="34" charset="0"/>
                <a:ea typeface="Calibri" pitchFamily="34" charset="-122"/>
                <a:cs typeface="Calibri" pitchFamily="34" charset="-120"/>
              </a:rPr>
              <a:t>India proves the model. The other three are sized on primary</a:t>
            </a:r>
            <a:endParaRPr lang="en-US" sz="1400" dirty="0"/>
          </a:p>
          <a:p>
            <a:pPr marL="0" indent="0">
              <a:lnSpc>
                <a:spcPts val="2000"/>
              </a:lnSpc>
              <a:buNone/>
            </a:pPr>
            <a:r>
              <a:rPr lang="en-US" sz="1400" dirty="0">
                <a:solidFill>
                  <a:srgbClr val="44506A"/>
                </a:solidFill>
                <a:latin typeface="Calibri" pitchFamily="34" charset="0"/>
                <a:ea typeface="Calibri" pitchFamily="34" charset="-122"/>
                <a:cs typeface="Calibri" pitchFamily="34" charset="-120"/>
              </a:rPr>
              <a:t>central-bank data and entered on the proof it generates.</a:t>
            </a:r>
            <a:endParaRPr lang="en-US" sz="1400" dirty="0"/>
          </a:p>
        </p:txBody>
      </p:sp>
      <p:graphicFrame>
        <p:nvGraphicFramePr>
          <p:cNvPr id="5" name="Chart 0"/>
          <p:cNvGraphicFramePr/>
          <p:nvPr/>
        </p:nvGraphicFramePr>
        <p:xfrm>
          <a:off x="640080" y="2377440"/>
          <a:ext cx="576072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 y="4846320"/>
            <a:ext cx="5760720" cy="822960"/>
          </a:xfrm>
          <a:prstGeom prst="rect">
            <a:avLst/>
          </a:prstGeom>
          <a:noFill/>
          <a:ln/>
        </p:spPr>
        <p:txBody>
          <a:bodyPr wrap="square" lIns="0" tIns="0" rIns="0" bIns="0" rtlCol="0" anchor="ctr"/>
          <a:lstStyle/>
          <a:p>
            <a:pPr marL="0" indent="0">
              <a:lnSpc>
                <a:spcPts val="1500"/>
              </a:lnSpc>
              <a:buNone/>
            </a:pPr>
            <a:r>
              <a:rPr lang="en-US" sz="1100" dirty="0">
                <a:solidFill>
                  <a:srgbClr val="6E7890"/>
                </a:solidFill>
                <a:latin typeface="Calibri" pitchFamily="34" charset="0"/>
                <a:ea typeface="Calibri" pitchFamily="34" charset="-122"/>
                <a:cs typeface="Calibri" pitchFamily="34" charset="-120"/>
              </a:rPr>
              <a:t>The UAE is absent from this chart on purpose. Its central bank publishes no card count, and we would rather show a gap than cite a paid market report as if it were official.</a:t>
            </a:r>
            <a:endParaRPr lang="en-US" sz="1100" dirty="0"/>
          </a:p>
        </p:txBody>
      </p:sp>
      <p:sp>
        <p:nvSpPr>
          <p:cNvPr id="7" name="Shape 4"/>
          <p:cNvSpPr/>
          <p:nvPr/>
        </p:nvSpPr>
        <p:spPr>
          <a:xfrm>
            <a:off x="6720840" y="2286000"/>
            <a:ext cx="4828032" cy="868680"/>
          </a:xfrm>
          <a:prstGeom prst="roundRect">
            <a:avLst>
              <a:gd name="adj" fmla="val 10526"/>
            </a:avLst>
          </a:prstGeom>
          <a:solidFill>
            <a:srgbClr val="F1ECE4"/>
          </a:solidFill>
          <a:ln w="9525">
            <a:solidFill>
              <a:srgbClr val="E7E0D4"/>
            </a:solidFill>
            <a:prstDash val="solid"/>
          </a:ln>
          <a:effectLst>
            <a:outerShdw blurRad="101600" dist="12700" dir="5400000" algn="bl" rotWithShape="0">
              <a:srgbClr val="B9AE9C">
                <a:alpha val="18000"/>
              </a:srgbClr>
            </a:outerShdw>
          </a:effectLst>
        </p:spPr>
      </p:sp>
      <p:sp>
        <p:nvSpPr>
          <p:cNvPr id="8" name="Shape 5"/>
          <p:cNvSpPr/>
          <p:nvPr/>
        </p:nvSpPr>
        <p:spPr>
          <a:xfrm>
            <a:off x="6995160" y="2523744"/>
            <a:ext cx="384048" cy="384048"/>
          </a:xfrm>
          <a:prstGeom prst="ellipse">
            <a:avLst/>
          </a:prstGeom>
          <a:solidFill>
            <a:srgbClr val="142335"/>
          </a:solidFill>
          <a:ln w="6350">
            <a:solidFill>
              <a:srgbClr val="142335"/>
            </a:solidFill>
            <a:prstDash val="solid"/>
          </a:ln>
        </p:spPr>
      </p:sp>
      <p:sp>
        <p:nvSpPr>
          <p:cNvPr id="9" name="Text 6"/>
          <p:cNvSpPr/>
          <p:nvPr/>
        </p:nvSpPr>
        <p:spPr>
          <a:xfrm>
            <a:off x="6995160" y="252374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7543800" y="2395728"/>
            <a:ext cx="1463040" cy="365760"/>
          </a:xfrm>
          <a:prstGeom prst="rect">
            <a:avLst/>
          </a:prstGeom>
          <a:noFill/>
          <a:ln/>
        </p:spPr>
        <p:txBody>
          <a:bodyPr wrap="square" lIns="0" tIns="0" rIns="0" bIns="0" rtlCol="0" anchor="ctr"/>
          <a:lstStyle/>
          <a:p>
            <a:pPr marL="0" indent="0">
              <a:buNone/>
            </a:pPr>
            <a:r>
              <a:rPr lang="en-US" sz="1500" b="1" dirty="0">
                <a:solidFill>
                  <a:srgbClr val="142335"/>
                </a:solidFill>
                <a:latin typeface="Cambria" pitchFamily="34" charset="0"/>
                <a:ea typeface="Cambria" pitchFamily="34" charset="-122"/>
                <a:cs typeface="Cambria" pitchFamily="34" charset="-120"/>
              </a:rPr>
              <a:t>India</a:t>
            </a:r>
            <a:endParaRPr lang="en-US" sz="1500" dirty="0"/>
          </a:p>
        </p:txBody>
      </p:sp>
      <p:sp>
        <p:nvSpPr>
          <p:cNvPr id="11" name="Text 8"/>
          <p:cNvSpPr/>
          <p:nvPr/>
        </p:nvSpPr>
        <p:spPr>
          <a:xfrm>
            <a:off x="7543800" y="2688336"/>
            <a:ext cx="3749040" cy="384048"/>
          </a:xfrm>
          <a:prstGeom prst="rect">
            <a:avLst/>
          </a:prstGeom>
          <a:noFill/>
          <a:ln/>
        </p:spPr>
        <p:txBody>
          <a:bodyPr wrap="square" lIns="0" tIns="0" rIns="0" bIns="0" rtlCol="0" anchor="t"/>
          <a:lstStyle/>
          <a:p>
            <a:pPr marL="0" indent="0">
              <a:lnSpc>
                <a:spcPts val="1300"/>
              </a:lnSpc>
              <a:buNone/>
            </a:pPr>
            <a:r>
              <a:rPr lang="en-US" sz="1050" dirty="0">
                <a:solidFill>
                  <a:srgbClr val="44506A"/>
                </a:solidFill>
                <a:latin typeface="Calibri" pitchFamily="34" charset="0"/>
                <a:ea typeface="Calibri" pitchFamily="34" charset="-122"/>
                <a:cs typeface="Calibri" pitchFamily="34" charset="-120"/>
              </a:rPr>
              <a:t>Product live. Floor published. Uplift provable.</a:t>
            </a:r>
            <a:endParaRPr lang="en-US" sz="1050" dirty="0"/>
          </a:p>
        </p:txBody>
      </p:sp>
      <p:sp>
        <p:nvSpPr>
          <p:cNvPr id="12" name="Shape 9"/>
          <p:cNvSpPr/>
          <p:nvPr/>
        </p:nvSpPr>
        <p:spPr>
          <a:xfrm>
            <a:off x="6720840" y="3246120"/>
            <a:ext cx="4828032" cy="868680"/>
          </a:xfrm>
          <a:prstGeom prst="roundRect">
            <a:avLst>
              <a:gd name="adj" fmla="val 10526"/>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3" name="Shape 10"/>
          <p:cNvSpPr/>
          <p:nvPr/>
        </p:nvSpPr>
        <p:spPr>
          <a:xfrm>
            <a:off x="6995160" y="3483864"/>
            <a:ext cx="384048" cy="384048"/>
          </a:xfrm>
          <a:prstGeom prst="ellipse">
            <a:avLst/>
          </a:prstGeom>
          <a:solidFill>
            <a:srgbClr val="8C5F12"/>
          </a:solidFill>
          <a:ln w="6350">
            <a:solidFill>
              <a:srgbClr val="8C5F12"/>
            </a:solidFill>
            <a:prstDash val="solid"/>
          </a:ln>
        </p:spPr>
      </p:sp>
      <p:sp>
        <p:nvSpPr>
          <p:cNvPr id="14" name="Text 11"/>
          <p:cNvSpPr/>
          <p:nvPr/>
        </p:nvSpPr>
        <p:spPr>
          <a:xfrm>
            <a:off x="6995160" y="348386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p:nvPr/>
        </p:nvSpPr>
        <p:spPr>
          <a:xfrm>
            <a:off x="7543800" y="3355848"/>
            <a:ext cx="1463040" cy="365760"/>
          </a:xfrm>
          <a:prstGeom prst="rect">
            <a:avLst/>
          </a:prstGeom>
          <a:noFill/>
          <a:ln/>
        </p:spPr>
        <p:txBody>
          <a:bodyPr wrap="square" lIns="0" tIns="0" rIns="0" bIns="0" rtlCol="0" anchor="ctr"/>
          <a:lstStyle/>
          <a:p>
            <a:pPr marL="0" indent="0">
              <a:buNone/>
            </a:pPr>
            <a:r>
              <a:rPr lang="en-US" sz="1500" b="1" dirty="0">
                <a:solidFill>
                  <a:srgbClr val="142335"/>
                </a:solidFill>
                <a:latin typeface="Cambria" pitchFamily="34" charset="0"/>
                <a:ea typeface="Cambria" pitchFamily="34" charset="-122"/>
                <a:cs typeface="Cambria" pitchFamily="34" charset="-120"/>
              </a:rPr>
              <a:t>UAE</a:t>
            </a:r>
            <a:endParaRPr lang="en-US" sz="1500" dirty="0"/>
          </a:p>
        </p:txBody>
      </p:sp>
      <p:sp>
        <p:nvSpPr>
          <p:cNvPr id="16" name="Text 13"/>
          <p:cNvSpPr/>
          <p:nvPr/>
        </p:nvSpPr>
        <p:spPr>
          <a:xfrm>
            <a:off x="7543800" y="3648456"/>
            <a:ext cx="3749040" cy="384048"/>
          </a:xfrm>
          <a:prstGeom prst="rect">
            <a:avLst/>
          </a:prstGeom>
          <a:noFill/>
          <a:ln/>
        </p:spPr>
        <p:txBody>
          <a:bodyPr wrap="square" lIns="0" tIns="0" rIns="0" bIns="0" rtlCol="0" anchor="t"/>
          <a:lstStyle/>
          <a:p>
            <a:pPr marL="0" indent="0">
              <a:lnSpc>
                <a:spcPts val="1300"/>
              </a:lnSpc>
              <a:buNone/>
            </a:pPr>
            <a:r>
              <a:rPr lang="en-US" sz="1050" dirty="0">
                <a:solidFill>
                  <a:srgbClr val="44506A"/>
                </a:solidFill>
                <a:latin typeface="Calibri" pitchFamily="34" charset="0"/>
                <a:ea typeface="Calibri" pitchFamily="34" charset="-122"/>
                <a:cs typeface="Calibri" pitchFamily="34" charset="-120"/>
              </a:rPr>
              <a:t>Dubai entity. 4.3m Indian expatriates, two shared programmes.</a:t>
            </a:r>
            <a:endParaRPr lang="en-US" sz="1050" dirty="0"/>
          </a:p>
        </p:txBody>
      </p:sp>
      <p:sp>
        <p:nvSpPr>
          <p:cNvPr id="17" name="Shape 14"/>
          <p:cNvSpPr/>
          <p:nvPr/>
        </p:nvSpPr>
        <p:spPr>
          <a:xfrm>
            <a:off x="6720840" y="4206240"/>
            <a:ext cx="4828032" cy="868680"/>
          </a:xfrm>
          <a:prstGeom prst="roundRect">
            <a:avLst>
              <a:gd name="adj" fmla="val 10526"/>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8" name="Shape 15"/>
          <p:cNvSpPr/>
          <p:nvPr/>
        </p:nvSpPr>
        <p:spPr>
          <a:xfrm>
            <a:off x="6995160" y="4443984"/>
            <a:ext cx="384048" cy="384048"/>
          </a:xfrm>
          <a:prstGeom prst="ellipse">
            <a:avLst/>
          </a:prstGeom>
          <a:solidFill>
            <a:srgbClr val="44506A"/>
          </a:solidFill>
          <a:ln w="6350">
            <a:solidFill>
              <a:srgbClr val="44506A"/>
            </a:solidFill>
            <a:prstDash val="solid"/>
          </a:ln>
        </p:spPr>
      </p:sp>
      <p:sp>
        <p:nvSpPr>
          <p:cNvPr id="19" name="Text 16"/>
          <p:cNvSpPr/>
          <p:nvPr/>
        </p:nvSpPr>
        <p:spPr>
          <a:xfrm>
            <a:off x="6995160" y="444398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7"/>
          <p:cNvSpPr/>
          <p:nvPr/>
        </p:nvSpPr>
        <p:spPr>
          <a:xfrm>
            <a:off x="7543800" y="4315968"/>
            <a:ext cx="1463040" cy="365760"/>
          </a:xfrm>
          <a:prstGeom prst="rect">
            <a:avLst/>
          </a:prstGeom>
          <a:noFill/>
          <a:ln/>
        </p:spPr>
        <p:txBody>
          <a:bodyPr wrap="square" lIns="0" tIns="0" rIns="0" bIns="0" rtlCol="0" anchor="ctr"/>
          <a:lstStyle/>
          <a:p>
            <a:pPr marL="0" indent="0">
              <a:buNone/>
            </a:pPr>
            <a:r>
              <a:rPr lang="en-US" sz="1500" b="1" dirty="0">
                <a:solidFill>
                  <a:srgbClr val="142335"/>
                </a:solidFill>
                <a:latin typeface="Cambria" pitchFamily="34" charset="0"/>
                <a:ea typeface="Cambria" pitchFamily="34" charset="-122"/>
                <a:cs typeface="Cambria" pitchFamily="34" charset="-120"/>
              </a:rPr>
              <a:t>Singapore</a:t>
            </a:r>
            <a:endParaRPr lang="en-US" sz="1500" dirty="0"/>
          </a:p>
        </p:txBody>
      </p:sp>
      <p:sp>
        <p:nvSpPr>
          <p:cNvPr id="21" name="Text 18"/>
          <p:cNvSpPr/>
          <p:nvPr/>
        </p:nvSpPr>
        <p:spPr>
          <a:xfrm>
            <a:off x="7543800" y="4608576"/>
            <a:ext cx="3749040" cy="384048"/>
          </a:xfrm>
          <a:prstGeom prst="rect">
            <a:avLst/>
          </a:prstGeom>
          <a:noFill/>
          <a:ln/>
        </p:spPr>
        <p:txBody>
          <a:bodyPr wrap="square" lIns="0" tIns="0" rIns="0" bIns="0" rtlCol="0" anchor="t"/>
          <a:lstStyle/>
          <a:p>
            <a:pPr marL="0" indent="0">
              <a:lnSpc>
                <a:spcPts val="1300"/>
              </a:lnSpc>
              <a:buNone/>
            </a:pPr>
            <a:r>
              <a:rPr lang="en-US" sz="1050" dirty="0">
                <a:solidFill>
                  <a:srgbClr val="44506A"/>
                </a:solidFill>
                <a:latin typeface="Calibri" pitchFamily="34" charset="0"/>
                <a:ea typeface="Calibri" pitchFamily="34" charset="-122"/>
                <a:cs typeface="Calibri" pitchFamily="34" charset="-120"/>
              </a:rPr>
              <a:t>Corporate entry. Consumer layer already free.</a:t>
            </a:r>
            <a:endParaRPr lang="en-US" sz="1050" dirty="0"/>
          </a:p>
        </p:txBody>
      </p:sp>
      <p:sp>
        <p:nvSpPr>
          <p:cNvPr id="22" name="Shape 19"/>
          <p:cNvSpPr/>
          <p:nvPr/>
        </p:nvSpPr>
        <p:spPr>
          <a:xfrm>
            <a:off x="6720840" y="5166360"/>
            <a:ext cx="4828032" cy="868680"/>
          </a:xfrm>
          <a:prstGeom prst="roundRect">
            <a:avLst>
              <a:gd name="adj" fmla="val 10526"/>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23" name="Shape 20"/>
          <p:cNvSpPr/>
          <p:nvPr/>
        </p:nvSpPr>
        <p:spPr>
          <a:xfrm>
            <a:off x="6995160" y="5404104"/>
            <a:ext cx="384048" cy="384048"/>
          </a:xfrm>
          <a:prstGeom prst="ellipse">
            <a:avLst/>
          </a:prstGeom>
          <a:solidFill>
            <a:srgbClr val="44506A"/>
          </a:solidFill>
          <a:ln w="6350">
            <a:solidFill>
              <a:srgbClr val="44506A"/>
            </a:solidFill>
            <a:prstDash val="solid"/>
          </a:ln>
        </p:spPr>
      </p:sp>
      <p:sp>
        <p:nvSpPr>
          <p:cNvPr id="24" name="Text 21"/>
          <p:cNvSpPr/>
          <p:nvPr/>
        </p:nvSpPr>
        <p:spPr>
          <a:xfrm>
            <a:off x="6995160" y="540410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2"/>
          <p:cNvSpPr/>
          <p:nvPr/>
        </p:nvSpPr>
        <p:spPr>
          <a:xfrm>
            <a:off x="7543800" y="5276088"/>
            <a:ext cx="1463040" cy="365760"/>
          </a:xfrm>
          <a:prstGeom prst="rect">
            <a:avLst/>
          </a:prstGeom>
          <a:noFill/>
          <a:ln/>
        </p:spPr>
        <p:txBody>
          <a:bodyPr wrap="square" lIns="0" tIns="0" rIns="0" bIns="0" rtlCol="0" anchor="ctr"/>
          <a:lstStyle/>
          <a:p>
            <a:pPr marL="0" indent="0">
              <a:buNone/>
            </a:pPr>
            <a:r>
              <a:rPr lang="en-US" sz="1500" b="1" dirty="0">
                <a:solidFill>
                  <a:srgbClr val="142335"/>
                </a:solidFill>
                <a:latin typeface="Cambria" pitchFamily="34" charset="0"/>
                <a:ea typeface="Cambria" pitchFamily="34" charset="-122"/>
                <a:cs typeface="Cambria" pitchFamily="34" charset="-120"/>
              </a:rPr>
              <a:t>Malaysia</a:t>
            </a:r>
            <a:endParaRPr lang="en-US" sz="1500" dirty="0"/>
          </a:p>
        </p:txBody>
      </p:sp>
      <p:sp>
        <p:nvSpPr>
          <p:cNvPr id="26" name="Text 23"/>
          <p:cNvSpPr/>
          <p:nvPr/>
        </p:nvSpPr>
        <p:spPr>
          <a:xfrm>
            <a:off x="7543800" y="5568696"/>
            <a:ext cx="3749040" cy="384048"/>
          </a:xfrm>
          <a:prstGeom prst="rect">
            <a:avLst/>
          </a:prstGeom>
          <a:noFill/>
          <a:ln/>
        </p:spPr>
        <p:txBody>
          <a:bodyPr wrap="square" lIns="0" tIns="0" rIns="0" bIns="0" rtlCol="0" anchor="t"/>
          <a:lstStyle/>
          <a:p>
            <a:pPr marL="0" indent="0">
              <a:lnSpc>
                <a:spcPts val="1300"/>
              </a:lnSpc>
              <a:buNone/>
            </a:pPr>
            <a:r>
              <a:rPr lang="en-US" sz="1050" dirty="0">
                <a:solidFill>
                  <a:srgbClr val="44506A"/>
                </a:solidFill>
                <a:latin typeface="Calibri" pitchFamily="34" charset="0"/>
                <a:ea typeface="Calibri" pitchFamily="34" charset="-122"/>
                <a:cs typeface="Calibri" pitchFamily="34" charset="-120"/>
              </a:rPr>
              <a:t>Largest card base. Maybank Amex Corporate confirmed.</a:t>
            </a:r>
            <a:endParaRPr lang="en-US" sz="1050" dirty="0"/>
          </a:p>
        </p:txBody>
      </p:sp>
      <p:sp>
        <p:nvSpPr>
          <p:cNvPr id="27" name="Text 24"/>
          <p:cNvSpPr/>
          <p:nvPr/>
        </p:nvSpPr>
        <p:spPr>
          <a:xfrm>
            <a:off x="640080" y="6327648"/>
            <a:ext cx="7680960" cy="274320"/>
          </a:xfrm>
          <a:prstGeom prst="rect">
            <a:avLst/>
          </a:prstGeom>
          <a:noFill/>
          <a:ln/>
        </p:spPr>
        <p:txBody>
          <a:bodyPr wrap="square" lIns="0" tIns="0" rIns="0" bIns="0" rtlCol="0" anchor="ctr"/>
          <a:lstStyle/>
          <a:p>
            <a:pPr marL="0" indent="0">
              <a:buNone/>
            </a:pPr>
            <a:r>
              <a:rPr lang="en-US" sz="850" dirty="0">
                <a:solidFill>
                  <a:srgbClr val="6E7890"/>
                </a:solidFill>
                <a:latin typeface="Calibri" pitchFamily="34" charset="0"/>
                <a:ea typeface="Calibri" pitchFamily="34" charset="-122"/>
                <a:cs typeface="Calibri" pitchFamily="34" charset="-120"/>
              </a:rPr>
              <a:t>RBI May 2026 · Bank Negara Malaysia end-June 2026 · MAS Singapore Q1 2026.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640080" y="237744"/>
            <a:ext cx="10881360" cy="274320"/>
          </a:xfrm>
          <a:prstGeom prst="rect">
            <a:avLst/>
          </a:prstGeom>
          <a:noFill/>
          <a:ln/>
        </p:spPr>
        <p:txBody>
          <a:bodyPr wrap="square" lIns="0" tIns="0" rIns="0" bIns="0" rtlCol="0" anchor="b"/>
          <a:lstStyle/>
          <a:p>
            <a:pPr marL="0" indent="0">
              <a:buNone/>
            </a:pPr>
            <a:r>
              <a:rPr lang="en-US" sz="1100" b="1" kern="0" spc="200" dirty="0">
                <a:solidFill>
                  <a:srgbClr val="8C5F12"/>
                </a:solidFill>
                <a:latin typeface="Calibri" pitchFamily="34" charset="0"/>
                <a:ea typeface="Calibri" pitchFamily="34" charset="-122"/>
                <a:cs typeface="Calibri" pitchFamily="34" charset="-120"/>
              </a:rPr>
              <a:t>BUSINESS MODEL</a:t>
            </a:r>
            <a:endParaRPr lang="en-US" sz="1100" dirty="0"/>
          </a:p>
        </p:txBody>
      </p:sp>
      <p:sp>
        <p:nvSpPr>
          <p:cNvPr id="3" name="Text 1"/>
          <p:cNvSpPr/>
          <p:nvPr/>
        </p:nvSpPr>
        <p:spPr>
          <a:xfrm>
            <a:off x="640080" y="566928"/>
            <a:ext cx="10881360" cy="777240"/>
          </a:xfrm>
          <a:prstGeom prst="rect">
            <a:avLst/>
          </a:prstGeom>
          <a:noFill/>
          <a:ln/>
        </p:spPr>
        <p:txBody>
          <a:bodyPr wrap="square" lIns="0" tIns="0" rIns="0" bIns="0" rtlCol="0" anchor="t"/>
          <a:lstStyle/>
          <a:p>
            <a:pPr marL="0" indent="0">
              <a:buNone/>
            </a:pPr>
            <a:r>
              <a:rPr lang="en-US" sz="3400" b="1" dirty="0">
                <a:solidFill>
                  <a:srgbClr val="142335"/>
                </a:solidFill>
                <a:latin typeface="Cambria" pitchFamily="34" charset="0"/>
                <a:ea typeface="Cambria" pitchFamily="34" charset="-122"/>
                <a:cs typeface="Cambria" pitchFamily="34" charset="-120"/>
              </a:rPr>
              <a:t>How we get paid</a:t>
            </a:r>
            <a:endParaRPr lang="en-US" sz="3400" dirty="0"/>
          </a:p>
        </p:txBody>
      </p:sp>
      <p:sp>
        <p:nvSpPr>
          <p:cNvPr id="4" name="Text 2"/>
          <p:cNvSpPr/>
          <p:nvPr/>
        </p:nvSpPr>
        <p:spPr>
          <a:xfrm>
            <a:off x="640080" y="1371600"/>
            <a:ext cx="10058400" cy="457200"/>
          </a:xfrm>
          <a:prstGeom prst="rect">
            <a:avLst/>
          </a:prstGeom>
          <a:noFill/>
          <a:ln/>
        </p:spPr>
        <p:txBody>
          <a:bodyPr wrap="square" lIns="0" tIns="0" rIns="0" bIns="0" rtlCol="0" anchor="ctr"/>
          <a:lstStyle/>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The structure mirrors the only listed company doing anything close to this: the client pays a fee for the</a:t>
            </a:r>
            <a:endParaRPr lang="en-US" sz="1500" dirty="0"/>
          </a:p>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service, and supplier revenue stays a disclosed minority of the total.</a:t>
            </a:r>
            <a:endParaRPr lang="en-US" sz="1500" dirty="0"/>
          </a:p>
        </p:txBody>
      </p:sp>
      <p:sp>
        <p:nvSpPr>
          <p:cNvPr id="5" name="Shape 3"/>
          <p:cNvSpPr/>
          <p:nvPr/>
        </p:nvSpPr>
        <p:spPr>
          <a:xfrm>
            <a:off x="640080" y="2423160"/>
            <a:ext cx="3593592" cy="2880360"/>
          </a:xfrm>
          <a:prstGeom prst="roundRect">
            <a:avLst>
              <a:gd name="adj" fmla="val 3175"/>
            </a:avLst>
          </a:prstGeom>
          <a:solidFill>
            <a:srgbClr val="142335"/>
          </a:solidFill>
          <a:ln w="9525">
            <a:solidFill>
              <a:srgbClr val="142335"/>
            </a:solidFill>
            <a:prstDash val="solid"/>
          </a:ln>
          <a:effectLst>
            <a:outerShdw blurRad="101600" dist="12700" dir="5400000" algn="bl" rotWithShape="0">
              <a:srgbClr val="B9AE9C">
                <a:alpha val="18000"/>
              </a:srgbClr>
            </a:outerShdw>
          </a:effectLst>
        </p:spPr>
      </p:sp>
      <p:sp>
        <p:nvSpPr>
          <p:cNvPr id="6" name="Text 4"/>
          <p:cNvSpPr/>
          <p:nvPr/>
        </p:nvSpPr>
        <p:spPr>
          <a:xfrm>
            <a:off x="960120" y="2697480"/>
            <a:ext cx="2971800" cy="457200"/>
          </a:xfrm>
          <a:prstGeom prst="rect">
            <a:avLst/>
          </a:prstGeom>
          <a:noFill/>
          <a:ln/>
        </p:spPr>
        <p:txBody>
          <a:bodyPr wrap="square" lIns="0" tIns="0" rIns="0" bIns="0" rtlCol="0" anchor="ctr"/>
          <a:lstStyle/>
          <a:p>
            <a:pPr marL="0" indent="0">
              <a:buNone/>
            </a:pPr>
            <a:r>
              <a:rPr lang="en-US" sz="1050" b="1" kern="0" spc="150" dirty="0">
                <a:solidFill>
                  <a:srgbClr val="D89B2A"/>
                </a:solidFill>
                <a:latin typeface="Calibri" pitchFamily="34" charset="0"/>
                <a:ea typeface="Calibri" pitchFamily="34" charset="-122"/>
                <a:cs typeface="Calibri" pitchFamily="34" charset="-120"/>
              </a:rPr>
              <a:t>CORPORATE SERVICE FEES</a:t>
            </a:r>
            <a:endParaRPr lang="en-US" sz="1050" dirty="0"/>
          </a:p>
        </p:txBody>
      </p:sp>
      <p:sp>
        <p:nvSpPr>
          <p:cNvPr id="7" name="Text 5"/>
          <p:cNvSpPr/>
          <p:nvPr/>
        </p:nvSpPr>
        <p:spPr>
          <a:xfrm>
            <a:off x="960120" y="3108960"/>
            <a:ext cx="2971800" cy="640080"/>
          </a:xfrm>
          <a:prstGeom prst="rect">
            <a:avLst/>
          </a:prstGeom>
          <a:noFill/>
          <a:ln/>
        </p:spPr>
        <p:txBody>
          <a:bodyPr wrap="square" lIns="0" tIns="0" rIns="0" bIns="0" rtlCol="0" anchor="ctr"/>
          <a:lstStyle/>
          <a:p>
            <a:pPr marL="0" indent="0">
              <a:lnSpc>
                <a:spcPts val="2400"/>
              </a:lnSpc>
              <a:buNone/>
            </a:pPr>
            <a:r>
              <a:rPr lang="en-US" sz="2000" b="1" dirty="0">
                <a:solidFill>
                  <a:srgbClr val="FFFFFF"/>
                </a:solidFill>
                <a:latin typeface="Cambria" pitchFamily="34" charset="0"/>
                <a:ea typeface="Cambria" pitchFamily="34" charset="-122"/>
                <a:cs typeface="Cambria" pitchFamily="34" charset="-120"/>
              </a:rPr>
              <a:t>The majority</a:t>
            </a:r>
            <a:endParaRPr lang="en-US" sz="2000" dirty="0"/>
          </a:p>
        </p:txBody>
      </p:sp>
      <p:sp>
        <p:nvSpPr>
          <p:cNvPr id="8" name="Text 6"/>
          <p:cNvSpPr/>
          <p:nvPr/>
        </p:nvSpPr>
        <p:spPr>
          <a:xfrm>
            <a:off x="960120" y="3794760"/>
            <a:ext cx="2971800" cy="1371600"/>
          </a:xfrm>
          <a:prstGeom prst="rect">
            <a:avLst/>
          </a:prstGeom>
          <a:noFill/>
          <a:ln/>
        </p:spPr>
        <p:txBody>
          <a:bodyPr wrap="square" lIns="0" tIns="0" rIns="0" bIns="0" rtlCol="0" anchor="ctr"/>
          <a:lstStyle/>
          <a:p>
            <a:pPr marL="0" indent="0">
              <a:lnSpc>
                <a:spcPts val="1500"/>
              </a:lnSpc>
              <a:buNone/>
            </a:pPr>
            <a:r>
              <a:rPr lang="en-US" sz="1150" dirty="0">
                <a:solidFill>
                  <a:srgbClr val="D9D3C8"/>
                </a:solidFill>
                <a:latin typeface="Calibri" pitchFamily="34" charset="0"/>
                <a:ea typeface="Calibri" pitchFamily="34" charset="-122"/>
                <a:cs typeface="Calibri" pitchFamily="34" charset="-120"/>
              </a:rPr>
              <a:t>Annual contracts for fee forensics, points inventory, expiry alerts and the redemption desk. Priced by contract size, the way Ten prices its corporate programmes.</a:t>
            </a:r>
            <a:endParaRPr lang="en-US" sz="1150" dirty="0"/>
          </a:p>
        </p:txBody>
      </p:sp>
      <p:sp>
        <p:nvSpPr>
          <p:cNvPr id="9" name="Shape 7"/>
          <p:cNvSpPr/>
          <p:nvPr/>
        </p:nvSpPr>
        <p:spPr>
          <a:xfrm>
            <a:off x="4343400" y="2423160"/>
            <a:ext cx="3593592" cy="2880360"/>
          </a:xfrm>
          <a:prstGeom prst="roundRect">
            <a:avLst>
              <a:gd name="adj" fmla="val 3175"/>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0" name="Text 8"/>
          <p:cNvSpPr/>
          <p:nvPr/>
        </p:nvSpPr>
        <p:spPr>
          <a:xfrm>
            <a:off x="4663440" y="2697480"/>
            <a:ext cx="2971800" cy="457200"/>
          </a:xfrm>
          <a:prstGeom prst="rect">
            <a:avLst/>
          </a:prstGeom>
          <a:noFill/>
          <a:ln/>
        </p:spPr>
        <p:txBody>
          <a:bodyPr wrap="square" lIns="0" tIns="0" rIns="0" bIns="0" rtlCol="0" anchor="ctr"/>
          <a:lstStyle/>
          <a:p>
            <a:pPr marL="0" indent="0">
              <a:buNone/>
            </a:pPr>
            <a:r>
              <a:rPr lang="en-US" sz="1050" b="1" kern="0" spc="150" dirty="0">
                <a:solidFill>
                  <a:srgbClr val="6E7890"/>
                </a:solidFill>
                <a:latin typeface="Calibri" pitchFamily="34" charset="0"/>
                <a:ea typeface="Calibri" pitchFamily="34" charset="-122"/>
                <a:cs typeface="Calibri" pitchFamily="34" charset="-120"/>
              </a:rPr>
              <a:t>CONSUMER PLANS</a:t>
            </a:r>
            <a:endParaRPr lang="en-US" sz="1050" dirty="0"/>
          </a:p>
        </p:txBody>
      </p:sp>
      <p:sp>
        <p:nvSpPr>
          <p:cNvPr id="11" name="Text 9"/>
          <p:cNvSpPr/>
          <p:nvPr/>
        </p:nvSpPr>
        <p:spPr>
          <a:xfrm>
            <a:off x="4663440" y="3108960"/>
            <a:ext cx="2971800" cy="640080"/>
          </a:xfrm>
          <a:prstGeom prst="rect">
            <a:avLst/>
          </a:prstGeom>
          <a:noFill/>
          <a:ln/>
        </p:spPr>
        <p:txBody>
          <a:bodyPr wrap="square" lIns="0" tIns="0" rIns="0" bIns="0" rtlCol="0" anchor="ctr"/>
          <a:lstStyle/>
          <a:p>
            <a:pPr marL="0" indent="0">
              <a:lnSpc>
                <a:spcPts val="2400"/>
              </a:lnSpc>
              <a:buNone/>
            </a:pPr>
            <a:r>
              <a:rPr lang="en-US" sz="2000" b="1" dirty="0">
                <a:solidFill>
                  <a:srgbClr val="142335"/>
                </a:solidFill>
                <a:latin typeface="Cambria" pitchFamily="34" charset="0"/>
                <a:ea typeface="Cambria" pitchFamily="34" charset="-122"/>
                <a:cs typeface="Cambria" pitchFamily="34" charset="-120"/>
              </a:rPr>
              <a:t>₹149 / ₹499 / ₹999</a:t>
            </a:r>
            <a:endParaRPr lang="en-US" sz="2000" dirty="0"/>
          </a:p>
        </p:txBody>
      </p:sp>
      <p:sp>
        <p:nvSpPr>
          <p:cNvPr id="12" name="Text 10"/>
          <p:cNvSpPr/>
          <p:nvPr/>
        </p:nvSpPr>
        <p:spPr>
          <a:xfrm>
            <a:off x="4663440" y="3794760"/>
            <a:ext cx="2971800" cy="137160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One-time periods, not a subscription. Live and taking real payments today.</a:t>
            </a:r>
            <a:endParaRPr lang="en-US" sz="1150" dirty="0"/>
          </a:p>
        </p:txBody>
      </p:sp>
      <p:sp>
        <p:nvSpPr>
          <p:cNvPr id="13" name="Shape 11"/>
          <p:cNvSpPr/>
          <p:nvPr/>
        </p:nvSpPr>
        <p:spPr>
          <a:xfrm>
            <a:off x="8046720" y="2423160"/>
            <a:ext cx="3593592" cy="2880360"/>
          </a:xfrm>
          <a:prstGeom prst="roundRect">
            <a:avLst>
              <a:gd name="adj" fmla="val 3175"/>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4" name="Text 12"/>
          <p:cNvSpPr/>
          <p:nvPr/>
        </p:nvSpPr>
        <p:spPr>
          <a:xfrm>
            <a:off x="8366760" y="2697480"/>
            <a:ext cx="2971800" cy="457200"/>
          </a:xfrm>
          <a:prstGeom prst="rect">
            <a:avLst/>
          </a:prstGeom>
          <a:noFill/>
          <a:ln/>
        </p:spPr>
        <p:txBody>
          <a:bodyPr wrap="square" lIns="0" tIns="0" rIns="0" bIns="0" rtlCol="0" anchor="ctr"/>
          <a:lstStyle/>
          <a:p>
            <a:pPr marL="0" indent="0">
              <a:buNone/>
            </a:pPr>
            <a:r>
              <a:rPr lang="en-US" sz="1050" b="1" kern="0" spc="150" dirty="0">
                <a:solidFill>
                  <a:srgbClr val="6E7890"/>
                </a:solidFill>
                <a:latin typeface="Calibri" pitchFamily="34" charset="0"/>
                <a:ea typeface="Calibri" pitchFamily="34" charset="-122"/>
                <a:cs typeface="Calibri" pitchFamily="34" charset="-120"/>
              </a:rPr>
              <a:t>SUPPLIER REVENUE</a:t>
            </a:r>
            <a:endParaRPr lang="en-US" sz="1050" dirty="0"/>
          </a:p>
        </p:txBody>
      </p:sp>
      <p:sp>
        <p:nvSpPr>
          <p:cNvPr id="15" name="Text 13"/>
          <p:cNvSpPr/>
          <p:nvPr/>
        </p:nvSpPr>
        <p:spPr>
          <a:xfrm>
            <a:off x="8366760" y="3108960"/>
            <a:ext cx="2971800" cy="640080"/>
          </a:xfrm>
          <a:prstGeom prst="rect">
            <a:avLst/>
          </a:prstGeom>
          <a:noFill/>
          <a:ln/>
        </p:spPr>
        <p:txBody>
          <a:bodyPr wrap="square" lIns="0" tIns="0" rIns="0" bIns="0" rtlCol="0" anchor="ctr"/>
          <a:lstStyle/>
          <a:p>
            <a:pPr marL="0" indent="0">
              <a:lnSpc>
                <a:spcPts val="2400"/>
              </a:lnSpc>
              <a:buNone/>
            </a:pPr>
            <a:r>
              <a:rPr lang="en-US" sz="2000" b="1" dirty="0">
                <a:solidFill>
                  <a:srgbClr val="142335"/>
                </a:solidFill>
                <a:latin typeface="Cambria" pitchFamily="34" charset="0"/>
                <a:ea typeface="Cambria" pitchFamily="34" charset="-122"/>
                <a:cs typeface="Cambria" pitchFamily="34" charset="-120"/>
              </a:rPr>
              <a:t>A disclosed minority</a:t>
            </a:r>
            <a:endParaRPr lang="en-US" sz="2000" dirty="0"/>
          </a:p>
        </p:txBody>
      </p:sp>
      <p:sp>
        <p:nvSpPr>
          <p:cNvPr id="16" name="Text 14"/>
          <p:cNvSpPr/>
          <p:nvPr/>
        </p:nvSpPr>
        <p:spPr>
          <a:xfrm>
            <a:off x="8366760" y="3794760"/>
            <a:ext cx="2971800" cy="137160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Where a supplier pays, it is disclosed and it stays small. Ten runs at 13% of net revenue; we hold to that discipline so the recommendation stays trustworthy.</a:t>
            </a:r>
            <a:endParaRPr lang="en-US" sz="1150" dirty="0"/>
          </a:p>
        </p:txBody>
      </p:sp>
      <p:sp>
        <p:nvSpPr>
          <p:cNvPr id="17" name="Shape 15"/>
          <p:cNvSpPr/>
          <p:nvPr/>
        </p:nvSpPr>
        <p:spPr>
          <a:xfrm>
            <a:off x="640080" y="5486400"/>
            <a:ext cx="10908792" cy="658368"/>
          </a:xfrm>
          <a:prstGeom prst="roundRect">
            <a:avLst>
              <a:gd name="adj" fmla="val 13889"/>
            </a:avLst>
          </a:prstGeom>
          <a:solidFill>
            <a:srgbClr val="F1ECE4"/>
          </a:solidFill>
          <a:ln w="9525">
            <a:solidFill>
              <a:srgbClr val="E7E0D4"/>
            </a:solidFill>
            <a:prstDash val="solid"/>
          </a:ln>
          <a:effectLst>
            <a:outerShdw blurRad="101600" dist="12700" dir="5400000" algn="bl" rotWithShape="0">
              <a:srgbClr val="B9AE9C">
                <a:alpha val="18000"/>
              </a:srgbClr>
            </a:outerShdw>
          </a:effectLst>
        </p:spPr>
      </p:sp>
      <p:sp>
        <p:nvSpPr>
          <p:cNvPr id="18" name="Text 16"/>
          <p:cNvSpPr/>
          <p:nvPr/>
        </p:nvSpPr>
        <p:spPr>
          <a:xfrm>
            <a:off x="960120" y="5486400"/>
            <a:ext cx="10241280" cy="658368"/>
          </a:xfrm>
          <a:prstGeom prst="rect">
            <a:avLst/>
          </a:prstGeom>
          <a:noFill/>
          <a:ln/>
        </p:spPr>
        <p:txBody>
          <a:bodyPr wrap="square" lIns="0" tIns="0" rIns="0" bIns="0" rtlCol="0" anchor="ctr"/>
          <a:lstStyle/>
          <a:p>
            <a:pPr marL="0" indent="0">
              <a:buNone/>
            </a:pPr>
            <a:r>
              <a:rPr lang="en-US" sz="1200" dirty="0">
                <a:solidFill>
                  <a:srgbClr val="142335"/>
                </a:solidFill>
                <a:latin typeface="Calibri" pitchFamily="34" charset="0"/>
                <a:ea typeface="Calibri" pitchFamily="34" charset="-122"/>
                <a:cs typeface="Calibri" pitchFamily="34" charset="-120"/>
              </a:rPr>
              <a:t>The point is not that we earn nothing from suppliers. It is that no supplier can change what we recommend — which is exactly what a comparison site cannot say.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640080" y="237744"/>
            <a:ext cx="10881360" cy="274320"/>
          </a:xfrm>
          <a:prstGeom prst="rect">
            <a:avLst/>
          </a:prstGeom>
          <a:noFill/>
          <a:ln/>
        </p:spPr>
        <p:txBody>
          <a:bodyPr wrap="square" lIns="0" tIns="0" rIns="0" bIns="0" rtlCol="0" anchor="b"/>
          <a:lstStyle/>
          <a:p>
            <a:pPr marL="0" indent="0">
              <a:buNone/>
            </a:pPr>
            <a:r>
              <a:rPr lang="en-US" sz="1100" b="1" kern="0" spc="200" dirty="0">
                <a:solidFill>
                  <a:srgbClr val="8C5F12"/>
                </a:solidFill>
                <a:latin typeface="Calibri" pitchFamily="34" charset="0"/>
                <a:ea typeface="Calibri" pitchFamily="34" charset="-122"/>
                <a:cs typeface="Calibri" pitchFamily="34" charset="-120"/>
              </a:rPr>
              <a:t>COMPETITIVE POSITION</a:t>
            </a:r>
            <a:endParaRPr lang="en-US" sz="1100" dirty="0"/>
          </a:p>
        </p:txBody>
      </p:sp>
      <p:sp>
        <p:nvSpPr>
          <p:cNvPr id="3" name="Text 1"/>
          <p:cNvSpPr/>
          <p:nvPr/>
        </p:nvSpPr>
        <p:spPr>
          <a:xfrm>
            <a:off x="640080" y="566928"/>
            <a:ext cx="10881360" cy="777240"/>
          </a:xfrm>
          <a:prstGeom prst="rect">
            <a:avLst/>
          </a:prstGeom>
          <a:noFill/>
          <a:ln/>
        </p:spPr>
        <p:txBody>
          <a:bodyPr wrap="square" lIns="0" tIns="0" rIns="0" bIns="0" rtlCol="0" anchor="t"/>
          <a:lstStyle/>
          <a:p>
            <a:pPr marL="0" indent="0">
              <a:buNone/>
            </a:pPr>
            <a:r>
              <a:rPr lang="en-US" sz="3400" b="1" dirty="0">
                <a:solidFill>
                  <a:srgbClr val="142335"/>
                </a:solidFill>
                <a:latin typeface="Cambria" pitchFamily="34" charset="0"/>
                <a:ea typeface="Cambria" pitchFamily="34" charset="-122"/>
                <a:cs typeface="Cambria" pitchFamily="34" charset="-120"/>
              </a:rPr>
              <a:t>The category exists. Nobody is doing it here.</a:t>
            </a:r>
            <a:endParaRPr lang="en-US" sz="3400" dirty="0"/>
          </a:p>
        </p:txBody>
      </p:sp>
      <p:sp>
        <p:nvSpPr>
          <p:cNvPr id="4" name="Text 2"/>
          <p:cNvSpPr/>
          <p:nvPr/>
        </p:nvSpPr>
        <p:spPr>
          <a:xfrm>
            <a:off x="640080" y="1371600"/>
            <a:ext cx="10058400" cy="457200"/>
          </a:xfrm>
          <a:prstGeom prst="rect">
            <a:avLst/>
          </a:prstGeom>
          <a:noFill/>
          <a:ln/>
        </p:spPr>
        <p:txBody>
          <a:bodyPr wrap="square" lIns="0" tIns="0" rIns="0" bIns="0" rtlCol="0" anchor="ctr"/>
          <a:lstStyle/>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Concierge and award-booking desks are proven businesses elsewhere. None of them starts from the</a:t>
            </a:r>
            <a:endParaRPr lang="en-US" sz="1500" dirty="0"/>
          </a:p>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company's own statements and bills against a published floor price.</a:t>
            </a:r>
            <a:endParaRPr lang="en-US" sz="1500" dirty="0"/>
          </a:p>
        </p:txBody>
      </p:sp>
      <p:sp>
        <p:nvSpPr>
          <p:cNvPr id="5" name="Shape 3"/>
          <p:cNvSpPr/>
          <p:nvPr/>
        </p:nvSpPr>
        <p:spPr>
          <a:xfrm>
            <a:off x="640080" y="2377440"/>
            <a:ext cx="10908792" cy="841248"/>
          </a:xfrm>
          <a:prstGeom prst="roundRect">
            <a:avLst>
              <a:gd name="adj" fmla="val 10870"/>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6" name="Text 4"/>
          <p:cNvSpPr/>
          <p:nvPr/>
        </p:nvSpPr>
        <p:spPr>
          <a:xfrm>
            <a:off x="960120" y="2468880"/>
            <a:ext cx="2743200" cy="365760"/>
          </a:xfrm>
          <a:prstGeom prst="rect">
            <a:avLst/>
          </a:prstGeom>
          <a:noFill/>
          <a:ln/>
        </p:spPr>
        <p:txBody>
          <a:bodyPr wrap="square" lIns="0" tIns="0" rIns="0" bIns="0" rtlCol="0" anchor="ctr"/>
          <a:lstStyle/>
          <a:p>
            <a:pPr marL="0" indent="0">
              <a:buNone/>
            </a:pPr>
            <a:r>
              <a:rPr lang="en-US" sz="1450" b="1" dirty="0">
                <a:solidFill>
                  <a:srgbClr val="142335"/>
                </a:solidFill>
                <a:latin typeface="Cambria" pitchFamily="34" charset="0"/>
                <a:ea typeface="Cambria" pitchFamily="34" charset="-122"/>
                <a:cs typeface="Cambria" pitchFamily="34" charset="-120"/>
              </a:rPr>
              <a:t>Ten Lifestyle Group</a:t>
            </a:r>
            <a:endParaRPr lang="en-US" sz="1450" dirty="0"/>
          </a:p>
        </p:txBody>
      </p:sp>
      <p:sp>
        <p:nvSpPr>
          <p:cNvPr id="7" name="Text 5"/>
          <p:cNvSpPr/>
          <p:nvPr/>
        </p:nvSpPr>
        <p:spPr>
          <a:xfrm>
            <a:off x="960120" y="2816352"/>
            <a:ext cx="2743200" cy="292608"/>
          </a:xfrm>
          <a:prstGeom prst="rect">
            <a:avLst/>
          </a:prstGeom>
          <a:noFill/>
          <a:ln/>
        </p:spPr>
        <p:txBody>
          <a:bodyPr wrap="square" lIns="0" tIns="0" rIns="0" bIns="0" rtlCol="0" anchor="t"/>
          <a:lstStyle/>
          <a:p>
            <a:pPr marL="0" indent="0">
              <a:buNone/>
            </a:pPr>
            <a:r>
              <a:rPr lang="en-US" sz="1000" dirty="0">
                <a:solidFill>
                  <a:srgbClr val="6E7890"/>
                </a:solidFill>
                <a:latin typeface="Calibri" pitchFamily="34" charset="0"/>
                <a:ea typeface="Calibri" pitchFamily="34" charset="-122"/>
                <a:cs typeface="Calibri" pitchFamily="34" charset="-120"/>
              </a:rPr>
              <a:t>UK, listed</a:t>
            </a:r>
            <a:endParaRPr lang="en-US" sz="1000" dirty="0"/>
          </a:p>
        </p:txBody>
      </p:sp>
      <p:sp>
        <p:nvSpPr>
          <p:cNvPr id="8" name="Text 6"/>
          <p:cNvSpPr/>
          <p:nvPr/>
        </p:nvSpPr>
        <p:spPr>
          <a:xfrm>
            <a:off x="3840480" y="2377440"/>
            <a:ext cx="7406640" cy="841248"/>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Concierge for banks. £65.7m net revenue, 50+ corporate clients. Sells to the issuer, not to the company whose points they are.</a:t>
            </a:r>
            <a:endParaRPr lang="en-US" sz="1150" dirty="0"/>
          </a:p>
        </p:txBody>
      </p:sp>
      <p:sp>
        <p:nvSpPr>
          <p:cNvPr id="9" name="Shape 7"/>
          <p:cNvSpPr/>
          <p:nvPr/>
        </p:nvSpPr>
        <p:spPr>
          <a:xfrm>
            <a:off x="640080" y="3310128"/>
            <a:ext cx="10908792" cy="841248"/>
          </a:xfrm>
          <a:prstGeom prst="roundRect">
            <a:avLst>
              <a:gd name="adj" fmla="val 10870"/>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0" name="Text 8"/>
          <p:cNvSpPr/>
          <p:nvPr/>
        </p:nvSpPr>
        <p:spPr>
          <a:xfrm>
            <a:off x="960120" y="3401568"/>
            <a:ext cx="2743200" cy="365760"/>
          </a:xfrm>
          <a:prstGeom prst="rect">
            <a:avLst/>
          </a:prstGeom>
          <a:noFill/>
          <a:ln/>
        </p:spPr>
        <p:txBody>
          <a:bodyPr wrap="square" lIns="0" tIns="0" rIns="0" bIns="0" rtlCol="0" anchor="ctr"/>
          <a:lstStyle/>
          <a:p>
            <a:pPr marL="0" indent="0">
              <a:buNone/>
            </a:pPr>
            <a:r>
              <a:rPr lang="en-US" sz="1450" b="1" dirty="0">
                <a:solidFill>
                  <a:srgbClr val="142335"/>
                </a:solidFill>
                <a:latin typeface="Cambria" pitchFamily="34" charset="0"/>
                <a:ea typeface="Cambria" pitchFamily="34" charset="-122"/>
                <a:cs typeface="Cambria" pitchFamily="34" charset="-120"/>
              </a:rPr>
              <a:t>Award booking desks</a:t>
            </a:r>
            <a:endParaRPr lang="en-US" sz="1450" dirty="0"/>
          </a:p>
        </p:txBody>
      </p:sp>
      <p:sp>
        <p:nvSpPr>
          <p:cNvPr id="11" name="Text 9"/>
          <p:cNvSpPr/>
          <p:nvPr/>
        </p:nvSpPr>
        <p:spPr>
          <a:xfrm>
            <a:off x="960120" y="3749040"/>
            <a:ext cx="2743200" cy="292608"/>
          </a:xfrm>
          <a:prstGeom prst="rect">
            <a:avLst/>
          </a:prstGeom>
          <a:noFill/>
          <a:ln/>
        </p:spPr>
        <p:txBody>
          <a:bodyPr wrap="square" lIns="0" tIns="0" rIns="0" bIns="0" rtlCol="0" anchor="t"/>
          <a:lstStyle/>
          <a:p>
            <a:pPr marL="0" indent="0">
              <a:buNone/>
            </a:pPr>
            <a:r>
              <a:rPr lang="en-US" sz="1000" dirty="0">
                <a:solidFill>
                  <a:srgbClr val="6E7890"/>
                </a:solidFill>
                <a:latin typeface="Calibri" pitchFamily="34" charset="0"/>
                <a:ea typeface="Calibri" pitchFamily="34" charset="-122"/>
                <a:cs typeface="Calibri" pitchFamily="34" charset="-120"/>
              </a:rPr>
              <a:t>US</a:t>
            </a:r>
            <a:endParaRPr lang="en-US" sz="1000" dirty="0"/>
          </a:p>
        </p:txBody>
      </p:sp>
      <p:sp>
        <p:nvSpPr>
          <p:cNvPr id="12" name="Text 10"/>
          <p:cNvSpPr/>
          <p:nvPr/>
        </p:nvSpPr>
        <p:spPr>
          <a:xfrm>
            <a:off x="3840480" y="3310128"/>
            <a:ext cx="7406640" cy="841248"/>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point.me, Award Magic, PointsPros. Roughly $150–$260 per booking. Consumer, transactional, no corporate view.</a:t>
            </a:r>
            <a:endParaRPr lang="en-US" sz="1150" dirty="0"/>
          </a:p>
        </p:txBody>
      </p:sp>
      <p:sp>
        <p:nvSpPr>
          <p:cNvPr id="13" name="Shape 11"/>
          <p:cNvSpPr/>
          <p:nvPr/>
        </p:nvSpPr>
        <p:spPr>
          <a:xfrm>
            <a:off x="640080" y="4242816"/>
            <a:ext cx="10908792" cy="841248"/>
          </a:xfrm>
          <a:prstGeom prst="roundRect">
            <a:avLst>
              <a:gd name="adj" fmla="val 10870"/>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4" name="Text 12"/>
          <p:cNvSpPr/>
          <p:nvPr/>
        </p:nvSpPr>
        <p:spPr>
          <a:xfrm>
            <a:off x="960120" y="4334256"/>
            <a:ext cx="2743200" cy="365760"/>
          </a:xfrm>
          <a:prstGeom prst="rect">
            <a:avLst/>
          </a:prstGeom>
          <a:noFill/>
          <a:ln/>
        </p:spPr>
        <p:txBody>
          <a:bodyPr wrap="square" lIns="0" tIns="0" rIns="0" bIns="0" rtlCol="0" anchor="ctr"/>
          <a:lstStyle/>
          <a:p>
            <a:pPr marL="0" indent="0">
              <a:buNone/>
            </a:pPr>
            <a:r>
              <a:rPr lang="en-US" sz="1450" b="1" dirty="0">
                <a:solidFill>
                  <a:srgbClr val="142335"/>
                </a:solidFill>
                <a:latin typeface="Cambria" pitchFamily="34" charset="0"/>
                <a:ea typeface="Cambria" pitchFamily="34" charset="-122"/>
                <a:cs typeface="Cambria" pitchFamily="34" charset="-120"/>
              </a:rPr>
              <a:t>Comparison sites</a:t>
            </a:r>
            <a:endParaRPr lang="en-US" sz="1450" dirty="0"/>
          </a:p>
        </p:txBody>
      </p:sp>
      <p:sp>
        <p:nvSpPr>
          <p:cNvPr id="15" name="Text 13"/>
          <p:cNvSpPr/>
          <p:nvPr/>
        </p:nvSpPr>
        <p:spPr>
          <a:xfrm>
            <a:off x="960120" y="4681728"/>
            <a:ext cx="2743200" cy="292608"/>
          </a:xfrm>
          <a:prstGeom prst="rect">
            <a:avLst/>
          </a:prstGeom>
          <a:noFill/>
          <a:ln/>
        </p:spPr>
        <p:txBody>
          <a:bodyPr wrap="square" lIns="0" tIns="0" rIns="0" bIns="0" rtlCol="0" anchor="t"/>
          <a:lstStyle/>
          <a:p>
            <a:pPr marL="0" indent="0">
              <a:buNone/>
            </a:pPr>
            <a:r>
              <a:rPr lang="en-US" sz="1000" dirty="0">
                <a:solidFill>
                  <a:srgbClr val="6E7890"/>
                </a:solidFill>
                <a:latin typeface="Calibri" pitchFamily="34" charset="0"/>
                <a:ea typeface="Calibri" pitchFamily="34" charset="-122"/>
                <a:cs typeface="Calibri" pitchFamily="34" charset="-120"/>
              </a:rPr>
              <a:t>India</a:t>
            </a:r>
            <a:endParaRPr lang="en-US" sz="1000" dirty="0"/>
          </a:p>
        </p:txBody>
      </p:sp>
      <p:sp>
        <p:nvSpPr>
          <p:cNvPr id="16" name="Text 14"/>
          <p:cNvSpPr/>
          <p:nvPr/>
        </p:nvSpPr>
        <p:spPr>
          <a:xfrm>
            <a:off x="3840480" y="4242816"/>
            <a:ext cx="7406640" cy="841248"/>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Funded by approvals. Revenue depends on which card you take out, so the ranking cannot be neutral.</a:t>
            </a:r>
            <a:endParaRPr lang="en-US" sz="1150" dirty="0"/>
          </a:p>
        </p:txBody>
      </p:sp>
      <p:sp>
        <p:nvSpPr>
          <p:cNvPr id="17" name="Shape 15"/>
          <p:cNvSpPr/>
          <p:nvPr/>
        </p:nvSpPr>
        <p:spPr>
          <a:xfrm>
            <a:off x="640080" y="5175504"/>
            <a:ext cx="10908792" cy="841248"/>
          </a:xfrm>
          <a:prstGeom prst="roundRect">
            <a:avLst>
              <a:gd name="adj" fmla="val 10870"/>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8" name="Text 16"/>
          <p:cNvSpPr/>
          <p:nvPr/>
        </p:nvSpPr>
        <p:spPr>
          <a:xfrm>
            <a:off x="960120" y="5266944"/>
            <a:ext cx="2743200" cy="365760"/>
          </a:xfrm>
          <a:prstGeom prst="rect">
            <a:avLst/>
          </a:prstGeom>
          <a:noFill/>
          <a:ln/>
        </p:spPr>
        <p:txBody>
          <a:bodyPr wrap="square" lIns="0" tIns="0" rIns="0" bIns="0" rtlCol="0" anchor="ctr"/>
          <a:lstStyle/>
          <a:p>
            <a:pPr marL="0" indent="0">
              <a:buNone/>
            </a:pPr>
            <a:r>
              <a:rPr lang="en-US" sz="1450" b="1" dirty="0">
                <a:solidFill>
                  <a:srgbClr val="142335"/>
                </a:solidFill>
                <a:latin typeface="Cambria" pitchFamily="34" charset="0"/>
                <a:ea typeface="Cambria" pitchFamily="34" charset="-122"/>
                <a:cs typeface="Cambria" pitchFamily="34" charset="-120"/>
              </a:rPr>
              <a:t>Consumer optimisers</a:t>
            </a:r>
            <a:endParaRPr lang="en-US" sz="1450" dirty="0"/>
          </a:p>
        </p:txBody>
      </p:sp>
      <p:sp>
        <p:nvSpPr>
          <p:cNvPr id="19" name="Text 17"/>
          <p:cNvSpPr/>
          <p:nvPr/>
        </p:nvSpPr>
        <p:spPr>
          <a:xfrm>
            <a:off x="960120" y="5614416"/>
            <a:ext cx="2743200" cy="292608"/>
          </a:xfrm>
          <a:prstGeom prst="rect">
            <a:avLst/>
          </a:prstGeom>
          <a:noFill/>
          <a:ln/>
        </p:spPr>
        <p:txBody>
          <a:bodyPr wrap="square" lIns="0" tIns="0" rIns="0" bIns="0" rtlCol="0" anchor="t"/>
          <a:lstStyle/>
          <a:p>
            <a:pPr marL="0" indent="0">
              <a:buNone/>
            </a:pPr>
            <a:r>
              <a:rPr lang="en-US" sz="1000" dirty="0">
                <a:solidFill>
                  <a:srgbClr val="6E7890"/>
                </a:solidFill>
                <a:latin typeface="Calibri" pitchFamily="34" charset="0"/>
                <a:ea typeface="Calibri" pitchFamily="34" charset="-122"/>
                <a:cs typeface="Calibri" pitchFamily="34" charset="-120"/>
              </a:rPr>
              <a:t>Singapore</a:t>
            </a:r>
            <a:endParaRPr lang="en-US" sz="1000" dirty="0"/>
          </a:p>
        </p:txBody>
      </p:sp>
      <p:sp>
        <p:nvSpPr>
          <p:cNvPr id="20" name="Text 18"/>
          <p:cNvSpPr/>
          <p:nvPr/>
        </p:nvSpPr>
        <p:spPr>
          <a:xfrm>
            <a:off x="3840480" y="5175504"/>
            <a:ext cx="7406640" cy="841248"/>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MileLion, SingSaver, MoneySmart, Seedly — free to the user, affiliate-funded. None sells to a finance team.</a:t>
            </a:r>
            <a:endParaRPr lang="en-US" sz="1150" dirty="0"/>
          </a:p>
        </p:txBody>
      </p:sp>
      <p:sp>
        <p:nvSpPr>
          <p:cNvPr id="21" name="Text 19"/>
          <p:cNvSpPr/>
          <p:nvPr/>
        </p:nvSpPr>
        <p:spPr>
          <a:xfrm>
            <a:off x="640080" y="6327648"/>
            <a:ext cx="7680960" cy="274320"/>
          </a:xfrm>
          <a:prstGeom prst="rect">
            <a:avLst/>
          </a:prstGeom>
          <a:noFill/>
          <a:ln/>
        </p:spPr>
        <p:txBody>
          <a:bodyPr wrap="square" lIns="0" tIns="0" rIns="0" bIns="0" rtlCol="0" anchor="ctr"/>
          <a:lstStyle/>
          <a:p>
            <a:pPr marL="0" indent="0">
              <a:buNone/>
            </a:pPr>
            <a:r>
              <a:rPr lang="en-US" sz="850" dirty="0">
                <a:solidFill>
                  <a:srgbClr val="6E7890"/>
                </a:solidFill>
                <a:latin typeface="Calibri" pitchFamily="34" charset="0"/>
                <a:ea typeface="Calibri" pitchFamily="34" charset="-122"/>
                <a:cs typeface="Calibri" pitchFamily="34" charset="-120"/>
              </a:rPr>
              <a:t>The UAE competitive landscape has not yet been surveyed — we are not claiming there is nobody there.</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640080" y="237744"/>
            <a:ext cx="10881360" cy="274320"/>
          </a:xfrm>
          <a:prstGeom prst="rect">
            <a:avLst/>
          </a:prstGeom>
          <a:noFill/>
          <a:ln/>
        </p:spPr>
        <p:txBody>
          <a:bodyPr wrap="square" lIns="0" tIns="0" rIns="0" bIns="0" rtlCol="0" anchor="b"/>
          <a:lstStyle/>
          <a:p>
            <a:pPr marL="0" indent="0">
              <a:buNone/>
            </a:pPr>
            <a:r>
              <a:rPr lang="en-US" sz="1100" b="1" kern="0" spc="200" dirty="0">
                <a:solidFill>
                  <a:srgbClr val="8C5F12"/>
                </a:solidFill>
                <a:latin typeface="Calibri" pitchFamily="34" charset="0"/>
                <a:ea typeface="Calibri" pitchFamily="34" charset="-122"/>
                <a:cs typeface="Calibri" pitchFamily="34" charset="-120"/>
              </a:rPr>
              <a:t>TRACTION</a:t>
            </a:r>
            <a:endParaRPr lang="en-US" sz="1100" dirty="0"/>
          </a:p>
        </p:txBody>
      </p:sp>
      <p:sp>
        <p:nvSpPr>
          <p:cNvPr id="3" name="Text 1"/>
          <p:cNvSpPr/>
          <p:nvPr/>
        </p:nvSpPr>
        <p:spPr>
          <a:xfrm>
            <a:off x="640080" y="566928"/>
            <a:ext cx="10881360" cy="777240"/>
          </a:xfrm>
          <a:prstGeom prst="rect">
            <a:avLst/>
          </a:prstGeom>
          <a:noFill/>
          <a:ln/>
        </p:spPr>
        <p:txBody>
          <a:bodyPr wrap="square" lIns="0" tIns="0" rIns="0" bIns="0" rtlCol="0" anchor="t"/>
          <a:lstStyle/>
          <a:p>
            <a:pPr marL="0" indent="0">
              <a:buNone/>
            </a:pPr>
            <a:r>
              <a:rPr lang="en-US" sz="3400" b="1" dirty="0">
                <a:solidFill>
                  <a:srgbClr val="142335"/>
                </a:solidFill>
                <a:latin typeface="Cambria" pitchFamily="34" charset="0"/>
                <a:ea typeface="Cambria" pitchFamily="34" charset="-122"/>
                <a:cs typeface="Cambria" pitchFamily="34" charset="-120"/>
              </a:rPr>
              <a:t>What is actually shipped</a:t>
            </a:r>
            <a:endParaRPr lang="en-US" sz="3400" dirty="0"/>
          </a:p>
        </p:txBody>
      </p:sp>
      <p:sp>
        <p:nvSpPr>
          <p:cNvPr id="4" name="Text 2"/>
          <p:cNvSpPr/>
          <p:nvPr/>
        </p:nvSpPr>
        <p:spPr>
          <a:xfrm>
            <a:off x="640080" y="1371600"/>
            <a:ext cx="10058400" cy="457200"/>
          </a:xfrm>
          <a:prstGeom prst="rect">
            <a:avLst/>
          </a:prstGeom>
          <a:noFill/>
          <a:ln/>
        </p:spPr>
        <p:txBody>
          <a:bodyPr wrap="square" lIns="0" tIns="0" rIns="0" bIns="0" rtlCol="0" anchor="ctr"/>
          <a:lstStyle/>
          <a:p>
            <a:pPr marL="0" indent="0">
              <a:lnSpc>
                <a:spcPts val="2000"/>
              </a:lnSpc>
              <a:buNone/>
            </a:pPr>
            <a:r>
              <a:rPr lang="en-US" sz="1500" dirty="0">
                <a:solidFill>
                  <a:srgbClr val="44506A"/>
                </a:solidFill>
                <a:latin typeface="Calibri" pitchFamily="34" charset="0"/>
                <a:ea typeface="Calibri" pitchFamily="34" charset="-122"/>
                <a:cs typeface="Calibri" pitchFamily="34" charset="-120"/>
              </a:rPr>
              <a:t>Everything on the left runs in production today. We separate what works from what is planned, deliberately.</a:t>
            </a:r>
            <a:endParaRPr lang="en-US" sz="1500" dirty="0"/>
          </a:p>
        </p:txBody>
      </p:sp>
      <p:sp>
        <p:nvSpPr>
          <p:cNvPr id="5" name="Shape 3"/>
          <p:cNvSpPr/>
          <p:nvPr/>
        </p:nvSpPr>
        <p:spPr>
          <a:xfrm>
            <a:off x="640080" y="2286000"/>
            <a:ext cx="5760720" cy="3474720"/>
          </a:xfrm>
          <a:prstGeom prst="roundRect">
            <a:avLst>
              <a:gd name="adj" fmla="val 2632"/>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6" name="Text 4"/>
          <p:cNvSpPr/>
          <p:nvPr/>
        </p:nvSpPr>
        <p:spPr>
          <a:xfrm>
            <a:off x="960120" y="2542032"/>
            <a:ext cx="5120640" cy="384048"/>
          </a:xfrm>
          <a:prstGeom prst="rect">
            <a:avLst/>
          </a:prstGeom>
          <a:noFill/>
          <a:ln/>
        </p:spPr>
        <p:txBody>
          <a:bodyPr wrap="square" lIns="0" tIns="0" rIns="0" bIns="0" rtlCol="0" anchor="ctr"/>
          <a:lstStyle/>
          <a:p>
            <a:pPr marL="0" indent="0">
              <a:buNone/>
            </a:pPr>
            <a:r>
              <a:rPr lang="en-US" sz="1800" b="1" dirty="0">
                <a:solidFill>
                  <a:srgbClr val="3E8E63"/>
                </a:solidFill>
                <a:latin typeface="Cambria" pitchFamily="34" charset="0"/>
                <a:ea typeface="Cambria" pitchFamily="34" charset="-122"/>
                <a:cs typeface="Cambria" pitchFamily="34" charset="-120"/>
              </a:rPr>
              <a:t>Live</a:t>
            </a:r>
            <a:endParaRPr lang="en-US" sz="1800" dirty="0"/>
          </a:p>
        </p:txBody>
      </p:sp>
      <p:sp>
        <p:nvSpPr>
          <p:cNvPr id="7" name="Text 5"/>
          <p:cNvSpPr/>
          <p:nvPr/>
        </p:nvSpPr>
        <p:spPr>
          <a:xfrm>
            <a:off x="960120" y="3017520"/>
            <a:ext cx="5120640" cy="260604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44506A"/>
                </a:solidFill>
                <a:latin typeface="Calibri" pitchFamily="34" charset="0"/>
                <a:ea typeface="Calibri" pitchFamily="34" charset="-122"/>
                <a:cs typeface="Calibri" pitchFamily="34" charset="-120"/>
              </a:rPr>
              <a:t>One-time payments, proven end to end with a real order</a:t>
            </a:r>
            <a:endParaRPr lang="en-US" sz="1200" dirty="0"/>
          </a:p>
          <a:p>
            <a:pPr marL="342900" indent="-342900">
              <a:spcAft>
                <a:spcPts val="800"/>
              </a:spcAft>
              <a:buSzPct val="100000"/>
              <a:buChar char="•"/>
            </a:pPr>
            <a:r>
              <a:rPr lang="en-US" sz="1200" dirty="0">
                <a:solidFill>
                  <a:srgbClr val="44506A"/>
                </a:solidFill>
                <a:latin typeface="Calibri" pitchFamily="34" charset="0"/>
                <a:ea typeface="Calibri" pitchFamily="34" charset="-122"/>
                <a:cs typeface="Calibri" pitchFamily="34" charset="-120"/>
              </a:rPr>
              <a:t>First-run pricing across four tiers, live for new users</a:t>
            </a:r>
            <a:endParaRPr lang="en-US" sz="1200" dirty="0"/>
          </a:p>
          <a:p>
            <a:pPr marL="342900" indent="-342900">
              <a:spcAft>
                <a:spcPts val="800"/>
              </a:spcAft>
              <a:buSzPct val="100000"/>
              <a:buChar char="•"/>
            </a:pPr>
            <a:r>
              <a:rPr lang="en-US" sz="1200" dirty="0">
                <a:solidFill>
                  <a:srgbClr val="44506A"/>
                </a:solidFill>
                <a:latin typeface="Calibri" pitchFamily="34" charset="0"/>
                <a:ea typeface="Calibri" pitchFamily="34" charset="-122"/>
                <a:cs typeface="Calibri" pitchFamily="34" charset="-120"/>
              </a:rPr>
              <a:t>Wallet with verified and self-entered provenance</a:t>
            </a:r>
            <a:endParaRPr lang="en-US" sz="1200" dirty="0"/>
          </a:p>
          <a:p>
            <a:pPr marL="342900" indent="-342900">
              <a:spcAft>
                <a:spcPts val="800"/>
              </a:spcAft>
              <a:buSzPct val="100000"/>
              <a:buChar char="•"/>
            </a:pPr>
            <a:r>
              <a:rPr lang="en-US" sz="1200" dirty="0">
                <a:solidFill>
                  <a:srgbClr val="44506A"/>
                </a:solidFill>
                <a:latin typeface="Calibri" pitchFamily="34" charset="0"/>
                <a:ea typeface="Calibri" pitchFamily="34" charset="-122"/>
                <a:cs typeface="Calibri" pitchFamily="34" charset="-120"/>
              </a:rPr>
              <a:t>Inline balance editing with one-way demotion</a:t>
            </a:r>
            <a:endParaRPr lang="en-US" sz="1200" dirty="0"/>
          </a:p>
          <a:p>
            <a:pPr marL="342900" indent="-342900">
              <a:spcAft>
                <a:spcPts val="800"/>
              </a:spcAft>
              <a:buSzPct val="100000"/>
              <a:buChar char="•"/>
            </a:pPr>
            <a:r>
              <a:rPr lang="en-US" sz="1200" dirty="0">
                <a:solidFill>
                  <a:srgbClr val="44506A"/>
                </a:solidFill>
                <a:latin typeface="Calibri" pitchFamily="34" charset="0"/>
                <a:ea typeface="Calibri" pitchFamily="34" charset="-122"/>
                <a:cs typeface="Calibri" pitchFamily="34" charset="-120"/>
              </a:rPr>
              <a:t>Statement upload, re-upload and re-verification</a:t>
            </a:r>
            <a:endParaRPr lang="en-US" sz="1200" dirty="0"/>
          </a:p>
          <a:p>
            <a:pPr marL="342900" indent="-342900">
              <a:spcAft>
                <a:spcPts val="800"/>
              </a:spcAft>
              <a:buSzPct val="100000"/>
              <a:buChar char="•"/>
            </a:pPr>
            <a:r>
              <a:rPr lang="en-US" sz="1200" dirty="0">
                <a:solidFill>
                  <a:srgbClr val="44506A"/>
                </a:solidFill>
                <a:latin typeface="Calibri" pitchFamily="34" charset="0"/>
                <a:ea typeface="Calibri" pitchFamily="34" charset="-122"/>
                <a:cs typeface="Calibri" pitchFamily="34" charset="-120"/>
              </a:rPr>
              <a:t>Fee forensics computing ₹17,301 for a live organisation</a:t>
            </a:r>
            <a:endParaRPr lang="en-US" sz="1200" dirty="0"/>
          </a:p>
          <a:p>
            <a:pPr marL="342900" indent="-342900">
              <a:spcAft>
                <a:spcPts val="800"/>
              </a:spcAft>
              <a:buSzPct val="100000"/>
              <a:buChar char="•"/>
            </a:pPr>
            <a:r>
              <a:rPr lang="en-US" sz="1200" dirty="0">
                <a:solidFill>
                  <a:srgbClr val="44506A"/>
                </a:solidFill>
                <a:latin typeface="Calibri" pitchFamily="34" charset="0"/>
                <a:ea typeface="Calibri" pitchFamily="34" charset="-122"/>
                <a:cs typeface="Calibri" pitchFamily="34" charset="-120"/>
              </a:rPr>
              <a:t>Intelligence pipeline running nightly across three networks</a:t>
            </a:r>
            <a:endParaRPr lang="en-US" sz="1200" dirty="0"/>
          </a:p>
        </p:txBody>
      </p:sp>
      <p:sp>
        <p:nvSpPr>
          <p:cNvPr id="8" name="Shape 6"/>
          <p:cNvSpPr/>
          <p:nvPr/>
        </p:nvSpPr>
        <p:spPr>
          <a:xfrm>
            <a:off x="6583680" y="2286000"/>
            <a:ext cx="4965192" cy="3474720"/>
          </a:xfrm>
          <a:prstGeom prst="roundRect">
            <a:avLst>
              <a:gd name="adj" fmla="val 2632"/>
            </a:avLst>
          </a:prstGeom>
          <a:solidFill>
            <a:srgbClr val="F1ECE4"/>
          </a:solidFill>
          <a:ln w="9525">
            <a:solidFill>
              <a:srgbClr val="E7E0D4"/>
            </a:solidFill>
            <a:prstDash val="solid"/>
          </a:ln>
          <a:effectLst>
            <a:outerShdw blurRad="101600" dist="12700" dir="5400000" algn="bl" rotWithShape="0">
              <a:srgbClr val="B9AE9C">
                <a:alpha val="18000"/>
              </a:srgbClr>
            </a:outerShdw>
          </a:effectLst>
        </p:spPr>
      </p:sp>
      <p:sp>
        <p:nvSpPr>
          <p:cNvPr id="9" name="Text 7"/>
          <p:cNvSpPr/>
          <p:nvPr/>
        </p:nvSpPr>
        <p:spPr>
          <a:xfrm>
            <a:off x="6903720" y="2542032"/>
            <a:ext cx="4297680" cy="384048"/>
          </a:xfrm>
          <a:prstGeom prst="rect">
            <a:avLst/>
          </a:prstGeom>
          <a:noFill/>
          <a:ln/>
        </p:spPr>
        <p:txBody>
          <a:bodyPr wrap="square" lIns="0" tIns="0" rIns="0" bIns="0" rtlCol="0" anchor="ctr"/>
          <a:lstStyle/>
          <a:p>
            <a:pPr marL="0" indent="0">
              <a:buNone/>
            </a:pPr>
            <a:r>
              <a:rPr lang="en-US" sz="1800" b="1" dirty="0">
                <a:solidFill>
                  <a:srgbClr val="CA7344"/>
                </a:solidFill>
                <a:latin typeface="Cambria" pitchFamily="34" charset="0"/>
                <a:ea typeface="Cambria" pitchFamily="34" charset="-122"/>
                <a:cs typeface="Cambria" pitchFamily="34" charset="-120"/>
              </a:rPr>
              <a:t>Next</a:t>
            </a:r>
            <a:endParaRPr lang="en-US" sz="1800" dirty="0"/>
          </a:p>
        </p:txBody>
      </p:sp>
      <p:sp>
        <p:nvSpPr>
          <p:cNvPr id="10" name="Text 8"/>
          <p:cNvSpPr/>
          <p:nvPr/>
        </p:nvSpPr>
        <p:spPr>
          <a:xfrm>
            <a:off x="6903720" y="3017520"/>
            <a:ext cx="4297680" cy="182880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44506A"/>
                </a:solidFill>
                <a:latin typeface="Calibri" pitchFamily="34" charset="0"/>
                <a:ea typeface="Calibri" pitchFamily="34" charset="-122"/>
                <a:cs typeface="Calibri" pitchFamily="34" charset="-120"/>
              </a:rPr>
              <a:t>First corporate pilots — none signed to date</a:t>
            </a:r>
            <a:endParaRPr lang="en-US" sz="1250" dirty="0"/>
          </a:p>
          <a:p>
            <a:pPr marL="342900" indent="-342900">
              <a:spcAft>
                <a:spcPts val="1000"/>
              </a:spcAft>
              <a:buSzPct val="100000"/>
              <a:buChar char="•"/>
            </a:pPr>
            <a:r>
              <a:rPr lang="en-US" sz="1250" dirty="0">
                <a:solidFill>
                  <a:srgbClr val="44506A"/>
                </a:solidFill>
                <a:latin typeface="Calibri" pitchFamily="34" charset="0"/>
                <a:ea typeface="Calibri" pitchFamily="34" charset="-122"/>
                <a:cs typeface="Calibri" pitchFamily="34" charset="-120"/>
              </a:rPr>
              <a:t>The points desk, staffed and operating</a:t>
            </a:r>
            <a:endParaRPr lang="en-US" sz="1250" dirty="0"/>
          </a:p>
          <a:p>
            <a:pPr marL="342900" indent="-342900">
              <a:spcAft>
                <a:spcPts val="1000"/>
              </a:spcAft>
              <a:buSzPct val="100000"/>
              <a:buChar char="•"/>
            </a:pPr>
            <a:r>
              <a:rPr lang="en-US" sz="1250" dirty="0">
                <a:solidFill>
                  <a:srgbClr val="44506A"/>
                </a:solidFill>
                <a:latin typeface="Calibri" pitchFamily="34" charset="0"/>
                <a:ea typeface="Calibri" pitchFamily="34" charset="-122"/>
                <a:cs typeface="Calibri" pitchFamily="34" charset="-120"/>
              </a:rPr>
              <a:t>UAE entity trading and first UAE customers</a:t>
            </a:r>
            <a:endParaRPr lang="en-US" sz="1250" dirty="0"/>
          </a:p>
          <a:p>
            <a:pPr marL="342900" indent="-342900">
              <a:spcAft>
                <a:spcPts val="1000"/>
              </a:spcAft>
              <a:buSzPct val="100000"/>
              <a:buChar char="•"/>
            </a:pPr>
            <a:r>
              <a:rPr lang="en-US" sz="1250" dirty="0">
                <a:solidFill>
                  <a:srgbClr val="44506A"/>
                </a:solidFill>
                <a:latin typeface="Calibri" pitchFamily="34" charset="0"/>
                <a:ea typeface="Calibri" pitchFamily="34" charset="-122"/>
                <a:cs typeface="Calibri" pitchFamily="34" charset="-120"/>
              </a:rPr>
              <a:t>Per-issuer floor prices across all four markets</a:t>
            </a:r>
            <a:endParaRPr lang="en-US" sz="1250" dirty="0"/>
          </a:p>
        </p:txBody>
      </p:sp>
      <p:sp>
        <p:nvSpPr>
          <p:cNvPr id="11" name="Shape 9"/>
          <p:cNvSpPr/>
          <p:nvPr/>
        </p:nvSpPr>
        <p:spPr>
          <a:xfrm>
            <a:off x="6903720" y="5166360"/>
            <a:ext cx="3291840" cy="274320"/>
          </a:xfrm>
          <a:prstGeom prst="roundRect">
            <a:avLst>
              <a:gd name="adj" fmla="val 50000"/>
            </a:avLst>
          </a:prstGeom>
          <a:solidFill>
            <a:srgbClr val="FFFFFF"/>
          </a:solidFill>
          <a:ln w="9525">
            <a:solidFill>
              <a:srgbClr val="E7E0D4"/>
            </a:solidFill>
            <a:prstDash val="solid"/>
          </a:ln>
        </p:spPr>
      </p:sp>
      <p:sp>
        <p:nvSpPr>
          <p:cNvPr id="12" name="Text 10"/>
          <p:cNvSpPr/>
          <p:nvPr/>
        </p:nvSpPr>
        <p:spPr>
          <a:xfrm>
            <a:off x="6903720" y="5166360"/>
            <a:ext cx="3291840" cy="274320"/>
          </a:xfrm>
          <a:prstGeom prst="rect">
            <a:avLst/>
          </a:prstGeom>
          <a:noFill/>
          <a:ln/>
        </p:spPr>
        <p:txBody>
          <a:bodyPr wrap="square" lIns="0" tIns="0" rIns="0" bIns="0" rtlCol="0" anchor="ctr"/>
          <a:lstStyle/>
          <a:p>
            <a:pPr marL="0" indent="0" algn="ctr">
              <a:buNone/>
            </a:pPr>
            <a:r>
              <a:rPr lang="en-US" sz="950" b="1" dirty="0">
                <a:solidFill>
                  <a:srgbClr val="CA7344"/>
                </a:solidFill>
                <a:latin typeface="Calibri" pitchFamily="34" charset="0"/>
                <a:ea typeface="Calibri" pitchFamily="34" charset="-122"/>
                <a:cs typeface="Calibri" pitchFamily="34" charset="-120"/>
              </a:rPr>
              <a:t>Forward-looking · not booked revenue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640080" y="237744"/>
            <a:ext cx="10881360" cy="274320"/>
          </a:xfrm>
          <a:prstGeom prst="rect">
            <a:avLst/>
          </a:prstGeom>
          <a:noFill/>
          <a:ln/>
        </p:spPr>
        <p:txBody>
          <a:bodyPr wrap="square" lIns="0" tIns="0" rIns="0" bIns="0" rtlCol="0" anchor="b"/>
          <a:lstStyle/>
          <a:p>
            <a:pPr marL="0" indent="0">
              <a:buNone/>
            </a:pPr>
            <a:r>
              <a:rPr lang="en-US" sz="1100" b="1" kern="0" spc="200" dirty="0">
                <a:solidFill>
                  <a:srgbClr val="8C5F12"/>
                </a:solidFill>
                <a:latin typeface="Calibri" pitchFamily="34" charset="0"/>
                <a:ea typeface="Calibri" pitchFamily="34" charset="-122"/>
                <a:cs typeface="Calibri" pitchFamily="34" charset="-120"/>
              </a:rPr>
              <a:t>THE ASK</a:t>
            </a:r>
            <a:endParaRPr lang="en-US" sz="1100" dirty="0"/>
          </a:p>
        </p:txBody>
      </p:sp>
      <p:sp>
        <p:nvSpPr>
          <p:cNvPr id="3" name="Text 1"/>
          <p:cNvSpPr/>
          <p:nvPr/>
        </p:nvSpPr>
        <p:spPr>
          <a:xfrm>
            <a:off x="640080" y="566928"/>
            <a:ext cx="10881360" cy="777240"/>
          </a:xfrm>
          <a:prstGeom prst="rect">
            <a:avLst/>
          </a:prstGeom>
          <a:noFill/>
          <a:ln/>
        </p:spPr>
        <p:txBody>
          <a:bodyPr wrap="square" lIns="0" tIns="0" rIns="0" bIns="0" rtlCol="0" anchor="t"/>
          <a:lstStyle/>
          <a:p>
            <a:pPr marL="0" indent="0">
              <a:buNone/>
            </a:pPr>
            <a:r>
              <a:rPr lang="en-US" sz="3400" b="1" dirty="0">
                <a:solidFill>
                  <a:srgbClr val="142335"/>
                </a:solidFill>
                <a:latin typeface="Cambria" pitchFamily="34" charset="0"/>
                <a:ea typeface="Cambria" pitchFamily="34" charset="-122"/>
                <a:cs typeface="Cambria" pitchFamily="34" charset="-120"/>
              </a:rPr>
              <a:t>₹4 Cr to make India pay for the rest</a:t>
            </a:r>
            <a:endParaRPr lang="en-US" sz="3400" dirty="0"/>
          </a:p>
        </p:txBody>
      </p:sp>
      <p:sp>
        <p:nvSpPr>
          <p:cNvPr id="4" name="Text 2"/>
          <p:cNvSpPr/>
          <p:nvPr/>
        </p:nvSpPr>
        <p:spPr>
          <a:xfrm>
            <a:off x="502920" y="1216152"/>
            <a:ext cx="5875020" cy="749808"/>
          </a:xfrm>
          <a:prstGeom prst="rect">
            <a:avLst/>
          </a:prstGeom>
          <a:noFill/>
          <a:ln/>
        </p:spPr>
        <p:txBody>
          <a:bodyPr wrap="square" lIns="0" tIns="0" rIns="0" bIns="0" rtlCol="0" anchor="ctr"/>
          <a:lstStyle/>
          <a:p>
            <a:pPr>
              <a:lnSpc>
                <a:spcPts val="2000"/>
              </a:lnSpc>
            </a:pPr>
            <a:r>
              <a:rPr lang="en-IN" sz="1200" dirty="0"/>
              <a:t>"Raised into the Dubai entity. The round funds India — the one market where the floor price is published and the product already ships."</a:t>
            </a:r>
            <a:endParaRPr lang="en-US" sz="1200" dirty="0"/>
          </a:p>
        </p:txBody>
      </p:sp>
      <p:graphicFrame>
        <p:nvGraphicFramePr>
          <p:cNvPr id="5" name="Chart 0"/>
          <p:cNvGraphicFramePr/>
          <p:nvPr/>
        </p:nvGraphicFramePr>
        <p:xfrm>
          <a:off x="502920" y="2240280"/>
          <a:ext cx="51206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989320" y="2377440"/>
            <a:ext cx="5559552" cy="1051560"/>
          </a:xfrm>
          <a:prstGeom prst="roundRect">
            <a:avLst>
              <a:gd name="adj" fmla="val 8696"/>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7" name="Text 4"/>
          <p:cNvSpPr/>
          <p:nvPr/>
        </p:nvSpPr>
        <p:spPr>
          <a:xfrm>
            <a:off x="6355080" y="2505456"/>
            <a:ext cx="4846320" cy="384048"/>
          </a:xfrm>
          <a:prstGeom prst="rect">
            <a:avLst/>
          </a:prstGeom>
          <a:noFill/>
          <a:ln/>
        </p:spPr>
        <p:txBody>
          <a:bodyPr wrap="square" lIns="0" tIns="0" rIns="0" bIns="0" rtlCol="0" anchor="ctr"/>
          <a:lstStyle/>
          <a:p>
            <a:pPr marL="0" indent="0">
              <a:buNone/>
            </a:pPr>
            <a:r>
              <a:rPr lang="en-US" sz="1800" b="1" dirty="0">
                <a:solidFill>
                  <a:srgbClr val="142335"/>
                </a:solidFill>
                <a:latin typeface="Cambria" pitchFamily="34" charset="0"/>
                <a:ea typeface="Cambria" pitchFamily="34" charset="-122"/>
                <a:cs typeface="Cambria" pitchFamily="34" charset="-120"/>
              </a:rPr>
              <a:t>18 months</a:t>
            </a:r>
            <a:endParaRPr lang="en-US" sz="1800" dirty="0"/>
          </a:p>
        </p:txBody>
      </p:sp>
      <p:sp>
        <p:nvSpPr>
          <p:cNvPr id="8" name="Text 5"/>
          <p:cNvSpPr/>
          <p:nvPr/>
        </p:nvSpPr>
        <p:spPr>
          <a:xfrm>
            <a:off x="6355080" y="2889504"/>
            <a:ext cx="4846320" cy="411480"/>
          </a:xfrm>
          <a:prstGeom prst="rect">
            <a:avLst/>
          </a:prstGeom>
          <a:noFill/>
          <a:ln/>
        </p:spPr>
        <p:txBody>
          <a:bodyPr wrap="square" lIns="0" tIns="0" rIns="0" bIns="0" rtlCol="0" anchor="ctr"/>
          <a:lstStyle/>
          <a:p>
            <a:pPr marL="0" indent="0">
              <a:lnSpc>
                <a:spcPts val="1500"/>
              </a:lnSpc>
              <a:buNone/>
            </a:pPr>
            <a:r>
              <a:rPr lang="en-US" sz="1200" dirty="0">
                <a:solidFill>
                  <a:srgbClr val="44506A"/>
                </a:solidFill>
                <a:latin typeface="Calibri" pitchFamily="34" charset="0"/>
                <a:ea typeface="Calibri" pitchFamily="34" charset="-122"/>
                <a:cs typeface="Calibri" pitchFamily="34" charset="-120"/>
              </a:rPr>
              <a:t>of runway on this round</a:t>
            </a:r>
            <a:endParaRPr lang="en-US" sz="1200" dirty="0"/>
          </a:p>
        </p:txBody>
      </p:sp>
      <p:sp>
        <p:nvSpPr>
          <p:cNvPr id="9" name="Shape 6"/>
          <p:cNvSpPr/>
          <p:nvPr/>
        </p:nvSpPr>
        <p:spPr>
          <a:xfrm>
            <a:off x="5989320" y="3547872"/>
            <a:ext cx="5559552" cy="1051560"/>
          </a:xfrm>
          <a:prstGeom prst="roundRect">
            <a:avLst>
              <a:gd name="adj" fmla="val 8696"/>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0" name="Text 7"/>
          <p:cNvSpPr/>
          <p:nvPr/>
        </p:nvSpPr>
        <p:spPr>
          <a:xfrm>
            <a:off x="6355080" y="3675888"/>
            <a:ext cx="4846320" cy="384048"/>
          </a:xfrm>
          <a:prstGeom prst="rect">
            <a:avLst/>
          </a:prstGeom>
          <a:noFill/>
          <a:ln/>
        </p:spPr>
        <p:txBody>
          <a:bodyPr wrap="square" lIns="0" tIns="0" rIns="0" bIns="0" rtlCol="0" anchor="ctr"/>
          <a:lstStyle/>
          <a:p>
            <a:pPr marL="0" indent="0">
              <a:buNone/>
            </a:pPr>
            <a:r>
              <a:rPr lang="en-US" sz="1800" b="1" dirty="0">
                <a:solidFill>
                  <a:srgbClr val="142335"/>
                </a:solidFill>
                <a:latin typeface="Cambria" pitchFamily="34" charset="0"/>
                <a:ea typeface="Cambria" pitchFamily="34" charset="-122"/>
                <a:cs typeface="Cambria" pitchFamily="34" charset="-120"/>
              </a:rPr>
              <a:t>India first</a:t>
            </a:r>
            <a:endParaRPr lang="en-US" sz="1800" dirty="0"/>
          </a:p>
        </p:txBody>
      </p:sp>
      <p:sp>
        <p:nvSpPr>
          <p:cNvPr id="11" name="Text 8"/>
          <p:cNvSpPr/>
          <p:nvPr/>
        </p:nvSpPr>
        <p:spPr>
          <a:xfrm>
            <a:off x="6355080" y="4059936"/>
            <a:ext cx="4846320" cy="411480"/>
          </a:xfrm>
          <a:prstGeom prst="rect">
            <a:avLst/>
          </a:prstGeom>
          <a:noFill/>
          <a:ln/>
        </p:spPr>
        <p:txBody>
          <a:bodyPr wrap="square" lIns="0" tIns="0" rIns="0" bIns="0" rtlCol="0" anchor="ctr"/>
          <a:lstStyle/>
          <a:p>
            <a:pPr marL="0" indent="0">
              <a:lnSpc>
                <a:spcPts val="1500"/>
              </a:lnSpc>
              <a:buNone/>
            </a:pPr>
            <a:r>
              <a:rPr lang="en-US" sz="1200" dirty="0">
                <a:solidFill>
                  <a:srgbClr val="44506A"/>
                </a:solidFill>
                <a:latin typeface="Calibri" pitchFamily="34" charset="0"/>
                <a:ea typeface="Calibri" pitchFamily="34" charset="-122"/>
                <a:cs typeface="Calibri" pitchFamily="34" charset="-120"/>
              </a:rPr>
              <a:t>the one market with a published floor and a live product</a:t>
            </a:r>
            <a:endParaRPr lang="en-US" sz="1200" dirty="0"/>
          </a:p>
        </p:txBody>
      </p:sp>
      <p:sp>
        <p:nvSpPr>
          <p:cNvPr id="12" name="Shape 9"/>
          <p:cNvSpPr/>
          <p:nvPr/>
        </p:nvSpPr>
        <p:spPr>
          <a:xfrm>
            <a:off x="5989320" y="4718304"/>
            <a:ext cx="5559552" cy="1051560"/>
          </a:xfrm>
          <a:prstGeom prst="roundRect">
            <a:avLst>
              <a:gd name="adj" fmla="val 8696"/>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3" name="Text 10"/>
          <p:cNvSpPr/>
          <p:nvPr/>
        </p:nvSpPr>
        <p:spPr>
          <a:xfrm>
            <a:off x="6355080" y="4846320"/>
            <a:ext cx="4846320" cy="384048"/>
          </a:xfrm>
          <a:prstGeom prst="rect">
            <a:avLst/>
          </a:prstGeom>
          <a:noFill/>
          <a:ln/>
        </p:spPr>
        <p:txBody>
          <a:bodyPr wrap="square" lIns="0" tIns="0" rIns="0" bIns="0" rtlCol="0" anchor="ctr"/>
          <a:lstStyle/>
          <a:p>
            <a:pPr marL="0" indent="0">
              <a:buNone/>
            </a:pPr>
            <a:r>
              <a:rPr lang="en-US" sz="1800" b="1" dirty="0">
                <a:solidFill>
                  <a:srgbClr val="142335"/>
                </a:solidFill>
                <a:latin typeface="Cambria" pitchFamily="34" charset="0"/>
                <a:ea typeface="Cambria" pitchFamily="34" charset="-122"/>
                <a:cs typeface="Cambria" pitchFamily="34" charset="-120"/>
              </a:rPr>
              <a:t>Dubai entity</a:t>
            </a:r>
            <a:endParaRPr lang="en-US" sz="1800" dirty="0"/>
          </a:p>
        </p:txBody>
      </p:sp>
      <p:sp>
        <p:nvSpPr>
          <p:cNvPr id="14" name="Text 11"/>
          <p:cNvSpPr/>
          <p:nvPr/>
        </p:nvSpPr>
        <p:spPr>
          <a:xfrm>
            <a:off x="6355080" y="5230368"/>
            <a:ext cx="4846320" cy="411480"/>
          </a:xfrm>
          <a:prstGeom prst="rect">
            <a:avLst/>
          </a:prstGeom>
          <a:noFill/>
          <a:ln/>
        </p:spPr>
        <p:txBody>
          <a:bodyPr wrap="square" lIns="0" tIns="0" rIns="0" bIns="0" rtlCol="0" anchor="ctr"/>
          <a:lstStyle/>
          <a:p>
            <a:pPr marL="0" indent="0">
              <a:lnSpc>
                <a:spcPts val="1500"/>
              </a:lnSpc>
              <a:buNone/>
            </a:pPr>
            <a:r>
              <a:rPr lang="en-US" sz="1200" dirty="0">
                <a:solidFill>
                  <a:srgbClr val="44506A"/>
                </a:solidFill>
                <a:latin typeface="Calibri" pitchFamily="34" charset="0"/>
                <a:ea typeface="Calibri" pitchFamily="34" charset="-122"/>
                <a:cs typeface="Calibri" pitchFamily="34" charset="-120"/>
              </a:rPr>
              <a:t>the raise lands here and can contract into all four markets</a:t>
            </a:r>
            <a:endParaRPr lang="en-US" sz="1200" dirty="0"/>
          </a:p>
        </p:txBody>
      </p:sp>
      <p:sp>
        <p:nvSpPr>
          <p:cNvPr id="15" name="Shape 12"/>
          <p:cNvSpPr/>
          <p:nvPr/>
        </p:nvSpPr>
        <p:spPr>
          <a:xfrm>
            <a:off x="5989320" y="5760720"/>
            <a:ext cx="5559552" cy="347472"/>
          </a:xfrm>
          <a:prstGeom prst="roundRect">
            <a:avLst>
              <a:gd name="adj" fmla="val 39474"/>
            </a:avLst>
          </a:prstGeom>
          <a:solidFill>
            <a:srgbClr val="FFFFFF"/>
          </a:solidFill>
          <a:ln w="9525">
            <a:solidFill>
              <a:srgbClr val="E7E0D4"/>
            </a:solidFill>
            <a:prstDash val="solid"/>
          </a:ln>
        </p:spPr>
      </p:sp>
      <p:sp>
        <p:nvSpPr>
          <p:cNvPr id="16" name="Text 13"/>
          <p:cNvSpPr/>
          <p:nvPr/>
        </p:nvSpPr>
        <p:spPr>
          <a:xfrm>
            <a:off x="5989320" y="5760720"/>
            <a:ext cx="5559552" cy="347472"/>
          </a:xfrm>
          <a:prstGeom prst="rect">
            <a:avLst/>
          </a:prstGeom>
          <a:noFill/>
          <a:ln/>
        </p:spPr>
        <p:txBody>
          <a:bodyPr wrap="square" lIns="0" tIns="0" rIns="0" bIns="0" rtlCol="0" anchor="ctr"/>
          <a:lstStyle/>
          <a:p>
            <a:pPr marL="0" indent="0" algn="ctr">
              <a:buNone/>
            </a:pPr>
            <a:r>
              <a:rPr lang="en-US" sz="1050" b="1" dirty="0">
                <a:solidFill>
                  <a:srgbClr val="44506A"/>
                </a:solidFill>
                <a:latin typeface="Calibri" pitchFamily="34" charset="0"/>
                <a:ea typeface="Calibri" pitchFamily="34" charset="-122"/>
                <a:cs typeface="Calibri" pitchFamily="34" charset="-120"/>
              </a:rPr>
              <a:t>A Dubai entity can contract into Singapore, Malaysia and India without local incorporation</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640080" y="237744"/>
            <a:ext cx="10881360" cy="274320"/>
          </a:xfrm>
          <a:prstGeom prst="rect">
            <a:avLst/>
          </a:prstGeom>
          <a:noFill/>
          <a:ln/>
        </p:spPr>
        <p:txBody>
          <a:bodyPr wrap="square" lIns="0" tIns="0" rIns="0" bIns="0" rtlCol="0" anchor="b"/>
          <a:lstStyle/>
          <a:p>
            <a:pPr marL="0" indent="0">
              <a:buNone/>
            </a:pPr>
            <a:r>
              <a:rPr lang="en-US" sz="1100" b="1" kern="0" spc="200" dirty="0">
                <a:solidFill>
                  <a:srgbClr val="8C5F12"/>
                </a:solidFill>
                <a:latin typeface="Calibri" pitchFamily="34" charset="0"/>
                <a:ea typeface="Calibri" pitchFamily="34" charset="-122"/>
                <a:cs typeface="Calibri" pitchFamily="34" charset="-120"/>
              </a:rPr>
              <a:t>WHO IS BUILDING IT</a:t>
            </a:r>
            <a:endParaRPr lang="en-US" sz="1100" dirty="0"/>
          </a:p>
        </p:txBody>
      </p:sp>
      <p:sp>
        <p:nvSpPr>
          <p:cNvPr id="3" name="Text 1"/>
          <p:cNvSpPr/>
          <p:nvPr/>
        </p:nvSpPr>
        <p:spPr>
          <a:xfrm>
            <a:off x="640080" y="566928"/>
            <a:ext cx="10881360" cy="777240"/>
          </a:xfrm>
          <a:prstGeom prst="rect">
            <a:avLst/>
          </a:prstGeom>
          <a:noFill/>
          <a:ln/>
        </p:spPr>
        <p:txBody>
          <a:bodyPr wrap="square" lIns="0" tIns="0" rIns="0" bIns="0" rtlCol="0" anchor="t"/>
          <a:lstStyle/>
          <a:p>
            <a:pPr marL="0" indent="0">
              <a:buNone/>
            </a:pPr>
            <a:r>
              <a:rPr lang="en-US" sz="3400" b="1" dirty="0">
                <a:solidFill>
                  <a:srgbClr val="142335"/>
                </a:solidFill>
                <a:latin typeface="Cambria" pitchFamily="34" charset="0"/>
                <a:ea typeface="Cambria" pitchFamily="34" charset="-122"/>
                <a:cs typeface="Cambria" pitchFamily="34" charset="-120"/>
              </a:rPr>
              <a:t>Team</a:t>
            </a:r>
            <a:endParaRPr lang="en-US" sz="3400" dirty="0"/>
          </a:p>
        </p:txBody>
      </p:sp>
      <p:sp>
        <p:nvSpPr>
          <p:cNvPr id="4" name="Shape 2"/>
          <p:cNvSpPr/>
          <p:nvPr/>
        </p:nvSpPr>
        <p:spPr>
          <a:xfrm>
            <a:off x="640080" y="1691640"/>
            <a:ext cx="3593592" cy="1874520"/>
          </a:xfrm>
          <a:prstGeom prst="roundRect">
            <a:avLst>
              <a:gd name="adj" fmla="val 4878"/>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5" name="Text 3"/>
          <p:cNvSpPr/>
          <p:nvPr/>
        </p:nvSpPr>
        <p:spPr>
          <a:xfrm>
            <a:off x="960120" y="1920240"/>
            <a:ext cx="2971800" cy="384048"/>
          </a:xfrm>
          <a:prstGeom prst="rect">
            <a:avLst/>
          </a:prstGeom>
          <a:noFill/>
          <a:ln/>
        </p:spPr>
        <p:txBody>
          <a:bodyPr wrap="square" lIns="0" tIns="0" rIns="0" bIns="0" rtlCol="0" anchor="ctr"/>
          <a:lstStyle/>
          <a:p>
            <a:pPr marL="0" indent="0">
              <a:buNone/>
            </a:pPr>
            <a:r>
              <a:rPr lang="en-US" sz="1700" b="1" dirty="0">
                <a:solidFill>
                  <a:srgbClr val="142335"/>
                </a:solidFill>
                <a:latin typeface="Cambria" pitchFamily="34" charset="0"/>
                <a:ea typeface="Cambria" pitchFamily="34" charset="-122"/>
                <a:cs typeface="Cambria" pitchFamily="34" charset="-120"/>
              </a:rPr>
              <a:t>Goverdhan M D</a:t>
            </a:r>
            <a:endParaRPr lang="en-US" sz="1700" dirty="0"/>
          </a:p>
        </p:txBody>
      </p:sp>
      <p:sp>
        <p:nvSpPr>
          <p:cNvPr id="6" name="Text 4"/>
          <p:cNvSpPr/>
          <p:nvPr/>
        </p:nvSpPr>
        <p:spPr>
          <a:xfrm>
            <a:off x="960120" y="2304288"/>
            <a:ext cx="2971800" cy="292608"/>
          </a:xfrm>
          <a:prstGeom prst="rect">
            <a:avLst/>
          </a:prstGeom>
          <a:noFill/>
          <a:ln/>
        </p:spPr>
        <p:txBody>
          <a:bodyPr wrap="square" lIns="0" tIns="0" rIns="0" bIns="0" rtlCol="0" anchor="ctr"/>
          <a:lstStyle/>
          <a:p>
            <a:pPr marL="0" indent="0">
              <a:buNone/>
            </a:pPr>
            <a:r>
              <a:rPr lang="en-US" sz="1100" b="1" dirty="0">
                <a:solidFill>
                  <a:srgbClr val="8C5F12"/>
                </a:solidFill>
                <a:latin typeface="Calibri" pitchFamily="34" charset="0"/>
                <a:ea typeface="Calibri" pitchFamily="34" charset="-122"/>
                <a:cs typeface="Calibri" pitchFamily="34" charset="-120"/>
              </a:rPr>
              <a:t>Founder and CEO</a:t>
            </a:r>
            <a:endParaRPr lang="en-US" sz="1100" dirty="0"/>
          </a:p>
        </p:txBody>
      </p:sp>
      <p:sp>
        <p:nvSpPr>
          <p:cNvPr id="7" name="Text 5"/>
          <p:cNvSpPr/>
          <p:nvPr/>
        </p:nvSpPr>
        <p:spPr>
          <a:xfrm>
            <a:off x="960120" y="2651760"/>
            <a:ext cx="2971800" cy="77724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Serial founder with a prior exit. Builds the product end to end with AI-native tooling.</a:t>
            </a:r>
            <a:endParaRPr lang="en-US" sz="1150" dirty="0"/>
          </a:p>
        </p:txBody>
      </p:sp>
      <p:sp>
        <p:nvSpPr>
          <p:cNvPr id="8" name="Shape 6"/>
          <p:cNvSpPr/>
          <p:nvPr/>
        </p:nvSpPr>
        <p:spPr>
          <a:xfrm>
            <a:off x="4343400" y="1691640"/>
            <a:ext cx="3593592" cy="1874520"/>
          </a:xfrm>
          <a:prstGeom prst="roundRect">
            <a:avLst>
              <a:gd name="adj" fmla="val 4878"/>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9" name="Text 7"/>
          <p:cNvSpPr/>
          <p:nvPr/>
        </p:nvSpPr>
        <p:spPr>
          <a:xfrm>
            <a:off x="4663440" y="1920240"/>
            <a:ext cx="2971800" cy="384048"/>
          </a:xfrm>
          <a:prstGeom prst="rect">
            <a:avLst/>
          </a:prstGeom>
          <a:noFill/>
          <a:ln/>
        </p:spPr>
        <p:txBody>
          <a:bodyPr wrap="square" lIns="0" tIns="0" rIns="0" bIns="0" rtlCol="0" anchor="ctr"/>
          <a:lstStyle/>
          <a:p>
            <a:pPr marL="0" indent="0">
              <a:buNone/>
            </a:pPr>
            <a:r>
              <a:rPr lang="en-US" sz="1700" b="1" dirty="0">
                <a:solidFill>
                  <a:srgbClr val="142335"/>
                </a:solidFill>
                <a:latin typeface="Cambria" pitchFamily="34" charset="0"/>
                <a:ea typeface="Cambria" pitchFamily="34" charset="-122"/>
                <a:cs typeface="Cambria" pitchFamily="34" charset="-120"/>
              </a:rPr>
              <a:t>Mathew Varkey</a:t>
            </a:r>
            <a:endParaRPr lang="en-US" sz="1700" dirty="0"/>
          </a:p>
        </p:txBody>
      </p:sp>
      <p:sp>
        <p:nvSpPr>
          <p:cNvPr id="10" name="Text 8"/>
          <p:cNvSpPr/>
          <p:nvPr/>
        </p:nvSpPr>
        <p:spPr>
          <a:xfrm>
            <a:off x="4663440" y="2304288"/>
            <a:ext cx="2971800" cy="292608"/>
          </a:xfrm>
          <a:prstGeom prst="rect">
            <a:avLst/>
          </a:prstGeom>
          <a:noFill/>
          <a:ln/>
        </p:spPr>
        <p:txBody>
          <a:bodyPr wrap="square" lIns="0" tIns="0" rIns="0" bIns="0" rtlCol="0" anchor="ctr"/>
          <a:lstStyle/>
          <a:p>
            <a:pPr marL="0" indent="0">
              <a:buNone/>
            </a:pPr>
            <a:r>
              <a:rPr lang="en-US" sz="1100" b="1" dirty="0">
                <a:solidFill>
                  <a:srgbClr val="8C5F12"/>
                </a:solidFill>
                <a:latin typeface="Calibri" pitchFamily="34" charset="0"/>
                <a:ea typeface="Calibri" pitchFamily="34" charset="-122"/>
                <a:cs typeface="Calibri" pitchFamily="34" charset="-120"/>
              </a:rPr>
              <a:t>Co-founder</a:t>
            </a:r>
            <a:endParaRPr lang="en-US" sz="1100" dirty="0"/>
          </a:p>
        </p:txBody>
      </p:sp>
      <p:sp>
        <p:nvSpPr>
          <p:cNvPr id="11" name="Text 9"/>
          <p:cNvSpPr/>
          <p:nvPr/>
        </p:nvSpPr>
        <p:spPr>
          <a:xfrm>
            <a:off x="4663440" y="2651760"/>
            <a:ext cx="2971800" cy="77724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Product and growth. Operator experience across Indian and UAE markets.</a:t>
            </a:r>
            <a:endParaRPr lang="en-US" sz="1150" dirty="0"/>
          </a:p>
        </p:txBody>
      </p:sp>
      <p:sp>
        <p:nvSpPr>
          <p:cNvPr id="12" name="Shape 10"/>
          <p:cNvSpPr/>
          <p:nvPr/>
        </p:nvSpPr>
        <p:spPr>
          <a:xfrm>
            <a:off x="8046720" y="1691640"/>
            <a:ext cx="3593592" cy="1874520"/>
          </a:xfrm>
          <a:prstGeom prst="roundRect">
            <a:avLst>
              <a:gd name="adj" fmla="val 4878"/>
            </a:avLst>
          </a:prstGeom>
          <a:solidFill>
            <a:srgbClr val="FFFFFF"/>
          </a:solidFill>
          <a:ln w="9525">
            <a:solidFill>
              <a:srgbClr val="E7E0D4"/>
            </a:solidFill>
            <a:prstDash val="solid"/>
          </a:ln>
          <a:effectLst>
            <a:outerShdw blurRad="101600" dist="12700" dir="5400000" algn="bl" rotWithShape="0">
              <a:srgbClr val="B9AE9C">
                <a:alpha val="18000"/>
              </a:srgbClr>
            </a:outerShdw>
          </a:effectLst>
        </p:spPr>
      </p:sp>
      <p:sp>
        <p:nvSpPr>
          <p:cNvPr id="13" name="Text 11"/>
          <p:cNvSpPr/>
          <p:nvPr/>
        </p:nvSpPr>
        <p:spPr>
          <a:xfrm>
            <a:off x="8366760" y="1920240"/>
            <a:ext cx="2971800" cy="384048"/>
          </a:xfrm>
          <a:prstGeom prst="rect">
            <a:avLst/>
          </a:prstGeom>
          <a:noFill/>
          <a:ln/>
        </p:spPr>
        <p:txBody>
          <a:bodyPr wrap="square" lIns="0" tIns="0" rIns="0" bIns="0" rtlCol="0" anchor="ctr"/>
          <a:lstStyle/>
          <a:p>
            <a:pPr marL="0" indent="0">
              <a:buNone/>
            </a:pPr>
            <a:r>
              <a:rPr lang="en-US" sz="1700" b="1" dirty="0">
                <a:solidFill>
                  <a:srgbClr val="142335"/>
                </a:solidFill>
                <a:latin typeface="Cambria" pitchFamily="34" charset="0"/>
                <a:ea typeface="Cambria" pitchFamily="34" charset="-122"/>
                <a:cs typeface="Cambria" pitchFamily="34" charset="-120"/>
              </a:rPr>
              <a:t>Srinivas J</a:t>
            </a:r>
            <a:endParaRPr lang="en-US" sz="1700" dirty="0"/>
          </a:p>
        </p:txBody>
      </p:sp>
      <p:sp>
        <p:nvSpPr>
          <p:cNvPr id="14" name="Text 12"/>
          <p:cNvSpPr/>
          <p:nvPr/>
        </p:nvSpPr>
        <p:spPr>
          <a:xfrm>
            <a:off x="8366760" y="2304288"/>
            <a:ext cx="2971800" cy="292608"/>
          </a:xfrm>
          <a:prstGeom prst="rect">
            <a:avLst/>
          </a:prstGeom>
          <a:noFill/>
          <a:ln/>
        </p:spPr>
        <p:txBody>
          <a:bodyPr wrap="square" lIns="0" tIns="0" rIns="0" bIns="0" rtlCol="0" anchor="ctr"/>
          <a:lstStyle/>
          <a:p>
            <a:pPr marL="0" indent="0">
              <a:buNone/>
            </a:pPr>
            <a:r>
              <a:rPr lang="en-US" sz="1100" b="1" dirty="0">
                <a:solidFill>
                  <a:srgbClr val="8C5F12"/>
                </a:solidFill>
                <a:latin typeface="Calibri" pitchFamily="34" charset="0"/>
                <a:ea typeface="Calibri" pitchFamily="34" charset="-122"/>
                <a:cs typeface="Calibri" pitchFamily="34" charset="-120"/>
              </a:rPr>
              <a:t>Co-founder</a:t>
            </a:r>
            <a:endParaRPr lang="en-US" sz="1100" dirty="0"/>
          </a:p>
        </p:txBody>
      </p:sp>
      <p:sp>
        <p:nvSpPr>
          <p:cNvPr id="15" name="Text 13"/>
          <p:cNvSpPr/>
          <p:nvPr/>
        </p:nvSpPr>
        <p:spPr>
          <a:xfrm>
            <a:off x="8366760" y="2651760"/>
            <a:ext cx="2971800" cy="777240"/>
          </a:xfrm>
          <a:prstGeom prst="rect">
            <a:avLst/>
          </a:prstGeom>
          <a:noFill/>
          <a:ln/>
        </p:spPr>
        <p:txBody>
          <a:bodyPr wrap="square" lIns="0" tIns="0" rIns="0" bIns="0" rtlCol="0" anchor="ctr"/>
          <a:lstStyle/>
          <a:p>
            <a:pPr marL="0" indent="0">
              <a:lnSpc>
                <a:spcPts val="1500"/>
              </a:lnSpc>
              <a:buNone/>
            </a:pPr>
            <a:r>
              <a:rPr lang="en-US" sz="1150" dirty="0">
                <a:solidFill>
                  <a:srgbClr val="44506A"/>
                </a:solidFill>
                <a:latin typeface="Calibri" pitchFamily="34" charset="0"/>
                <a:ea typeface="Calibri" pitchFamily="34" charset="-122"/>
                <a:cs typeface="Calibri" pitchFamily="34" charset="-120"/>
              </a:rPr>
              <a:t>Engineering depth across the intelligence pipeline and AI data architecture.</a:t>
            </a:r>
            <a:endParaRPr lang="en-US" sz="1150" dirty="0"/>
          </a:p>
        </p:txBody>
      </p:sp>
      <p:sp>
        <p:nvSpPr>
          <p:cNvPr id="16" name="Shape 14"/>
          <p:cNvSpPr/>
          <p:nvPr/>
        </p:nvSpPr>
        <p:spPr>
          <a:xfrm>
            <a:off x="640080" y="3840480"/>
            <a:ext cx="10908792" cy="1920240"/>
          </a:xfrm>
          <a:prstGeom prst="roundRect">
            <a:avLst>
              <a:gd name="adj" fmla="val 4762"/>
            </a:avLst>
          </a:prstGeom>
          <a:solidFill>
            <a:srgbClr val="142335"/>
          </a:solidFill>
          <a:ln w="9525">
            <a:solidFill>
              <a:srgbClr val="142335"/>
            </a:solidFill>
            <a:prstDash val="solid"/>
          </a:ln>
          <a:effectLst>
            <a:outerShdw blurRad="101600" dist="12700" dir="5400000" algn="bl" rotWithShape="0">
              <a:srgbClr val="B9AE9C">
                <a:alpha val="18000"/>
              </a:srgbClr>
            </a:outerShdw>
          </a:effectLst>
        </p:spPr>
      </p:sp>
      <p:sp>
        <p:nvSpPr>
          <p:cNvPr id="17" name="Text 15"/>
          <p:cNvSpPr/>
          <p:nvPr/>
        </p:nvSpPr>
        <p:spPr>
          <a:xfrm>
            <a:off x="1051560" y="4160520"/>
            <a:ext cx="10058400" cy="64008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Points are money. Somebody should treat them that way.</a:t>
            </a:r>
            <a:endParaRPr lang="en-US" sz="2700" dirty="0"/>
          </a:p>
        </p:txBody>
      </p:sp>
      <p:sp>
        <p:nvSpPr>
          <p:cNvPr id="18" name="Text 16"/>
          <p:cNvSpPr/>
          <p:nvPr/>
        </p:nvSpPr>
        <p:spPr>
          <a:xfrm>
            <a:off x="1051560" y="4846320"/>
            <a:ext cx="10058400" cy="777240"/>
          </a:xfrm>
          <a:prstGeom prst="rect">
            <a:avLst/>
          </a:prstGeom>
          <a:noFill/>
          <a:ln/>
        </p:spPr>
        <p:txBody>
          <a:bodyPr wrap="square" lIns="0" tIns="0" rIns="0" bIns="0" rtlCol="0" anchor="t"/>
          <a:lstStyle/>
          <a:p>
            <a:pPr marL="0" indent="0">
              <a:lnSpc>
                <a:spcPts val="1900"/>
              </a:lnSpc>
              <a:buNone/>
            </a:pPr>
            <a:r>
              <a:rPr lang="en-US" sz="1350" dirty="0">
                <a:solidFill>
                  <a:srgbClr val="D9D3C8"/>
                </a:solidFill>
                <a:latin typeface="Calibri" pitchFamily="34" charset="0"/>
                <a:ea typeface="Calibri" pitchFamily="34" charset="-122"/>
                <a:cs typeface="Calibri" pitchFamily="34" charset="-120"/>
              </a:rPr>
              <a:t>India is where we prove it, because the floor price is published and the uplift is provable. Dubai is where we scale it, because 4.3 million Indians in the UAE already hold both sides of the trade.</a:t>
            </a:r>
            <a:endParaRPr lang="en-US" sz="1350" dirty="0"/>
          </a:p>
        </p:txBody>
      </p:sp>
      <p:sp>
        <p:nvSpPr>
          <p:cNvPr id="19" name="Text 17"/>
          <p:cNvSpPr/>
          <p:nvPr/>
        </p:nvSpPr>
        <p:spPr>
          <a:xfrm>
            <a:off x="640080" y="6327648"/>
            <a:ext cx="7680960" cy="274320"/>
          </a:xfrm>
          <a:prstGeom prst="rect">
            <a:avLst/>
          </a:prstGeom>
          <a:noFill/>
          <a:ln/>
        </p:spPr>
        <p:txBody>
          <a:bodyPr wrap="square" lIns="0" tIns="0" rIns="0" bIns="0" rtlCol="0" anchor="ctr"/>
          <a:lstStyle/>
          <a:p>
            <a:pPr marL="0" indent="0">
              <a:buNone/>
            </a:pPr>
            <a:r>
              <a:rPr lang="en-US" sz="850" dirty="0">
                <a:solidFill>
                  <a:srgbClr val="6E7890"/>
                </a:solidFill>
                <a:latin typeface="Calibri" pitchFamily="34" charset="0"/>
                <a:ea typeface="Calibri" pitchFamily="34" charset="-122"/>
                <a:cs typeface="Calibri" pitchFamily="34" charset="-120"/>
              </a:rPr>
              <a:t>Nexus AI · Bengaluru and Dubai · creditiq.app</a:t>
            </a:r>
            <a:endParaRPr lang="en-US" sz="850" dirty="0"/>
          </a:p>
        </p:txBody>
      </p:sp>
      <p:sp>
        <p:nvSpPr>
          <p:cNvPr id="20" name="Text 18"/>
          <p:cNvSpPr/>
          <p:nvPr/>
        </p:nvSpPr>
        <p:spPr>
          <a:xfrm>
            <a:off x="8412480" y="6327648"/>
            <a:ext cx="3108960" cy="274320"/>
          </a:xfrm>
          <a:prstGeom prst="rect">
            <a:avLst/>
          </a:prstGeom>
          <a:noFill/>
          <a:ln/>
        </p:spPr>
        <p:txBody>
          <a:bodyPr wrap="square" lIns="0" tIns="0" rIns="0" bIns="0" rtlCol="0" anchor="ctr"/>
          <a:lstStyle/>
          <a:p>
            <a:pPr marL="0" indent="0" algn="r">
              <a:buNone/>
            </a:pPr>
            <a:r>
              <a:rPr lang="en-US" sz="850" dirty="0">
                <a:solidFill>
                  <a:srgbClr val="6E7890"/>
                </a:solidFill>
                <a:latin typeface="Calibri" pitchFamily="34" charset="0"/>
                <a:ea typeface="Calibri" pitchFamily="34" charset="-122"/>
                <a:cs typeface="Calibri" pitchFamily="34" charset="-120"/>
              </a:rPr>
              <a:t>August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2568</Words>
  <Application>Microsoft Office PowerPoint</Application>
  <PresentationFormat>Widescreen</PresentationFormat>
  <Paragraphs>313</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Nexus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CreditIQ — Seed Deck v9</dc:title>
  <dc:subject>PptxGenJS Presentation</dc:subject>
  <dc:creator>Nexus AI</dc:creator>
  <cp:lastModifiedBy>Goverdhan MD</cp:lastModifiedBy>
  <cp:revision>2</cp:revision>
  <dcterms:created xsi:type="dcterms:W3CDTF">2026-08-18T05:30:24Z</dcterms:created>
  <dcterms:modified xsi:type="dcterms:W3CDTF">2026-08-18T05:38:06Z</dcterms:modified>
</cp:coreProperties>
</file>